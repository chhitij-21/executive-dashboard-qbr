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Bangalore</c:v>
                  </c:pt>
                  <c:pt idx="1">
                    <c:v>Greater No</c:v>
                  </c:pt>
                  <c:pt idx="2">
                    <c:v>Guwahati</c:v>
                  </c:pt>
                  <c:pt idx="3">
                    <c:v>Hyderabad</c:v>
                  </c:pt>
                  <c:pt idx="4">
                    <c:v>Mohali</c:v>
                  </c:pt>
                  <c:pt idx="5">
                    <c:v>Mumbai</c:v>
                  </c:pt>
                  <c:pt idx="6">
                    <c:v>Nagpur</c:v>
                  </c:pt>
                  <c:pt idx="7">
                    <c:v>Noida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P1 Critical</c:v>
                </c:pt>
                <c:pt idx="1">
                  <c:v>P2 Major</c:v>
                </c:pt>
                <c:pt idx="2">
                  <c:v>P3/P4 Standard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0.001</c:v>
                </c:pt>
                <c:pt idx="1">
                  <c:v>0.001</c:v>
                </c:pt>
                <c:pt idx="2">
                  <c:v>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SLA 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SLA Achieved</c:v>
                </c:pt>
                <c:pt idx="1">
                  <c:v>Margin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73.58</c:v>
                </c:pt>
                <c:pt idx="1">
                  <c:v>26.42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1480"/>
            <a:ext cx="2377440" cy="7498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4360" y="1463040"/>
            <a:ext cx="6035040" cy="4480560"/>
          </a:xfrm>
          <a:prstGeom prst="roundRect">
            <a:avLst>
              <a:gd name="adj" fmla="val 2041"/>
            </a:avLst>
          </a:prstGeom>
          <a:solidFill>
            <a:srgbClr val="334155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8288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Jubilant Foodworks Ltd (JFL)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868680" y="26060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2B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Monthly Business Review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68680" y="3200400"/>
            <a:ext cx="54864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333756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Period: 1 August 2026 – 31 August 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Proactive Data Systems Pvt. Ltd.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11480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CONFIDENTIAL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448056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6 October 2026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690872" cy="4480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Text 1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www.proactive.co.in  |  Proactive Data Systems Pvt. Ltd.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— ALL SITES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Consolidated SLA Performance &amp; RCA Driver Summary Across Monitored Sites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645920"/>
                <a:gridCol w="1645920"/>
                <a:gridCol w="2011680"/>
                <a:gridCol w="1463040"/>
                <a:gridCol w="18562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of 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Proactive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 Driver (Switches)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 Incidents (Unique)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 Driver (AP)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98.89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99.33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99.05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98.23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11480" y="5120640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11480" y="5376672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 sites by JFL Switch Uptime: Hyderabad (100.00%), Mumbai-DC (100.00%), Noida (100.00%).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Bottom sites by JFL Switch Uptime: Nagpur (98.23% BREACH), Mohali (98.35% BREACH), Bangalore (98.89% BREACH).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Site with the most On Hold tickets: Greater Noida (1 tickets).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11480" y="626364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consolidates SLA performance, rack and switch uptime, and access-point incident RCA for all 8 monitored JFL sites for the period 1 August 2026 – 31 August 2026.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Jubilant Foodworks Ltd (JFL)  ·  1 August 2026 – 31 August 2026  ·  Quarterly Business Review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Sites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182112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227832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52744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98464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98464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Switches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723376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69096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223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769096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99.35%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57200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Uptime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182112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3227832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952744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98464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98464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723376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69096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73.58%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8769096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Compliance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3832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20040" y="33832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Text 34"/>
          <p:cNvSpPr/>
          <p:nvPr/>
        </p:nvSpPr>
        <p:spPr>
          <a:xfrm>
            <a:off x="502920" y="34381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Executive Summary — 1 August 2026 – 31 August 2026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02920" y="37124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Overall network uptime was 99.35%, marginally below the 99.9% SLA target, requiring corrective action.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02920" y="39136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 total of 1 incidents were recorded, with Greater Noida contributing the highest volume (1 incidents), primarily driven by Stable Operations (No Incidents).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02920" y="41148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Hyderabad achieved the strongest health score while Nagpur reported the lowest at 99.22.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320040" y="489204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2" name="Text 39"/>
          <p:cNvSpPr/>
          <p:nvPr/>
        </p:nvSpPr>
        <p:spPr>
          <a:xfrm>
            <a:off x="502920" y="492861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ROOT CAUSE ANALYSIS DRIVERS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11480" y="52852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3977640" y="5321808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Shape 42"/>
          <p:cNvSpPr/>
          <p:nvPr/>
        </p:nvSpPr>
        <p:spPr>
          <a:xfrm>
            <a:off x="3977640" y="5321808"/>
            <a:ext cx="731520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6" name="Text 43"/>
          <p:cNvSpPr/>
          <p:nvPr/>
        </p:nvSpPr>
        <p:spPr>
          <a:xfrm>
            <a:off x="11338560" y="52852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(1)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NETWORK HEALTH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Health Assessment Across All Monitored Sites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3200400" cy="256032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0972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02920" y="1389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16916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502920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77640" y="96012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103327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99.35%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023360" y="163604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936992" y="96012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103327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982712" y="163604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977640" y="228600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23360" y="235915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73.58%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023360" y="296192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Compliance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36992" y="228600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82712" y="235915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982712" y="296192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320040" y="374904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78561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11480" y="40965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788920" y="4133088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Shape 29"/>
          <p:cNvSpPr/>
          <p:nvPr/>
        </p:nvSpPr>
        <p:spPr>
          <a:xfrm>
            <a:off x="2788920" y="4133088"/>
            <a:ext cx="7738201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3" name="Text 30"/>
          <p:cNvSpPr/>
          <p:nvPr/>
        </p:nvSpPr>
        <p:spPr>
          <a:xfrm>
            <a:off x="10652760" y="409651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11430000" y="409651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11480" y="43891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788920" y="4425696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Shape 34"/>
          <p:cNvSpPr/>
          <p:nvPr/>
        </p:nvSpPr>
        <p:spPr>
          <a:xfrm>
            <a:off x="2788920" y="4425696"/>
            <a:ext cx="7726543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8" name="Text 35"/>
          <p:cNvSpPr/>
          <p:nvPr/>
        </p:nvSpPr>
        <p:spPr>
          <a:xfrm>
            <a:off x="1065276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411480" y="46817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788920" y="4718304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2" name="Shape 39"/>
          <p:cNvSpPr/>
          <p:nvPr/>
        </p:nvSpPr>
        <p:spPr>
          <a:xfrm>
            <a:off x="2788920" y="4718304"/>
            <a:ext cx="7744419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3" name="Text 40"/>
          <p:cNvSpPr/>
          <p:nvPr/>
        </p:nvSpPr>
        <p:spPr>
          <a:xfrm>
            <a:off x="10652760" y="46817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11430000" y="46817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11480" y="49743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2788920" y="5010912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4"/>
          <p:cNvSpPr/>
          <p:nvPr/>
        </p:nvSpPr>
        <p:spPr>
          <a:xfrm>
            <a:off x="2788920" y="5010912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8" name="Text 45"/>
          <p:cNvSpPr/>
          <p:nvPr/>
        </p:nvSpPr>
        <p:spPr>
          <a:xfrm>
            <a:off x="10652760" y="497433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11430000" y="497433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11480" y="52669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Mohali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2788920" y="5303520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2" name="Shape 49"/>
          <p:cNvSpPr/>
          <p:nvPr/>
        </p:nvSpPr>
        <p:spPr>
          <a:xfrm>
            <a:off x="2788920" y="5303520"/>
            <a:ext cx="7726543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3" name="Text 50"/>
          <p:cNvSpPr/>
          <p:nvPr/>
        </p:nvSpPr>
        <p:spPr>
          <a:xfrm>
            <a:off x="10652760" y="52669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11430000" y="52669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411480" y="55595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Mumbai-DC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2788920" y="5596128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4"/>
          <p:cNvSpPr/>
          <p:nvPr/>
        </p:nvSpPr>
        <p:spPr>
          <a:xfrm>
            <a:off x="2788920" y="5596128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8" name="Text 55"/>
          <p:cNvSpPr/>
          <p:nvPr/>
        </p:nvSpPr>
        <p:spPr>
          <a:xfrm>
            <a:off x="10652760" y="55595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11430000" y="55595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11480" y="58521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Nagpur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2788920" y="5888736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59"/>
          <p:cNvSpPr/>
          <p:nvPr/>
        </p:nvSpPr>
        <p:spPr>
          <a:xfrm>
            <a:off x="2788920" y="5888736"/>
            <a:ext cx="7711775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3" name="Text 60"/>
          <p:cNvSpPr/>
          <p:nvPr/>
        </p:nvSpPr>
        <p:spPr>
          <a:xfrm>
            <a:off x="10652760" y="58521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99.2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11430000" y="58521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411480" y="61447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Noida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2788920" y="6181344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4"/>
          <p:cNvSpPr/>
          <p:nvPr/>
        </p:nvSpPr>
        <p:spPr>
          <a:xfrm>
            <a:off x="2788920" y="6181344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8" name="Text 65"/>
          <p:cNvSpPr/>
          <p:nvPr/>
        </p:nvSpPr>
        <p:spPr>
          <a:xfrm>
            <a:off x="10652760" y="61447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11430000" y="61447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Production Devices vs. Stock Inventory — SLA Exclusion Analysis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444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1568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(In-SLA)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345936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(Excl. SLA)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83.6%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290304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Coverage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17627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21284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INVENTORY BY SITE — EXCLUDED FROM SLA CALCULATIONS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542032"/>
          <a:ext cx="1136599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496519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Stock 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603504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20040" y="603504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08990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Insight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36422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Total monitored device estate: 444 devices across 8 sites.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02920" y="656539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371 devices (83.6%) are production-active and subject to SLA accountability.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02920" y="676656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73 stock/spare devices are excluded from SLA penalty calculations per operational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 Volume, Site Distribution &amp; Category Breakdown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Closed/Resolved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BY SITE</a:t>
            </a:r>
            <a:endParaRPr lang="en-US" sz="9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11480" y="2377440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BY PRIORITY BREAKDOWN</a:t>
            </a:r>
            <a:endParaRPr lang="en-US" sz="900" dirty="0"/>
          </a:p>
        </p:txBody>
      </p:sp>
      <p:graphicFrame>
        <p:nvGraphicFramePr>
          <p:cNvPr id="28" name="Chart 1" descr=""/>
          <p:cNvGraphicFramePr/>
          <p:nvPr/>
        </p:nvGraphicFramePr>
        <p:xfrm>
          <a:off x="7498080" y="237744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Shape 24"/>
          <p:cNvSpPr/>
          <p:nvPr/>
        </p:nvSpPr>
        <p:spPr>
          <a:xfrm>
            <a:off x="320040" y="5559552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20040" y="5559552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Text 26"/>
          <p:cNvSpPr/>
          <p:nvPr/>
        </p:nvSpPr>
        <p:spPr>
          <a:xfrm>
            <a:off x="502920" y="5614416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Overview — Key Findings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502920" y="5888736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 total incidents were recorded during the reporting period.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502920" y="60899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Greater Noida contributed the highest incident volume with 1 incidents.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502920" y="62910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0 incidents (0.0%) were resolved and closed.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ANALYSIS — PARETO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Drivers by Frequency &amp; Cumulative Percentage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11480" y="960120"/>
          <a:ext cx="71323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960120"/>
            <a:ext cx="44622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7772400" y="996696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RCA FREQUENCY TABLE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25880"/>
          <a:ext cx="44622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777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320040" y="47731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1"/>
          <p:cNvSpPr/>
          <p:nvPr/>
        </p:nvSpPr>
        <p:spPr>
          <a:xfrm>
            <a:off x="502920" y="48097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 RECOMMENDATIONS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11480" y="5138928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11480" y="5138928"/>
            <a:ext cx="685800" cy="32918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4"/>
          <p:cNvSpPr/>
          <p:nvPr/>
        </p:nvSpPr>
        <p:spPr>
          <a:xfrm>
            <a:off x="411480" y="519379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1188720" y="5193792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Unknown: High-frequency RCA (100.0%). Conduct root cause workshop with operations team.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10515600" y="5193792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days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RCA INCIDENT HEATMAP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vs. Root Cause Category — Incident Frequency Matrix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0312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214884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274320" y="1435608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15453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0312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" y="191109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202082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103120" y="1911096"/>
            <a:ext cx="1645920" cy="43891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14884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2386584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24963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10312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74320" y="2862072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2971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103120" y="2862072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4320" y="3337560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0040" y="34472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Mohali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210312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4320" y="3813048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0040" y="39227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Mumbai-DC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10312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4320" y="4288536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0040" y="43982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Nagpur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2103120" y="428853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74320" y="476402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20040" y="487375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Noida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10312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74320" y="537667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1143000" y="5404104"/>
            <a:ext cx="20116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37160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(1-2)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3063240" y="5404104"/>
            <a:ext cx="201168" cy="16459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9184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983480" y="5404104"/>
            <a:ext cx="201168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21208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6903720" y="5404104"/>
            <a:ext cx="201168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13232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8823960" y="5404104"/>
            <a:ext cx="201168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05256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PERFORMANCE DASHBOARD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Target: 99.9%  ·  1 August 2026 – 31 August 2026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926080" cy="2651760"/>
          </a:xfrm>
          <a:prstGeom prst="roundRect">
            <a:avLst>
              <a:gd name="adj" fmla="val 4138"/>
            </a:avLst>
          </a:prstGeom>
          <a:solidFill>
            <a:srgbClr val="F1F5F9"/>
          </a:solidFill>
          <a:ln w="12700">
            <a:solidFill>
              <a:srgbClr val="DC2626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502920" y="1005840"/>
          <a:ext cx="2743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502920" y="1691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73.58%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02920" y="2377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🚨 SLA BREACH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52044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56616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99.35%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356616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Uptime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35508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0080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40080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18972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23544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99.9%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23544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Target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320040" y="23317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23682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SITE-WISE SLA COMPLIANCE OVERVIEW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97480"/>
          <a:ext cx="113659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19202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Proactive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Incident-Free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SLA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99.83%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98.89%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99.33%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99.05%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98.23%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320040" y="6199632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320040" y="6199632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4"/>
          <p:cNvSpPr/>
          <p:nvPr/>
        </p:nvSpPr>
        <p:spPr>
          <a:xfrm>
            <a:off x="502920" y="6254496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Performance Insight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02920" y="6528816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Overall SLA compliance: 73.58% against a 99.9% target.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502920" y="672998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SLA compliance is below target. Immediate remediation is recommended.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502920" y="69311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Network uptime averaged 99.35% across all monitored infrastructure.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Ticket Volume, Priority Distribution &amp; Resolution Performance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10 INCIDENT TICKETS BY PRIORITY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95728"/>
          <a:ext cx="113659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645920"/>
                <a:gridCol w="1371600"/>
                <a:gridCol w="1188720"/>
                <a:gridCol w="30449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PRO/INC/57045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6144768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20040" y="6144768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1996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Analytics Insight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 incident tickets were processed during the reporting period.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02920" y="66751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Resolution rate: 0.0% — 0 tickets resolved, 1 pending closure.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02920" y="68762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critical (P1) tickets recorded — excellent incident prioritization.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RANKING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Sites Ranked from Healthiest to Most Critical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011680"/>
                <a:gridCol w="1463040"/>
                <a:gridCol w="1463040"/>
                <a:gridCol w="1463040"/>
                <a:gridCol w="1737360"/>
                <a:gridCol w="24505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Rank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 Score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Incident-Free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 Count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🥇 1st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🟢 TOP PERFORMER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🥈 2nd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🥉 3rd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99.05%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98.89%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99.4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99.33%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99.4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99.2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98.23%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56692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0040" y="56692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57241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Ranking — Key Findings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" y="59984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Hyderabad leads the network with the highest health score of 100.00 — strong operational performance.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02920" y="61996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Nagpur reported the lowest health score of 99.22 and requires priority intervention.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4008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8 out of 8 sites are in excellent or good health.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Site-Level Risk Classification with Prioritized Remediation Recommendations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280160"/>
                <a:gridCol w="2286000"/>
                <a:gridCol w="45994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 Score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Risk Level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Top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99.2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99.4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99.4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11480" y="5715000"/>
            <a:ext cx="201168" cy="16459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9"/>
          <p:cNvSpPr/>
          <p:nvPr/>
        </p:nvSpPr>
        <p:spPr>
          <a:xfrm>
            <a:off x="65836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(Score &gt;= 95)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337560" y="5715000"/>
            <a:ext cx="201168" cy="16459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1"/>
          <p:cNvSpPr/>
          <p:nvPr/>
        </p:nvSpPr>
        <p:spPr>
          <a:xfrm>
            <a:off x="358444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(85-94)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63640" y="5715000"/>
            <a:ext cx="201168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3"/>
          <p:cNvSpPr/>
          <p:nvPr/>
        </p:nvSpPr>
        <p:spPr>
          <a:xfrm>
            <a:off x="651052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(70-84)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9189720" y="5715000"/>
            <a:ext cx="201168" cy="1645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5"/>
          <p:cNvSpPr/>
          <p:nvPr/>
        </p:nvSpPr>
        <p:spPr>
          <a:xfrm>
            <a:off x="943660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(Score &lt; 70)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320040" y="594360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0040" y="594360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18"/>
          <p:cNvSpPr/>
          <p:nvPr/>
        </p:nvSpPr>
        <p:spPr>
          <a:xfrm>
            <a:off x="502920" y="599846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 — Executive Summary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502920" y="627278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sites are currently in high-risk condition — commendable network stability.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systemic risk driver across the estate: Unknown.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502920" y="66751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Proactive intervention at elevated-risk sites will prevent escalation to high-risk status.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98.89%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99.56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99.56 indicates strong operational stability.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 — full SLA compliance maintained.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98.89% — below SLA target of 99.9%.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Bangalore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Bangalore operates 182 active devices (49 switches, 78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98.89% | Proactive Switch Uptime: 99.83%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98.89%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Q2EW-5R5B-HEY9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Q2ZP-AP5E-Z83L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Q2ZP-D2D2-VFQK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Q2ZP-D47G-NGKY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Q2QW-EXJY-SE64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Q2QW-CTFE-E2WF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Q2QW-CTFW-5KJ6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BANGALORE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Bangalore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Bangalore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99.33%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99.41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99.41 indicates strong operational stability.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total incidents logged; primary driver: Stable Operations (No Incidents).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99.33% — below SLA target of 99.9%.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5" name="Text 52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Stable Operations (No Incidents) incidents require infrastructure investigation.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Greater Noida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Greater Noida operates 122 active devices (42 switches, 72 APs).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99.33% | Proactive Switch Uptime: 99.99% — below the 99.9% SLA threshold.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99.33%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Q5TN-DGC5-M8QZ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Q5TN-NF5F-N32X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JFL-GNMC-1F-LB-AC-SW-01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FCW2110B27A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FCW2110B28C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FCW2110B27F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FOC2113V20F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JFL-GNMC-3F-AC-ST-01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FOC2113S2MD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GREATER NOIDA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PRO/INC/57045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High-frequency RCA (100.0%). Conduct root cause workshop with operations team.  [Timeline: 14 days]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99.05%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99.64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99.64 indicates strong operational stability.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 — full SLA compliance maintained.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99.05% — below SLA target of 99.9%.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Guwahati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Guwahati operates 5 active devices (2 switches, 3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99.05% | Proactive Switch Uptime: 99.99%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99.05%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Q5JG-AQNW-P9FB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Q5JG-ECTW-5MN7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GUWAHATI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Guwahati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Guwahati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critical risks identified. Continue standard monitoring protocols.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Hyderabad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Hyderabad operates 16 active devices (2 switches, 14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Q5JJ-GEWQ-X3MG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Q5JJ-Q88T-6XC7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HYDERABAD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Hyderabad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Hyderabad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98.35%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99.41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99.41 indicates strong operational stability.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 — full SLA compliance maintained.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98.35% — below SLA target of 99.9%.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Mohali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Mohali operates 19 active devices (4 switches, 15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98.35% | Proactive Switch Uptime: 99.75%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98.35%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Q5JG-NJW9-ABBQ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Q5JJ-3TZH-2HV5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99.30%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TRANSPORT ROOM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Q3LP-2PSJ-6DLB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WAREHOUSE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Q3LM-TGAF-Q97P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MOHALI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Mohali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Mohali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critical risks identified. Continue standard monitoring protocols.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Mumbai-DC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operates 8 active devices (4 switches, 0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Rack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MUMBAI-DC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Mumbai-DC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Mumbai-DC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98.23%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99.22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99.22 indicates strong operational stability.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 — full SLA compliance maintained.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98.23% — below SLA target of 99.9%.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Nagpur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Nagpur operates 10 active devices (4 switches, 6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98.23% | Proactive Switch Uptime: 99.99%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98.23%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Q5JJ-68KZ-MXAS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Q5JG-SL55-CZ9Z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Q5JG-TM9S-PLFP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Q5JG-STQ9-EUPF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NAGPUR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Nagpur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Nagpur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critical risks identified. Continue standard monitoring protocols.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Noida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Noida operates 82 active devices (41 switches, 35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JFL-15F-AP-Switch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FVH2903LAA9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JFL-15F-AP-Switch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FOC2710Y261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FOC2714Z681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FOC2716YN3W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FOC2716YLLY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FOC2716YLM7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FOC2714Z5B8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NOIDA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Noida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Noida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Priority-Based Remediation Plan Generated from Incident &amp; Health Analytics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0040" y="960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996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PRIORITY — IMMEDIATE ACTION REQUIRED (0-30 DAYS)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1480" y="1298448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11480" y="1298448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2"/>
          <p:cNvSpPr/>
          <p:nvPr/>
        </p:nvSpPr>
        <p:spPr>
          <a:xfrm>
            <a:off x="411480" y="1389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051560" y="135331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RCA (100.0%). Conduct root cause workshop with operations team.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20040" y="27432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27797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 PRIORITY — ACTION REQUIRED (30-60 DAYS)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3090672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3090672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8"/>
          <p:cNvSpPr/>
          <p:nvPr/>
        </p:nvSpPr>
        <p:spPr>
          <a:xfrm>
            <a:off x="411480" y="316382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097280" y="3136392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firmware update across all network switches and access points.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3493008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3493008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2"/>
          <p:cNvSpPr/>
          <p:nvPr/>
        </p:nvSpPr>
        <p:spPr>
          <a:xfrm>
            <a:off x="411480" y="3566160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1097280" y="3538728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AP placement at sites with elevated incident rates.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20040" y="4343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8" name="Text 25"/>
          <p:cNvSpPr/>
          <p:nvPr/>
        </p:nvSpPr>
        <p:spPr>
          <a:xfrm>
            <a:off x="502920" y="4379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PRIORITY — STANDARD PRACTICE (60-90 DAYS)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11480" y="468172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11480" y="468172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8"/>
          <p:cNvSpPr/>
          <p:nvPr/>
        </p:nvSpPr>
        <p:spPr>
          <a:xfrm>
            <a:off x="411480" y="473659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1051560" y="471830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network topology documentation for all 8 sites including current device serial inventories.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504748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11480" y="504748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Text 32"/>
          <p:cNvSpPr/>
          <p:nvPr/>
        </p:nvSpPr>
        <p:spPr>
          <a:xfrm>
            <a:off x="411480" y="51023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36" name="Text 33"/>
          <p:cNvSpPr/>
          <p:nvPr/>
        </p:nvSpPr>
        <p:spPr>
          <a:xfrm>
            <a:off x="1051560" y="508406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quarterly stakeholder review meetings with JFL IT leadership to align on operational priorities.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11480" y="541324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541324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9" name="Text 36"/>
          <p:cNvSpPr/>
          <p:nvPr/>
        </p:nvSpPr>
        <p:spPr>
          <a:xfrm>
            <a:off x="411480" y="54681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40" name="Text 37"/>
          <p:cNvSpPr/>
          <p:nvPr/>
        </p:nvSpPr>
        <p:spPr>
          <a:xfrm>
            <a:off x="1051560" y="544982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proactive monitoring alert threshold tuning to reduce noise and improve incident detection accuracy.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PLAN TRACKER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Prioritized Action Items with Ownership, Timeline &amp; Status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828800"/>
                <a:gridCol w="1280160"/>
                <a:gridCol w="1371600"/>
                <a:gridCol w="1947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Timeline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Impact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"Unknown" (1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Quarterly firmware update across all network switches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 FY2026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 placement review at sites with &gt;30% AP incident rate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Wireless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Documentation update — network topology diagrams for all 8 sites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Documentation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proactive health check cadence review with JFL stakeholders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 Manager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Ongoing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58978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0040" y="58978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59527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Plan — Executive Note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" y="62270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 high-priority actions require completion within 30-45 days to prevent SLA degradation.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02920" y="64282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Action ownership has been assigned to respective operational teams. Regular follow-up recommended.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This action plan should be reviewed and updated monthly with JFL IT leadership.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Activity — Change Requests, Maintenance &amp; Non-Hardware Tickets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  <a:gridCol w="914400"/>
                <a:gridCol w="1371600"/>
                <a:gridCol w="914400"/>
                <a:gridCol w="176479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Subject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 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Name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Serial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Type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Hostname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(Possibly forged)Not able to login in GNSC core sw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FVH2836L5EQ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Hold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— MASTER DATA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Governance &amp; Accompanying Audit Logs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1371600" y="1828800"/>
            <a:ext cx="9445752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71600" y="1828800"/>
            <a:ext cx="9445752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1645920" y="1938528"/>
            <a:ext cx="8869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DATA NOTICE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45920" y="260604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raw device logs, switch inventories, AP breakdowns, and full incident history tables are available in the accompanying Excel/CSV data files.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QBR PPT presentation contains only executive summaries, site-by-site reviews, and strategic action plans to maintain high executive readability.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304" y="1097280"/>
            <a:ext cx="274320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324612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B1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Data Systems   ·   www.proactive.co.in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00400" y="3886200"/>
            <a:ext cx="5788152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11480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Period: 1 August 2026 – 31 August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462272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Customer: Jubilant Foodworks Ltd (JFL)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09744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Generated: 6 October 2026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03504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5A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This document is intended for authorized recipients only.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2026-10-06T09:30:56Z</dcterms:created>
  <dcterms:modified xsi:type="dcterms:W3CDTF">2026-10-06T09:30:56Z</dcterms:modified>
</cp:coreProperties>
</file>