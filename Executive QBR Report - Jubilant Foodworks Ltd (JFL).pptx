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Incidents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Bangalore</c:v>
                  </c:pt>
                  <c:pt idx="1">
                    <c:v>Greater No</c:v>
                  </c:pt>
                  <c:pt idx="2">
                    <c:v>Guwahati</c:v>
                  </c:pt>
                  <c:pt idx="3">
                    <c:v>Hyderabad</c:v>
                  </c:pt>
                  <c:pt idx="4">
                    <c:v>Mohali</c:v>
                  </c:pt>
                  <c:pt idx="5">
                    <c:v>Mumbai</c:v>
                  </c:pt>
                  <c:pt idx="6">
                    <c:v>Nagpur</c:v>
                  </c:pt>
                  <c:pt idx="7">
                    <c:v>Noida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98</c:v>
                </c:pt>
                <c:pt idx="2">
                  <c:v>50</c:v>
                </c:pt>
                <c:pt idx="3">
                  <c:v>55</c:v>
                </c:pt>
                <c:pt idx="4">
                  <c:v>21</c:v>
                </c:pt>
                <c:pt idx="5">
                  <c:v>0</c:v>
                </c:pt>
                <c:pt idx="6">
                  <c:v>16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Priority Distribution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bubble3D val="0"/>
            <c:spPr>
              <a:solidFill>
                <a:srgbClr val="D97706"/>
              </a:solidFill>
              <a:effectLst/>
            </c:spPr>
          </c:dPt>
          <c:dPt>
            <c:idx val="2"/>
            <c:bubble3D val="0"/>
            <c:spPr>
              <a:solidFill>
                <a:srgbClr val="3B82F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F172A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F172A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F172A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P1 Critical</c:v>
                </c:pt>
                <c:pt idx="1">
                  <c:v>P2 Major</c:v>
                </c:pt>
                <c:pt idx="2">
                  <c:v>P3/P4 Standard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0.001</c:v>
                </c:pt>
                <c:pt idx="1">
                  <c:v>2</c:v>
                </c:pt>
                <c:pt idx="2">
                  <c:v>249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SLA Gauge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bubble3D val="0"/>
            <c:spPr>
              <a:solidFill>
                <a:srgbClr val="E2E8F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SLA Achieved</c:v>
                </c:pt>
                <c:pt idx="1">
                  <c:v>Margin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86.29</c:v>
                </c:pt>
                <c:pt idx="1">
                  <c:v>13.709999999999994</c:v>
                </c:pt>
              </c:numCache>
            </c:numRef>
          </c:val>
        </c:ser>
        <c:firstSliceAng val="0"/>
        <c:holeSize val="7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11480"/>
            <a:ext cx="2377440" cy="7498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94360" y="1463040"/>
            <a:ext cx="6035040" cy="4480560"/>
          </a:xfrm>
          <a:prstGeom prst="roundRect">
            <a:avLst>
              <a:gd name="adj" fmla="val 2041"/>
            </a:avLst>
          </a:prstGeom>
          <a:solidFill>
            <a:srgbClr val="334155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828800"/>
            <a:ext cx="5577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Jubilant Foodworks Ltd (JFL)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868680" y="260604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2B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Monthly Business Review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68680" y="3200400"/>
            <a:ext cx="54864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333756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Period: 1 September 2026 – 30 September 2026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" y="3749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Proactive Data Systems Pvt. Ltd.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4114800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Classification: CONFIDENTIAL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68680" y="4480560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Generated: 6 October 2026</a:t>
            </a:r>
            <a:endParaRPr lang="en-US" sz="10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463040"/>
            <a:ext cx="4690872" cy="44805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" name="Text 10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www.proactive.co.in  |  Proactive Data Systems Pvt. Ltd.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 — ALL SITES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Consolidated SLA Performance &amp; RCA Driver Summary Across Monitored Sites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1136599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1645920"/>
                <a:gridCol w="1645920"/>
                <a:gridCol w="2011680"/>
                <a:gridCol w="1463040"/>
                <a:gridCol w="185623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of devices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Proactive Switch Uptime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 Switch Uptime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 Driver (Switches)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 Incidents (Unique)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 Driver (AP)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Bangalore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182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99.77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/ 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Configuration Errors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Greater 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97.62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97.07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Side Activity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92 / 48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Firmware or Software Bugs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Guwahati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67.28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35 / 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Hyderabad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99.81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95.58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35 / 11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Mohali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19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98.35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Configuration Errors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 / 13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Preventive Maintenance (PM) or Planned Upgrade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Mumbai-DC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/ 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Nagpur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87.57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74.88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Third Party Device issue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 / 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Firmware or Software Bugs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/ 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411480" y="5120640"/>
            <a:ext cx="11365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Insights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11480" y="5376672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Top sites by JFL Switch Uptime: Mumbai-DC (100.00%), Noida (100.00%), Bangalore (99.77%).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Bottom sites by JFL Switch Uptime: Guwahati (67.28% BREACH), Nagpur (74.88% BREACH), Hyderabad (95.58% BREACH).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Largest RCA driver across all sites: Device Power Issues (123 incidents).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Highest AP incident density: Guwahati (7.00 incidents per device).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Site with the most On Hold tickets: Greater Noida (8 tickets).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Sites with Proactive and JFL Switch Uptime variance &gt; 5%: Guwahati (Proactive: 99.60%, JFL: 67.28%); Nagpur (Proactive: 87.57%, JFL: 74.88%).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11480" y="6263640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review consolidates SLA performance, rack and switch uptime, and access-point incident RCA for all 8 monitored JFL sites for the period 1 September 2026 – 30 September 2026.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Jubilant Foodworks Ltd (JFL)  ·  1 September 2026 – 30 September 2026  ·  Quarterly Business Review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157459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Sites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182112" y="96012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27832" y="103327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227832" y="157459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952744" y="96012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98464" y="103327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142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998464" y="157459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Switches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723376" y="96012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769096" y="103327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224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769096" y="157459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9456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26771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96.32%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457200" y="280903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Overall Uptime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182112" y="219456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227832" y="226771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251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3227832" y="280903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952744" y="219456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98464" y="226771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73.66%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5998464" y="280903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8723376" y="219456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769096" y="226771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86.29%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8769096" y="280903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Compliance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38328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20040" y="338328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7" name="Text 34"/>
          <p:cNvSpPr/>
          <p:nvPr/>
        </p:nvSpPr>
        <p:spPr>
          <a:xfrm>
            <a:off x="502920" y="343814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Executive Summary — 1 September 2026 – 30 September 2026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502920" y="371246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Overall network uptime was 96.32%, marginally below the 99.9% SLA target, requiring corrective action.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502920" y="391363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 total of 251 incidents were recorded, with Greater Noida contributing the highest volume (98 incidents), primarily driven by Device Power Issues.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502920" y="41148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Mumbai-DC achieved the strongest health score while Guwahati reported the lowest at 40.62.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320040" y="489204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2" name="Text 39"/>
          <p:cNvSpPr/>
          <p:nvPr/>
        </p:nvSpPr>
        <p:spPr>
          <a:xfrm>
            <a:off x="502920" y="492861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ROOT CAUSE ANALYSIS DRIVERS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411480" y="528523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Power Issues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3977640" y="5321808"/>
            <a:ext cx="73152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5" name="Shape 42"/>
          <p:cNvSpPr/>
          <p:nvPr/>
        </p:nvSpPr>
        <p:spPr>
          <a:xfrm>
            <a:off x="3977640" y="5321808"/>
            <a:ext cx="3584448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6" name="Text 43"/>
          <p:cNvSpPr/>
          <p:nvPr/>
        </p:nvSpPr>
        <p:spPr>
          <a:xfrm>
            <a:off x="11338560" y="528523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49.0% (123)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411480" y="557784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 or Software Bugs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3977640" y="5614416"/>
            <a:ext cx="73152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9" name="Shape 46"/>
          <p:cNvSpPr/>
          <p:nvPr/>
        </p:nvSpPr>
        <p:spPr>
          <a:xfrm>
            <a:off x="3977640" y="5614416"/>
            <a:ext cx="1748333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0" name="Text 47"/>
          <p:cNvSpPr/>
          <p:nvPr/>
        </p:nvSpPr>
        <p:spPr>
          <a:xfrm>
            <a:off x="11338560" y="557784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23.9% (60)</a:t>
            </a:r>
            <a:endParaRPr lang="en-US" sz="850" dirty="0"/>
          </a:p>
        </p:txBody>
      </p:sp>
      <p:sp>
        <p:nvSpPr>
          <p:cNvPr id="51" name="Text 48"/>
          <p:cNvSpPr/>
          <p:nvPr/>
        </p:nvSpPr>
        <p:spPr>
          <a:xfrm>
            <a:off x="411480" y="587044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Side Activity</a:t>
            </a:r>
            <a:endParaRPr lang="en-US" sz="900" dirty="0"/>
          </a:p>
        </p:txBody>
      </p:sp>
      <p:sp>
        <p:nvSpPr>
          <p:cNvPr id="52" name="Shape 49"/>
          <p:cNvSpPr/>
          <p:nvPr/>
        </p:nvSpPr>
        <p:spPr>
          <a:xfrm>
            <a:off x="3977640" y="5907024"/>
            <a:ext cx="73152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3" name="Shape 50"/>
          <p:cNvSpPr/>
          <p:nvPr/>
        </p:nvSpPr>
        <p:spPr>
          <a:xfrm>
            <a:off x="3977640" y="5907024"/>
            <a:ext cx="790042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4" name="Text 51"/>
          <p:cNvSpPr/>
          <p:nvPr/>
        </p:nvSpPr>
        <p:spPr>
          <a:xfrm>
            <a:off x="11338560" y="587044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10.8% (27)</a:t>
            </a:r>
            <a:endParaRPr lang="en-US" sz="850" dirty="0"/>
          </a:p>
        </p:txBody>
      </p:sp>
      <p:sp>
        <p:nvSpPr>
          <p:cNvPr id="55" name="Text 52"/>
          <p:cNvSpPr/>
          <p:nvPr/>
        </p:nvSpPr>
        <p:spPr>
          <a:xfrm>
            <a:off x="411480" y="616305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Maintenance (PM) or Planned Upgrade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3977640" y="6199632"/>
            <a:ext cx="73152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7" name="Shape 54"/>
          <p:cNvSpPr/>
          <p:nvPr/>
        </p:nvSpPr>
        <p:spPr>
          <a:xfrm>
            <a:off x="3977640" y="6199632"/>
            <a:ext cx="585216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8" name="Text 55"/>
          <p:cNvSpPr/>
          <p:nvPr/>
        </p:nvSpPr>
        <p:spPr>
          <a:xfrm>
            <a:off x="11338560" y="616305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8.0% (20)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OVERALL NETWORK HEALTH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 Health Assessment Across All Monitored Sites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4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3200400" cy="2560320"/>
          </a:xfrm>
          <a:prstGeom prst="roundRect">
            <a:avLst>
              <a:gd name="adj" fmla="val 4286"/>
            </a:avLst>
          </a:prstGeom>
          <a:solidFill>
            <a:srgbClr val="F1F5F9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0972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02920" y="13898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SCORE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02920" y="169164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87.3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502920" y="248716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977640" y="960120"/>
            <a:ext cx="379476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23360" y="1033272"/>
            <a:ext cx="3703320" cy="579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96.32%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4023360" y="1636044"/>
            <a:ext cx="3703320" cy="4586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7936992" y="960120"/>
            <a:ext cx="379476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82712" y="1033272"/>
            <a:ext cx="3703320" cy="579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73.66%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982712" y="1636044"/>
            <a:ext cx="3703320" cy="4586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3977640" y="2286000"/>
            <a:ext cx="379476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023360" y="2359152"/>
            <a:ext cx="3703320" cy="579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86.29%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4023360" y="2961924"/>
            <a:ext cx="3703320" cy="4586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Compliance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36992" y="2286000"/>
            <a:ext cx="379476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82712" y="2359152"/>
            <a:ext cx="3703320" cy="579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251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7982712" y="2961924"/>
            <a:ext cx="3703320" cy="4586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320040" y="374904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9" name="Text 26"/>
          <p:cNvSpPr/>
          <p:nvPr/>
        </p:nvSpPr>
        <p:spPr>
          <a:xfrm>
            <a:off x="502920" y="378561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SCORES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411480" y="40965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Bangalore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2788920" y="4133088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2" name="Shape 29"/>
          <p:cNvSpPr/>
          <p:nvPr/>
        </p:nvSpPr>
        <p:spPr>
          <a:xfrm>
            <a:off x="2788920" y="4133088"/>
            <a:ext cx="7616175" cy="1828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3" name="Text 30"/>
          <p:cNvSpPr/>
          <p:nvPr/>
        </p:nvSpPr>
        <p:spPr>
          <a:xfrm>
            <a:off x="10652760" y="409651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98.0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11430000" y="409651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11480" y="43891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Noida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2788920" y="4425696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Shape 34"/>
          <p:cNvSpPr/>
          <p:nvPr/>
        </p:nvSpPr>
        <p:spPr>
          <a:xfrm>
            <a:off x="2788920" y="4425696"/>
            <a:ext cx="5952881" cy="1828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8" name="Text 35"/>
          <p:cNvSpPr/>
          <p:nvPr/>
        </p:nvSpPr>
        <p:spPr>
          <a:xfrm>
            <a:off x="10652760" y="438912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438912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411480" y="468172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Guwahati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788920" y="4718304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2" name="Shape 39"/>
          <p:cNvSpPr/>
          <p:nvPr/>
        </p:nvSpPr>
        <p:spPr>
          <a:xfrm>
            <a:off x="2788920" y="4718304"/>
            <a:ext cx="3157149" cy="1828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3" name="Text 40"/>
          <p:cNvSpPr/>
          <p:nvPr/>
        </p:nvSpPr>
        <p:spPr>
          <a:xfrm>
            <a:off x="10652760" y="468172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40.6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11430000" y="468172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11480" y="497433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Hyderabad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2788920" y="5010912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7" name="Shape 44"/>
          <p:cNvSpPr/>
          <p:nvPr/>
        </p:nvSpPr>
        <p:spPr>
          <a:xfrm>
            <a:off x="2788920" y="5010912"/>
            <a:ext cx="5180305" cy="1828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8" name="Text 45"/>
          <p:cNvSpPr/>
          <p:nvPr/>
        </p:nvSpPr>
        <p:spPr>
          <a:xfrm>
            <a:off x="10652760" y="4974336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66.7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11430000" y="4974336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411480" y="526694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Mohali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2788920" y="5303520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2" name="Shape 49"/>
          <p:cNvSpPr/>
          <p:nvPr/>
        </p:nvSpPr>
        <p:spPr>
          <a:xfrm>
            <a:off x="2788920" y="5303520"/>
            <a:ext cx="5463220" cy="1828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3" name="Text 50"/>
          <p:cNvSpPr/>
          <p:nvPr/>
        </p:nvSpPr>
        <p:spPr>
          <a:xfrm>
            <a:off x="10652760" y="5266944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70.3</a:t>
            </a:r>
            <a:endParaRPr lang="en-US" sz="850" dirty="0"/>
          </a:p>
        </p:txBody>
      </p:sp>
      <p:sp>
        <p:nvSpPr>
          <p:cNvPr id="54" name="Text 51"/>
          <p:cNvSpPr/>
          <p:nvPr/>
        </p:nvSpPr>
        <p:spPr>
          <a:xfrm>
            <a:off x="11430000" y="5266944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</a:t>
            </a:r>
            <a:endParaRPr lang="en-US" sz="850" dirty="0"/>
          </a:p>
        </p:txBody>
      </p:sp>
      <p:sp>
        <p:nvSpPr>
          <p:cNvPr id="55" name="Text 52"/>
          <p:cNvSpPr/>
          <p:nvPr/>
        </p:nvSpPr>
        <p:spPr>
          <a:xfrm>
            <a:off x="411480" y="555955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Mumbai-DC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2788920" y="5596128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7" name="Shape 54"/>
          <p:cNvSpPr/>
          <p:nvPr/>
        </p:nvSpPr>
        <p:spPr>
          <a:xfrm>
            <a:off x="2788920" y="5596128"/>
            <a:ext cx="7772400" cy="1828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58" name="Text 55"/>
          <p:cNvSpPr/>
          <p:nvPr/>
        </p:nvSpPr>
        <p:spPr>
          <a:xfrm>
            <a:off x="10652760" y="555955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11430000" y="555955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411480" y="585216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Nagpur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2788920" y="5888736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2" name="Shape 59"/>
          <p:cNvSpPr/>
          <p:nvPr/>
        </p:nvSpPr>
        <p:spPr>
          <a:xfrm>
            <a:off x="2788920" y="5888736"/>
            <a:ext cx="4496333" cy="1828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3" name="Text 60"/>
          <p:cNvSpPr/>
          <p:nvPr/>
        </p:nvSpPr>
        <p:spPr>
          <a:xfrm>
            <a:off x="10652760" y="58521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57.9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11430000" y="58521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</a:t>
            </a:r>
            <a:endParaRPr lang="en-US" sz="850" dirty="0"/>
          </a:p>
        </p:txBody>
      </p:sp>
      <p:sp>
        <p:nvSpPr>
          <p:cNvPr id="65" name="Text 62"/>
          <p:cNvSpPr/>
          <p:nvPr/>
        </p:nvSpPr>
        <p:spPr>
          <a:xfrm>
            <a:off x="411480" y="61447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Noida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2788920" y="6181344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7" name="Shape 64"/>
          <p:cNvSpPr/>
          <p:nvPr/>
        </p:nvSpPr>
        <p:spPr>
          <a:xfrm>
            <a:off x="2788920" y="6181344"/>
            <a:ext cx="7772400" cy="1828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68" name="Text 65"/>
          <p:cNvSpPr/>
          <p:nvPr/>
        </p:nvSpPr>
        <p:spPr>
          <a:xfrm>
            <a:off x="10652760" y="614476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</a:t>
            </a:r>
            <a:endParaRPr lang="en-US" sz="850" dirty="0"/>
          </a:p>
        </p:txBody>
      </p:sp>
      <p:sp>
        <p:nvSpPr>
          <p:cNvPr id="69" name="Text 66"/>
          <p:cNvSpPr/>
          <p:nvPr/>
        </p:nvSpPr>
        <p:spPr>
          <a:xfrm>
            <a:off x="11430000" y="614476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 SUMMARY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Production Devices vs. Stock Inventory — SLA Exclusion Analysis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5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444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1548994"/>
            <a:ext cx="2697480" cy="3995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401568" y="1548994"/>
            <a:ext cx="2697480" cy="3995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(In-SLA)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345936" y="1548994"/>
            <a:ext cx="2697480" cy="3995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(Excl. SLA)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83.8%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290304" y="1548994"/>
            <a:ext cx="2697480" cy="3995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Coverage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217627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21284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INVENTORY BY SITE — EXCLUDED FROM SLA CALCULATIONS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542032"/>
          <a:ext cx="1136599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2286000"/>
                <a:gridCol w="496519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Stock Devices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Bangalore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54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Excluded from SLA calculations per business specification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Greater 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Excluded from SLA calculations per business specification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Excluded from SLA calculations per business specification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Mumbai-DC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Excluded from SLA calculations per business specification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603504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320040" y="603504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8" name="Text 24"/>
          <p:cNvSpPr/>
          <p:nvPr/>
        </p:nvSpPr>
        <p:spPr>
          <a:xfrm>
            <a:off x="502920" y="608990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 Insight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502920" y="636422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Total monitored device estate: 444 devices across 8 sites.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502920" y="656539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372 devices (83.8%) are production-active and subject to SLA accountability.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502920" y="676656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72 stock/spare devices are excluded from SLA penalty calculations per operational specification.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 Volume, Site Distribution &amp; Category Breakdown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6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Closed/Resolved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2029968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66544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BY SITE</a:t>
            </a:r>
            <a:endParaRPr lang="en-US" sz="9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11480" y="2377440"/>
          <a:ext cx="6858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2029968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2066544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BY PRIORITY BREAKDOWN</a:t>
            </a:r>
            <a:endParaRPr lang="en-US" sz="900" dirty="0"/>
          </a:p>
        </p:txBody>
      </p:sp>
      <p:graphicFrame>
        <p:nvGraphicFramePr>
          <p:cNvPr id="28" name="Chart 1" descr=""/>
          <p:cNvGraphicFramePr/>
          <p:nvPr/>
        </p:nvGraphicFramePr>
        <p:xfrm>
          <a:off x="7498080" y="2377440"/>
          <a:ext cx="42062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Shape 24"/>
          <p:cNvSpPr/>
          <p:nvPr/>
        </p:nvSpPr>
        <p:spPr>
          <a:xfrm>
            <a:off x="320040" y="5559552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320040" y="5559552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1" name="Text 26"/>
          <p:cNvSpPr/>
          <p:nvPr/>
        </p:nvSpPr>
        <p:spPr>
          <a:xfrm>
            <a:off x="502920" y="5614416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Overview — Key Findings</a:t>
            </a:r>
            <a:endParaRPr lang="en-US" sz="900" dirty="0"/>
          </a:p>
        </p:txBody>
      </p:sp>
      <p:sp>
        <p:nvSpPr>
          <p:cNvPr id="32" name="Text 27"/>
          <p:cNvSpPr/>
          <p:nvPr/>
        </p:nvSpPr>
        <p:spPr>
          <a:xfrm>
            <a:off x="502920" y="5888736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251 total incidents were recorded during the reporting period.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502920" y="608990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Greater Noida contributed the highest incident volume with 98 incidents.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502920" y="629107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240 incidents (95.6%) were resolved and closed.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 ANALYSIS — PARETO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Incident Drivers by Frequency &amp; Cumulative Percentage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7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11480" y="960120"/>
          <a:ext cx="71323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7680960" y="960120"/>
            <a:ext cx="44622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7772400" y="996696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RCA FREQUENCY TABLE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325880"/>
          <a:ext cx="44622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914400"/>
                <a:gridCol w="777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Root Cause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Count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49.0%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Firmware or Software Bugs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23.9%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Side Activity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27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10.8%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Preventive Maintenance (PM) 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8.0%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4.8%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Third Party Device issue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1.2%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Boot Issues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Configuration Errors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5" name="Shape 10"/>
          <p:cNvSpPr/>
          <p:nvPr/>
        </p:nvSpPr>
        <p:spPr>
          <a:xfrm>
            <a:off x="320040" y="4773168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6" name="Text 11"/>
          <p:cNvSpPr/>
          <p:nvPr/>
        </p:nvSpPr>
        <p:spPr>
          <a:xfrm>
            <a:off x="502920" y="4809744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REMEDIATION RECOMMENDATIONS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11480" y="5138928"/>
            <a:ext cx="11365992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11480" y="5138928"/>
            <a:ext cx="685800" cy="32918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Text 14"/>
          <p:cNvSpPr/>
          <p:nvPr/>
        </p:nvSpPr>
        <p:spPr>
          <a:xfrm>
            <a:off x="411480" y="5193792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1188720" y="5193792"/>
            <a:ext cx="9235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Power Issues: Inspect and replace faulty UPS/power infrastructure. Schedule preventive power audits.</a:t>
            </a:r>
            <a:endParaRPr lang="en-US" sz="850" dirty="0"/>
          </a:p>
        </p:txBody>
      </p:sp>
      <p:sp>
        <p:nvSpPr>
          <p:cNvPr id="21" name="Text 16"/>
          <p:cNvSpPr/>
          <p:nvPr/>
        </p:nvSpPr>
        <p:spPr>
          <a:xfrm>
            <a:off x="10515600" y="5193792"/>
            <a:ext cx="12161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411480" y="5522976"/>
            <a:ext cx="11365992" cy="329184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11480" y="5522976"/>
            <a:ext cx="685800" cy="3291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Text 19"/>
          <p:cNvSpPr/>
          <p:nvPr/>
        </p:nvSpPr>
        <p:spPr>
          <a:xfrm>
            <a:off x="411480" y="5577840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1188720" y="5577840"/>
            <a:ext cx="9235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 or Software Bugs: Deploy firmware updates. Enforce change management for configuration changes.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10515600" y="5577840"/>
            <a:ext cx="12161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411480" y="5907024"/>
            <a:ext cx="11365992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11480" y="5907024"/>
            <a:ext cx="685800" cy="3291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9" name="Text 24"/>
          <p:cNvSpPr/>
          <p:nvPr/>
        </p:nvSpPr>
        <p:spPr>
          <a:xfrm>
            <a:off x="411480" y="5961888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1188720" y="5961888"/>
            <a:ext cx="9235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Side Activity: Investigate and mitigate Client Side Activity failures.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10515600" y="5961888"/>
            <a:ext cx="12161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FY2026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RCA INCIDENT HEATMAP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vs. Root Cause Category — Incident Frequency Matrix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8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103120" y="1005840"/>
            <a:ext cx="164592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Text 9"/>
          <p:cNvSpPr/>
          <p:nvPr/>
        </p:nvSpPr>
        <p:spPr>
          <a:xfrm>
            <a:off x="2148840" y="1060704"/>
            <a:ext cx="1581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Power Issue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794760" y="1005840"/>
            <a:ext cx="164592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Text 11"/>
          <p:cNvSpPr/>
          <p:nvPr/>
        </p:nvSpPr>
        <p:spPr>
          <a:xfrm>
            <a:off x="3840480" y="1060704"/>
            <a:ext cx="1581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 or Softwa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5486400" y="1005840"/>
            <a:ext cx="164592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6" name="Text 13"/>
          <p:cNvSpPr/>
          <p:nvPr/>
        </p:nvSpPr>
        <p:spPr>
          <a:xfrm>
            <a:off x="5532120" y="1060704"/>
            <a:ext cx="1581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Side Activi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7178040" y="1005840"/>
            <a:ext cx="164592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8" name="Text 15"/>
          <p:cNvSpPr/>
          <p:nvPr/>
        </p:nvSpPr>
        <p:spPr>
          <a:xfrm>
            <a:off x="7223760" y="1060704"/>
            <a:ext cx="1581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Mainten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8869680" y="1005840"/>
            <a:ext cx="164592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0" name="Text 17"/>
          <p:cNvSpPr/>
          <p:nvPr/>
        </p:nvSpPr>
        <p:spPr>
          <a:xfrm>
            <a:off x="8915400" y="1060704"/>
            <a:ext cx="1581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10561320" y="1005840"/>
            <a:ext cx="164592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2" name="Text 19"/>
          <p:cNvSpPr/>
          <p:nvPr/>
        </p:nvSpPr>
        <p:spPr>
          <a:xfrm>
            <a:off x="10607040" y="1060704"/>
            <a:ext cx="1581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Party Device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274320" y="1435608"/>
            <a:ext cx="178308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20040" y="154533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Bangalore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2103120" y="1435608"/>
            <a:ext cx="1645920" cy="43891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148840" y="15453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794760" y="143560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0" y="143560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178040" y="143560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869680" y="1435608"/>
            <a:ext cx="164592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915400" y="15453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0561320" y="143560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74320" y="1911096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20040" y="202082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Noida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2103120" y="1911096"/>
            <a:ext cx="1645920" cy="438912"/>
          </a:xfrm>
          <a:prstGeom prst="rect">
            <a:avLst/>
          </a:prstGeom>
          <a:solidFill>
            <a:srgbClr val="DC2626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2148840" y="202082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3794760" y="1911096"/>
            <a:ext cx="1645920" cy="438912"/>
          </a:xfrm>
          <a:prstGeom prst="rect">
            <a:avLst/>
          </a:prstGeom>
          <a:solidFill>
            <a:srgbClr val="B91C1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840480" y="202082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486400" y="1911096"/>
            <a:ext cx="1645920" cy="43891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532120" y="202082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7178040" y="1911096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869680" y="1911096"/>
            <a:ext cx="1645920" cy="43891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915400" y="202082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10561320" y="1911096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74320" y="2386584"/>
            <a:ext cx="178308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320040" y="249631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Guwahati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2103120" y="2386584"/>
            <a:ext cx="1645920" cy="438912"/>
          </a:xfrm>
          <a:prstGeom prst="rect">
            <a:avLst/>
          </a:prstGeom>
          <a:solidFill>
            <a:srgbClr val="B91C1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2148840" y="249631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3794760" y="238658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486400" y="238658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178040" y="238658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869680" y="238658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0561320" y="238658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74320" y="2862072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320040" y="29718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Hyderabad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2103120" y="2862072"/>
            <a:ext cx="1645920" cy="438912"/>
          </a:xfrm>
          <a:prstGeom prst="rect">
            <a:avLst/>
          </a:prstGeom>
          <a:solidFill>
            <a:srgbClr val="DC2626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2148840" y="29718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3794760" y="2862072"/>
            <a:ext cx="1645920" cy="43891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3840480" y="29718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5486400" y="2862072"/>
            <a:ext cx="1645920" cy="43891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5532120" y="29718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7178040" y="2862072"/>
            <a:ext cx="1645920" cy="43891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223760" y="29718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64" name="Shape 61"/>
          <p:cNvSpPr/>
          <p:nvPr/>
        </p:nvSpPr>
        <p:spPr>
          <a:xfrm>
            <a:off x="8869680" y="2862072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0561320" y="2862072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4320" y="3337560"/>
            <a:ext cx="178308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320040" y="344728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Mohali</a:t>
            </a:r>
            <a:endParaRPr lang="en-US" sz="900" dirty="0"/>
          </a:p>
        </p:txBody>
      </p:sp>
      <p:sp>
        <p:nvSpPr>
          <p:cNvPr id="68" name="Shape 65"/>
          <p:cNvSpPr/>
          <p:nvPr/>
        </p:nvSpPr>
        <p:spPr>
          <a:xfrm>
            <a:off x="2103120" y="3337560"/>
            <a:ext cx="164592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2148840" y="344728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3794760" y="3337560"/>
            <a:ext cx="164592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3840480" y="344728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72" name="Shape 69"/>
          <p:cNvSpPr/>
          <p:nvPr/>
        </p:nvSpPr>
        <p:spPr>
          <a:xfrm>
            <a:off x="5486400" y="3337560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7178040" y="3337560"/>
            <a:ext cx="1645920" cy="43891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223760" y="344728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75" name="Shape 72"/>
          <p:cNvSpPr/>
          <p:nvPr/>
        </p:nvSpPr>
        <p:spPr>
          <a:xfrm>
            <a:off x="8869680" y="3337560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0561320" y="3337560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74320" y="3813048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320040" y="392277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Mumbai-DC</a:t>
            </a:r>
            <a:endParaRPr lang="en-US" sz="900" dirty="0"/>
          </a:p>
        </p:txBody>
      </p:sp>
      <p:sp>
        <p:nvSpPr>
          <p:cNvPr id="79" name="Shape 76"/>
          <p:cNvSpPr/>
          <p:nvPr/>
        </p:nvSpPr>
        <p:spPr>
          <a:xfrm>
            <a:off x="2103120" y="381304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794760" y="381304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5486400" y="381304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7178040" y="381304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8869680" y="381304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10561320" y="381304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274320" y="4288536"/>
            <a:ext cx="178308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320040" y="439826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Nagpur</a:t>
            </a:r>
            <a:endParaRPr lang="en-US" sz="900" dirty="0"/>
          </a:p>
        </p:txBody>
      </p:sp>
      <p:sp>
        <p:nvSpPr>
          <p:cNvPr id="87" name="Shape 84"/>
          <p:cNvSpPr/>
          <p:nvPr/>
        </p:nvSpPr>
        <p:spPr>
          <a:xfrm>
            <a:off x="2103120" y="4288536"/>
            <a:ext cx="164592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2148840" y="43982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9" name="Shape 86"/>
          <p:cNvSpPr/>
          <p:nvPr/>
        </p:nvSpPr>
        <p:spPr>
          <a:xfrm>
            <a:off x="3794760" y="4288536"/>
            <a:ext cx="1645920" cy="43891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3840480" y="43982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91" name="Shape 88"/>
          <p:cNvSpPr/>
          <p:nvPr/>
        </p:nvSpPr>
        <p:spPr>
          <a:xfrm>
            <a:off x="5486400" y="4288536"/>
            <a:ext cx="164592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2" name="Text 89"/>
          <p:cNvSpPr/>
          <p:nvPr/>
        </p:nvSpPr>
        <p:spPr>
          <a:xfrm>
            <a:off x="5532120" y="43982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3" name="Shape 90"/>
          <p:cNvSpPr/>
          <p:nvPr/>
        </p:nvSpPr>
        <p:spPr>
          <a:xfrm>
            <a:off x="7178040" y="4288536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8869680" y="4288536"/>
            <a:ext cx="164592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8915400" y="43982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10561320" y="4288536"/>
            <a:ext cx="164592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10607040" y="43982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98" name="Shape 95"/>
          <p:cNvSpPr/>
          <p:nvPr/>
        </p:nvSpPr>
        <p:spPr>
          <a:xfrm>
            <a:off x="274320" y="4764024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320040" y="487375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Noida</a:t>
            </a:r>
            <a:endParaRPr lang="en-US" sz="900" dirty="0"/>
          </a:p>
        </p:txBody>
      </p:sp>
      <p:sp>
        <p:nvSpPr>
          <p:cNvPr id="100" name="Shape 97"/>
          <p:cNvSpPr/>
          <p:nvPr/>
        </p:nvSpPr>
        <p:spPr>
          <a:xfrm>
            <a:off x="2103120" y="476402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3794760" y="476402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5486400" y="476402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7178040" y="476402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8869680" y="4764024"/>
            <a:ext cx="164592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8915400" y="487375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6" name="Shape 103"/>
          <p:cNvSpPr/>
          <p:nvPr/>
        </p:nvSpPr>
        <p:spPr>
          <a:xfrm>
            <a:off x="10561320" y="476402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7" name="Text 104"/>
          <p:cNvSpPr/>
          <p:nvPr/>
        </p:nvSpPr>
        <p:spPr>
          <a:xfrm>
            <a:off x="274320" y="537667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Intensity:</a:t>
            </a:r>
            <a:endParaRPr lang="en-US" sz="850" dirty="0"/>
          </a:p>
        </p:txBody>
      </p:sp>
      <p:sp>
        <p:nvSpPr>
          <p:cNvPr id="108" name="Shape 105"/>
          <p:cNvSpPr/>
          <p:nvPr/>
        </p:nvSpPr>
        <p:spPr>
          <a:xfrm>
            <a:off x="1143000" y="5404104"/>
            <a:ext cx="20116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9" name="Text 106"/>
          <p:cNvSpPr/>
          <p:nvPr/>
        </p:nvSpPr>
        <p:spPr>
          <a:xfrm>
            <a:off x="1371600" y="537667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(1-2)</a:t>
            </a:r>
            <a:endParaRPr lang="en-US" sz="850" dirty="0"/>
          </a:p>
        </p:txBody>
      </p:sp>
      <p:sp>
        <p:nvSpPr>
          <p:cNvPr id="110" name="Shape 107"/>
          <p:cNvSpPr/>
          <p:nvPr/>
        </p:nvSpPr>
        <p:spPr>
          <a:xfrm>
            <a:off x="3063240" y="5404104"/>
            <a:ext cx="201168" cy="16459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1" name="Text 108"/>
          <p:cNvSpPr/>
          <p:nvPr/>
        </p:nvSpPr>
        <p:spPr>
          <a:xfrm>
            <a:off x="3291840" y="537667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Low-Med</a:t>
            </a:r>
            <a:endParaRPr lang="en-US" sz="850" dirty="0"/>
          </a:p>
        </p:txBody>
      </p:sp>
      <p:sp>
        <p:nvSpPr>
          <p:cNvPr id="112" name="Shape 109"/>
          <p:cNvSpPr/>
          <p:nvPr/>
        </p:nvSpPr>
        <p:spPr>
          <a:xfrm>
            <a:off x="4983480" y="5404104"/>
            <a:ext cx="201168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3" name="Text 110"/>
          <p:cNvSpPr/>
          <p:nvPr/>
        </p:nvSpPr>
        <p:spPr>
          <a:xfrm>
            <a:off x="5212080" y="537667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50" dirty="0"/>
          </a:p>
        </p:txBody>
      </p:sp>
      <p:sp>
        <p:nvSpPr>
          <p:cNvPr id="114" name="Shape 111"/>
          <p:cNvSpPr/>
          <p:nvPr/>
        </p:nvSpPr>
        <p:spPr>
          <a:xfrm>
            <a:off x="6903720" y="5404104"/>
            <a:ext cx="201168" cy="164592"/>
          </a:xfrm>
          <a:prstGeom prst="rect">
            <a:avLst/>
          </a:prstGeom>
          <a:solidFill>
            <a:srgbClr val="DC2626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5" name="Text 112"/>
          <p:cNvSpPr/>
          <p:nvPr/>
        </p:nvSpPr>
        <p:spPr>
          <a:xfrm>
            <a:off x="7132320" y="537667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50" dirty="0"/>
          </a:p>
        </p:txBody>
      </p:sp>
      <p:sp>
        <p:nvSpPr>
          <p:cNvPr id="116" name="Shape 113"/>
          <p:cNvSpPr/>
          <p:nvPr/>
        </p:nvSpPr>
        <p:spPr>
          <a:xfrm>
            <a:off x="8823960" y="5404104"/>
            <a:ext cx="201168" cy="164592"/>
          </a:xfrm>
          <a:prstGeom prst="rect">
            <a:avLst/>
          </a:prstGeom>
          <a:solidFill>
            <a:srgbClr val="B91C1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7" name="Text 114"/>
          <p:cNvSpPr/>
          <p:nvPr/>
        </p:nvSpPr>
        <p:spPr>
          <a:xfrm>
            <a:off x="9052560" y="537667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PERFORMANCE DASHBOARD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Target: 99.9%  ·  1 September 2026 – 30 September 2026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9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926080" cy="2651760"/>
          </a:xfrm>
          <a:prstGeom prst="roundRect">
            <a:avLst>
              <a:gd name="adj" fmla="val 4138"/>
            </a:avLst>
          </a:prstGeom>
          <a:solidFill>
            <a:srgbClr val="F1F5F9"/>
          </a:solidFill>
          <a:ln w="12700">
            <a:solidFill>
              <a:srgbClr val="DC2626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502920" y="1005840"/>
          <a:ext cx="27432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502920" y="16916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86.29%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502920" y="2377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🚨 SLA BREACH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520440" y="96012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566160" y="1033272"/>
            <a:ext cx="2606040" cy="5925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96.32%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3566160" y="1651406"/>
            <a:ext cx="2606040" cy="469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Overall Uptime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6355080" y="96012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400800" y="1033272"/>
            <a:ext cx="2606040" cy="5925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73.66%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400800" y="1651406"/>
            <a:ext cx="2606040" cy="469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9189720" y="96012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9235440" y="1033272"/>
            <a:ext cx="2606040" cy="5925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99.9%</a:t>
            </a:r>
            <a:endParaRPr lang="en-US" sz="2000" dirty="0"/>
          </a:p>
        </p:txBody>
      </p:sp>
      <p:sp>
        <p:nvSpPr>
          <p:cNvPr id="23" name="Text 19"/>
          <p:cNvSpPr/>
          <p:nvPr/>
        </p:nvSpPr>
        <p:spPr>
          <a:xfrm>
            <a:off x="9235440" y="1651406"/>
            <a:ext cx="2606040" cy="469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Target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320040" y="23317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23682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SITE-WISE SLA COMPLIANCE OVERVIEW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697480"/>
          <a:ext cx="1136599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920240"/>
                <a:gridCol w="1920240"/>
                <a:gridCol w="164592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Proactive Switch Uptime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 Switch Uptime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Incident-Free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SLA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Bangalore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182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99.77%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95.31%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BREACH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Greater 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97.62%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97.07%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55.26%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BREACH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Guwahati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67.28%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BREACH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Hyderabad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99.81%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95.58%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18.75%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BREACH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Mohali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19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98.35%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26.32%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BREACH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Mumbai-DC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MET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Nagpur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87.57%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74.88%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BREACH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MET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320040" y="6199632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320040" y="6199632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9" name="Text 24"/>
          <p:cNvSpPr/>
          <p:nvPr/>
        </p:nvSpPr>
        <p:spPr>
          <a:xfrm>
            <a:off x="502920" y="6254496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Performance Insight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502920" y="6528816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Overall SLA compliance: 86.29% against a 99.9% target.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502920" y="672998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SLA compliance is below target. Immediate remediation is recommended.</a:t>
            </a:r>
            <a:endParaRPr lang="en-US" sz="850" dirty="0"/>
          </a:p>
        </p:txBody>
      </p:sp>
      <p:sp>
        <p:nvSpPr>
          <p:cNvPr id="32" name="Text 27"/>
          <p:cNvSpPr/>
          <p:nvPr/>
        </p:nvSpPr>
        <p:spPr>
          <a:xfrm>
            <a:off x="502920" y="693115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Network uptime averaged 96.32% across all monitored infrastructure.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Ticket Volume, Priority Distribution &amp; Resolution Performance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10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2029968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66544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10 INCIDENT TICKETS BY PRIORITY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95728"/>
          <a:ext cx="1136599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1645920"/>
                <a:gridCol w="1371600"/>
                <a:gridCol w="1188720"/>
                <a:gridCol w="30449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Ticket 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/ Host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PRO/INC/64100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JFL-Guwahati-CORE-02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PRO/INC/63537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JFL-MOHALI-CORE-01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Configuration Errors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PRO/INC/58420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JFL-GNSC-AP50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PRO/INC/60166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JFL-GNSC-AP37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PRO/INC/60765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JFL-GNSC-AP61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PRO/INC/60880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JFL-GNSC-AP67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PRO/INC/61244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JFL-GNSC-TP-AC-SW-01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PRO/INC/61938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JFL-GNSC-AP63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PRO/INC/61942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JFL-GNSC-AP32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PRO/INC/62140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JFL-ISE-01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6144768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320040" y="6144768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8" name="Text 24"/>
          <p:cNvSpPr/>
          <p:nvPr/>
        </p:nvSpPr>
        <p:spPr>
          <a:xfrm>
            <a:off x="502920" y="619963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Analytics Insight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251 incident tickets were processed during the reporting period.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502920" y="667512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Resolution rate: 95.6% — 240 tickets resolved, 11 pending closure.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502920" y="6876288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 critical (P1) tickets recorded — excellent incident prioritization.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RANKING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Sites Ranked from Healthiest to Most Critical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11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11365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011680"/>
                <a:gridCol w="1463040"/>
                <a:gridCol w="1463040"/>
                <a:gridCol w="1463040"/>
                <a:gridCol w="1737360"/>
                <a:gridCol w="24505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Rank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Health Score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Switch Uptime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Incident-Free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Incident Count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🥇 1st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Mumbai-DC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🟢 TOP PERFORMER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🥈 2nd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 (Excellent)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🥉 3rd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Bangalore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98.0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99.77%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95.31%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 (Excellent)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#4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Greater 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76.6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97.07%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55.26%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ELEVATED (Fair)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#5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Mohali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70.3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98.35%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26.32%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ELEVATED (Fair)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Hyderabad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66.7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95.58%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18.75%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CRITICAL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#7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Nagpur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57.9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74.88%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CRITICAL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Guwahati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40.6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67.28%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CRITICAL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320040" y="566928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20040" y="566928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0"/>
          <p:cNvSpPr/>
          <p:nvPr/>
        </p:nvSpPr>
        <p:spPr>
          <a:xfrm>
            <a:off x="502920" y="572414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Ranking — Key Findings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502920" y="599846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Mumbai-DC leads the network with the highest health score of 100.00 — strong operational performance.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502920" y="619963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Guwahati reported the lowest health score of 40.62 and requires priority intervention.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502920" y="64008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3 out of 8 sites are in excellent or good health.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ASSESSMENT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Site-Level Risk Classification with Prioritized Remediation Recommendations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12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1136599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280160"/>
                <a:gridCol w="2286000"/>
                <a:gridCol w="45994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Health Score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Risk Level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Top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Recommendation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Guwahati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40.6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URGENT: Escalate Device Power Issues failures. Deploy incident response team within 48 hours.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Nagpur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57.9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Firmware or Software Bugs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URGENT: Escalate Firmware or Software Bugs failures. Deploy incident response team within 48 hours.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Hyderabad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66.7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URGENT: Escalate Device Power Issues failures. Deploy incident response team within 48 hours.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Mohali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70.3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ELEVATED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Preventive Maintenance (PM) or Planned Upgrade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PRIORITY: Investigate Preventive Maintenance (PM) or Planned Upgrade incidents. Schedule site visit within 2 weeks.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Greater 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76.6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ELEVATED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Firmware or Software Bugs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PRIORITY: Investigate Firmware or Software Bugs incidents. Schedule site visit within 2 weeks.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Bangalore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98.0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Continue standard monitoring. No immediate action required.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Mumbai-DC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Continue standard monitoring. No immediate action required.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Continue standard monitoring. No immediate action required.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11480" y="5715000"/>
            <a:ext cx="201168" cy="16459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3" name="Text 9"/>
          <p:cNvSpPr/>
          <p:nvPr/>
        </p:nvSpPr>
        <p:spPr>
          <a:xfrm>
            <a:off x="658368" y="5687568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(Score &gt;= 95)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337560" y="5715000"/>
            <a:ext cx="201168" cy="16459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Text 11"/>
          <p:cNvSpPr/>
          <p:nvPr/>
        </p:nvSpPr>
        <p:spPr>
          <a:xfrm>
            <a:off x="3584448" y="5687568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(85-94)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263640" y="5715000"/>
            <a:ext cx="201168" cy="16459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3"/>
          <p:cNvSpPr/>
          <p:nvPr/>
        </p:nvSpPr>
        <p:spPr>
          <a:xfrm>
            <a:off x="6510528" y="5687568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(70-84)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9189720" y="5715000"/>
            <a:ext cx="201168" cy="16459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Text 15"/>
          <p:cNvSpPr/>
          <p:nvPr/>
        </p:nvSpPr>
        <p:spPr>
          <a:xfrm>
            <a:off x="9436608" y="5687568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(Score &lt; 70)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320040" y="594360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20040" y="594360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2" name="Text 18"/>
          <p:cNvSpPr/>
          <p:nvPr/>
        </p:nvSpPr>
        <p:spPr>
          <a:xfrm>
            <a:off x="502920" y="599846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Assessment — Executive Summary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502920" y="627278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3 site(s) require immediate high-risk remediation.</a:t>
            </a:r>
            <a:endParaRPr lang="en-US" sz="850" dirty="0"/>
          </a:p>
        </p:txBody>
      </p:sp>
      <p:sp>
        <p:nvSpPr>
          <p:cNvPr id="24" name="Text 20"/>
          <p:cNvSpPr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systemic risk driver across the estate: Device Power Issues.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502920" y="667512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Proactive intervention at elevated-risk sites will prevent escalation to high-risk status.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Bangalore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1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13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99.77%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95.31%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97.99 (Excellent)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BREACH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99.77% — exceeding SLA threshold of 99.9%.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11480" y="4014216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" y="4014216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Text 39"/>
          <p:cNvSpPr/>
          <p:nvPr/>
        </p:nvSpPr>
        <p:spPr>
          <a:xfrm>
            <a:off x="59436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95.3% of devices remained incident-free.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11480" y="4416552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11480" y="4416552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5" name="Text 42"/>
          <p:cNvSpPr/>
          <p:nvPr/>
        </p:nvSpPr>
        <p:spPr>
          <a:xfrm>
            <a:off x="594360" y="4443984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score of 97.99 indicates strong operational stability.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7" name="Text 44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Recurring Device Power Issues incidents require infrastructure investigation.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Bangalore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Bangalore operates 182 active devices (50 switches, 78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99.77% | Proactive Switch Uptime: 100.00% — below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[Device Power Issues] | APs [Configuration Errors].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Bangalore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1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14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99.77%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Q2EW-5R5B-HEY9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Q2ZP-AP5E-Z83L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Q2ZP-D2D2-VFQK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Q2ZP-D47G-NGKY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Q2QW-EXJY-SE64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Q2QW-CTFE-E2WF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Q2QW-CTFW-5KJ6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Device Power Issues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Configuration Errors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Bangalore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1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15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INCIDENT TICKETS — BANGALORE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59152"/>
          <a:ext cx="11365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1463040"/>
                <a:gridCol w="1097280"/>
                <a:gridCol w="1097280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Ticket 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/ Host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PRO/INC/62741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P4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PRO/INC/62978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GF-ETP-SW1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PRO/INC/63077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GF-ETP-SW1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PRO/INC/63078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HEALTHCARE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PRO/INC/63079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Z1-SIDE PLANT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PRO/INC/63093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Z1-SIDE PLANT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PRO/INC/63094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HEALTHCARE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PRO/INC/63975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GF-AP45-R03-SW03-30P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Configuration Errors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89788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93445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ACTIONS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6236208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11480" y="6236208"/>
            <a:ext cx="59436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0" name="Text 26"/>
          <p:cNvSpPr/>
          <p:nvPr/>
        </p:nvSpPr>
        <p:spPr>
          <a:xfrm>
            <a:off x="411480" y="6272784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1097280" y="6272784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 and replace faulty UPS/power infrastructure. Schedule preventive power audits.  [Timeline: 30 days]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411480" y="6528816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11480" y="6528816"/>
            <a:ext cx="594360" cy="25603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4" name="Text 30"/>
          <p:cNvSpPr/>
          <p:nvPr/>
        </p:nvSpPr>
        <p:spPr>
          <a:xfrm>
            <a:off x="411480" y="6565392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</a:t>
            </a:r>
            <a:endParaRPr lang="en-US" sz="750" dirty="0"/>
          </a:p>
        </p:txBody>
      </p:sp>
      <p:sp>
        <p:nvSpPr>
          <p:cNvPr id="35" name="Text 31"/>
          <p:cNvSpPr/>
          <p:nvPr/>
        </p:nvSpPr>
        <p:spPr>
          <a:xfrm>
            <a:off x="1097280" y="6565392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 and mitigate Unknown failures.  [Timeline: Q2 FY2026]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Greater Noida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2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16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97.07%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55.26%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76.59 (Fair)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BREACH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 total incidents logged; primary driver: Client Side Activity.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1" name="Text 38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3" name="Text 40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6" name="Text 43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97.07% — below SLA target of 99.9%.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806440" y="4014216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806440" y="4014216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989320" y="4041648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55.3% of devices are incident-free — investigate recurring failures.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806440" y="4416552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4416552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4443984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 of 76.59 indicates moderate risk requiring attention.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Greater Noida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Greater Noida operates 122 active devices (42 switches, 72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97.07% | Proactive Switch Uptime: 97.62% — below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[Client Side Activity] | APs [Firmware or Software Bugs].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Greater Noida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2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17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97.07%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Q5TN-DGC5-M8QZ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99.95%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Q5TN-NF5F-N32X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99.97%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JFL-GNMC-1F-LB-AC-SW-01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FCW2110B27A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JFL-GNMC-2F-AC-ST-01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FCW2110B28C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JFL-GNMC-2F-AC-ST-01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FCW2110B27F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JFL-GNMC-2F-AC-ST-01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FOC2113V20F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JFL-GNMC-3F-AC-ST-01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FOC2113S2MD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Client Side Activity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Firmware or Software Bugs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Greater Noida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2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18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INCIDENT TICKETS — GREATER NOIDA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59152"/>
          <a:ext cx="11365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1463040"/>
                <a:gridCol w="1097280"/>
                <a:gridCol w="1097280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Ticket 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/ Host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PRO/INC/58420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JFL-GNSC-AP50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PRO/INC/60166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JFL-GNSC-AP37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PRO/INC/60765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JFL-GNSC-AP61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PRO/INC/60880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JFL-GNSC-AP67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PRO/INC/61244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JFL-GNSC-TP-AC-SW-01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PRO/INC/61938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JFL-GNSC-AP63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PRO/INC/61942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JFL-GNSC-AP32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PRO/INC/62657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JFL-GNSC-AP33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89788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93445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ACTIONS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6236208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11480" y="6236208"/>
            <a:ext cx="594360" cy="25603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0" name="Text 26"/>
          <p:cNvSpPr/>
          <p:nvPr/>
        </p:nvSpPr>
        <p:spPr>
          <a:xfrm>
            <a:off x="411480" y="6272784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1097280" y="6272784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firmware updates. Enforce change management for configuration changes.  [Timeline: 30 days]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411480" y="6528816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11480" y="6528816"/>
            <a:ext cx="59436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4" name="Text 30"/>
          <p:cNvSpPr/>
          <p:nvPr/>
        </p:nvSpPr>
        <p:spPr>
          <a:xfrm>
            <a:off x="411480" y="6565392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750" dirty="0"/>
          </a:p>
        </p:txBody>
      </p:sp>
      <p:sp>
        <p:nvSpPr>
          <p:cNvPr id="35" name="Text 31"/>
          <p:cNvSpPr/>
          <p:nvPr/>
        </p:nvSpPr>
        <p:spPr>
          <a:xfrm>
            <a:off x="1097280" y="6565392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 and replace faulty UPS/power infrastructure. Schedule preventive power audits.  [Timeline: 30 days]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Guwahati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3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19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67.28%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40.62 (Poor)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BREACH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100.0% of devices remained incident-free.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11480" y="4014216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" y="4014216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Text 39"/>
          <p:cNvSpPr/>
          <p:nvPr/>
        </p:nvSpPr>
        <p:spPr>
          <a:xfrm>
            <a:off x="59436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 total incidents logged; primary driver: Device Power Issues.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6" name="Text 43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67.28% — below SLA target of 99.9%.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806440" y="4014216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4014216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4041648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health score of 40.62 — immediate intervention recommended.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5806440" y="4416552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806440" y="4416552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5" name="Text 52"/>
          <p:cNvSpPr/>
          <p:nvPr/>
        </p:nvSpPr>
        <p:spPr>
          <a:xfrm>
            <a:off x="5989320" y="4443984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Recurring Device Power Issues incidents require infrastructure investigation.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Guwahati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Guwahati operates 5 active devices (2 switches, 3 APs).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67.28% | Proactive Switch Uptime: 99.60% — below the 99.9% SLA threshold.</a:t>
            </a:r>
            <a:endParaRPr lang="en-US" sz="850" dirty="0"/>
          </a:p>
        </p:txBody>
      </p:sp>
      <p:sp>
        <p:nvSpPr>
          <p:cNvPr id="61" name="Text 58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[Device Power Issues] | APs [Device Power Issues].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Guwahati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3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20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67.28%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Q5JG-AQNW-P9FB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Q5JG-ECTW-5MN7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99.42%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Device Power Issues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Device Power Issues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Guwahati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3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21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INCIDENT TICKETS — GUWAHATI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59152"/>
          <a:ext cx="11365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1463040"/>
                <a:gridCol w="1097280"/>
                <a:gridCol w="1097280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Ticket 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/ Host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PRO/INC/62646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JFL-Guwahati-CORE-02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PRO/INC/62645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JFL-Guwahati-CORE-01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PRO/INC/62652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JFL-Guwahati-CORE-02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PRO/INC/62655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JFL-Guwahati-CORE-01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PRO/INC/62654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JFL-Guwahati-CORE-02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PRO/INC/62797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JFL-Guwahati-CORE-01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Boot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PRO/INC/63345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JFL-Guwahati-SSC-AP-01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PRO/INC/63367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JFL-Guwahati-SSC-AP-01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89788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93445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ACTIONS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6236208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11480" y="6236208"/>
            <a:ext cx="59436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0" name="Text 26"/>
          <p:cNvSpPr/>
          <p:nvPr/>
        </p:nvSpPr>
        <p:spPr>
          <a:xfrm>
            <a:off x="411480" y="6272784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1097280" y="6272784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 and replace faulty UPS/power infrastructure. Schedule preventive power audits.  [Timeline: 30 days]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411480" y="6528816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11480" y="6528816"/>
            <a:ext cx="594360" cy="25603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4" name="Text 30"/>
          <p:cNvSpPr/>
          <p:nvPr/>
        </p:nvSpPr>
        <p:spPr>
          <a:xfrm>
            <a:off x="411480" y="6565392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</a:t>
            </a:r>
            <a:endParaRPr lang="en-US" sz="750" dirty="0"/>
          </a:p>
        </p:txBody>
      </p:sp>
      <p:sp>
        <p:nvSpPr>
          <p:cNvPr id="35" name="Text 31"/>
          <p:cNvSpPr/>
          <p:nvPr/>
        </p:nvSpPr>
        <p:spPr>
          <a:xfrm>
            <a:off x="1097280" y="6565392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hardware audit. Identify end-of-life devices for replacement.  [Timeline: 60 days]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Hyderabad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4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22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95.58%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18.75%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66.65 (Poor)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BREACH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 total incidents logged; primary driver: Device Power Issues.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1" name="Text 38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3" name="Text 40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6" name="Text 43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95.58% — below SLA target of 99.9%.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806440" y="4014216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806440" y="4014216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989320" y="4041648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18.8% of devices are incident-free — investigate recurring failures.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806440" y="4416552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4416552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4443984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health score of 66.65 — immediate intervention recommended.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Hyderabad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Hyderabad operates 16 active devices (2 switches, 14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95.58% | Proactive Switch Uptime: 99.81% — below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[Device Power Issues] | APs [Device Power Issues].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Hyderabad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4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23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95.58%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Q5JJ-GEWQ-X3MG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99.87%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Q5JJ-Q88T-6XC7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99.74%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Device Power Issues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Device Power Issues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Hyderabad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4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24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INCIDENT TICKETS — HYDERABAD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59152"/>
          <a:ext cx="11365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1463040"/>
                <a:gridCol w="1097280"/>
                <a:gridCol w="1097280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Ticket 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/ Host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PRO/INC/62988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JFL-HYD-SCC-AP05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PRO/INC/62990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JFL-HYD-CORE-2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PRO/INC/62989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JFL-HYD-SCC-AP06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JFL-HYD-CORE-1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PRO/INC/63002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JFL-HYD-SCC-AP14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PRO/INC/63003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JFL-HYD-SCC-AP01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PRO/INC/63051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JFL-HYD-SCC-AP06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PRO/INC/63053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JFL-HYD-SCC-AP07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89788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93445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ACTIONS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6236208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11480" y="6236208"/>
            <a:ext cx="59436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0" name="Text 26"/>
          <p:cNvSpPr/>
          <p:nvPr/>
        </p:nvSpPr>
        <p:spPr>
          <a:xfrm>
            <a:off x="411480" y="6272784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1097280" y="6272784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 and replace faulty UPS/power infrastructure. Schedule preventive power audits.  [Timeline: 30 days]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411480" y="6528816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11480" y="6528816"/>
            <a:ext cx="594360" cy="25603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4" name="Text 30"/>
          <p:cNvSpPr/>
          <p:nvPr/>
        </p:nvSpPr>
        <p:spPr>
          <a:xfrm>
            <a:off x="411480" y="6565392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</a:t>
            </a:r>
            <a:endParaRPr lang="en-US" sz="750" dirty="0"/>
          </a:p>
        </p:txBody>
      </p:sp>
      <p:sp>
        <p:nvSpPr>
          <p:cNvPr id="35" name="Text 31"/>
          <p:cNvSpPr/>
          <p:nvPr/>
        </p:nvSpPr>
        <p:spPr>
          <a:xfrm>
            <a:off x="1097280" y="6565392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 and mitigate Client Side Activity failures.  [Timeline: Q2 FY2026]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Mohali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5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25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98.35%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26.32%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70.29 (Fair)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BREACH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total incidents logged; primary driver: Configuration Errors.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1" name="Text 38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3" name="Text 40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6" name="Text 43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98.35% — below SLA target of 99.9%.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806440" y="4014216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806440" y="4014216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989320" y="4041648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26.3% of devices are incident-free — investigate recurring failures.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806440" y="4416552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4416552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4443984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health score of 70.29 — immediate intervention recommended.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Mohali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Mohali operates 19 active devices (4 switches, 15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98.35% | Proactive Switch Uptime: 100.00% — below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[Configuration Errors] | APs [Preventive Maintenance (PM) or Planned Upgrade].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Mohali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5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26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98.35%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Q5JG-NJW9-ABBQ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Q5JJ-3TZH-2HV5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TRANSPORT ROOM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Q3LP-2PSJ-6DLB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WAREHOUSE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Q3LM-TGAF-Q97P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Configuration Errors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Preventive Maintenance (PM) or Planned Upgrade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Mohali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5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27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INCIDENT TICKETS — MOHALI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59152"/>
          <a:ext cx="11365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1463040"/>
                <a:gridCol w="1097280"/>
                <a:gridCol w="1097280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Ticket 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/ Host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PRO/INC/63537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JFL-MOHALI-CORE-01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Configuration Errors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PRO/INC/63538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JFL-Mohali-SCC-AP13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Boot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PRO/INC/63610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JFL-Mohali-SCC-AP13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PRO/INC/63611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JFL-Mohali-SCC-AP08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PRO/INC/63612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JFL-Mohali-SCC-AP05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PRO/INC/64201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JFL-Mohali-SCC-AP03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Preventive Maintenance (PM) or Plan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PRO/INC/64203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JFL-Mohali-SCC-AP11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Preventive Maintenance (PM) or Plan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PRO/INC/64206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JFL-Mohali-SCC-AP10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Preventive Maintenance (PM) or Plan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89788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93445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ACTIONS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6236208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11480" y="6236208"/>
            <a:ext cx="59436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0" name="Text 26"/>
          <p:cNvSpPr/>
          <p:nvPr/>
        </p:nvSpPr>
        <p:spPr>
          <a:xfrm>
            <a:off x="411480" y="6272784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1097280" y="6272784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High-frequency RCA (61.9%). Conduct root cause workshop with operations team.  [Timeline: 14 days]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411480" y="6528816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11480" y="6528816"/>
            <a:ext cx="59436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4" name="Text 30"/>
          <p:cNvSpPr/>
          <p:nvPr/>
        </p:nvSpPr>
        <p:spPr>
          <a:xfrm>
            <a:off x="411480" y="6565392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750" dirty="0"/>
          </a:p>
        </p:txBody>
      </p:sp>
      <p:sp>
        <p:nvSpPr>
          <p:cNvPr id="35" name="Text 31"/>
          <p:cNvSpPr/>
          <p:nvPr/>
        </p:nvSpPr>
        <p:spPr>
          <a:xfrm>
            <a:off x="1097280" y="6565392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 and replace faulty UPS/power infrastructure. Schedule preventive power audits.  [Timeline: 30 days]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Mumbai-DC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6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28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 (Excellent)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100.00% — exceeding SLA threshold of 99.9%.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11480" y="4014216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" y="4014216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Text 39"/>
          <p:cNvSpPr/>
          <p:nvPr/>
        </p:nvSpPr>
        <p:spPr>
          <a:xfrm>
            <a:off x="59436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100.0% of devices remained incident-free.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11480" y="4416552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11480" y="4416552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5" name="Text 42"/>
          <p:cNvSpPr/>
          <p:nvPr/>
        </p:nvSpPr>
        <p:spPr>
          <a:xfrm>
            <a:off x="594360" y="4443984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score of 100.00 indicates strong operational stability.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7" name="Text 44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critical risks identified. Continue standard monitoring protocols.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Mumbai-DC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Mumbai-DC operates 8 active devices (4 switches, 0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100.00% | Proactive Switch Uptime: 100.00% — within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[Stable Operations (No Incidents)] | APs [Stable Operations (No Incidents)].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Mumbai-DC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6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29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Main Rack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N/A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Stable Operations (No Incidents)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Stable Operations (No Incidents)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Mumbai-DC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6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30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&amp; RCA REVIEW — MUMBAI-DC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11480" y="2423160"/>
            <a:ext cx="11365992" cy="128016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2920" y="256032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INCIDENTS RECORDED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502920" y="2971800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Mumbai-DC achieved 100% operational SLA compliance with zero incident tickets recorded during this reporting period.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20040" y="39319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9" name="Text 26"/>
          <p:cNvSpPr/>
          <p:nvPr/>
        </p:nvSpPr>
        <p:spPr>
          <a:xfrm>
            <a:off x="502920" y="39684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11480" y="4343400"/>
            <a:ext cx="11365992" cy="731520"/>
          </a:xfrm>
          <a:prstGeom prst="roundRect">
            <a:avLst>
              <a:gd name="adj" fmla="val 75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94360" y="4526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Status: Stable Operations (No Incidents)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20040" y="5303520"/>
            <a:ext cx="11548872" cy="813816"/>
          </a:xfrm>
          <a:prstGeom prst="roundRect">
            <a:avLst>
              <a:gd name="adj" fmla="val 674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0040" y="5303520"/>
            <a:ext cx="73152" cy="81381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4" name="Text 31"/>
          <p:cNvSpPr/>
          <p:nvPr/>
        </p:nvSpPr>
        <p:spPr>
          <a:xfrm>
            <a:off x="502920" y="535838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Insight — Mumbai-DC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02920" y="563270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incident tickets recorded for Mumbai-DC in this reporting period.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502920" y="583387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Infrastructure health remains optimal. Continuous proactive monitoring is active.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Nagpur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7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31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74.88%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10.00%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57.85 (Poor)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BREACH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total incidents logged; primary driver: Third Party Device issue.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1" name="Text 38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3" name="Text 40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6" name="Text 43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74.88% — below SLA target of 99.9%.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806440" y="4014216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806440" y="4014216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989320" y="4041648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10.0% of devices are incident-free — investigate recurring failures.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806440" y="4416552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4416552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4443984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health score of 57.85 — immediate intervention recommended.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Nagpur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Nagpur operates 10 active devices (4 switches, 6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74.88% | Proactive Switch Uptime: 87.57% — below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[Third Party Device issue] | APs [Firmware or Software Bugs].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Nagpur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7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32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74.88%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Q5JJ-68KZ-MXAS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75.09%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Q5JG-SL55-CZ9Z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Q5JG-TM9S-PLFP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75.21%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Q5JG-STQ9-EUPF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99.99%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Third Party Device issue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Firmware or Software Bugs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Nagpur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7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33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INCIDENT TICKETS — NAGPUR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59152"/>
          <a:ext cx="11365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1463040"/>
                <a:gridCol w="1097280"/>
                <a:gridCol w="1097280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Ticket 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/ Host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PRO/INC/62666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JFL-NAG-SSC-SW01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New Configuration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PRO/INC/62790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JFL-NAG-SSC-SW01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PRO/INC/62979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JFL-NAG-SSC-SW03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Side Activity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PRO/INC/63080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JFL-NAG-SSC-SW01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Third Party Device issue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PRO/INC/63507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JFL-NAG-SSC-SW01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Third Party Device issue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PRO/INC/63820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JFL-NAG-SSC-SW01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Side Activity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PRO/INC/63837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JFL-NAG-SSC-AP02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Firmware or Software Bugs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PRO/INC/63839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JFL-NAG-SCC-AP01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Firmware or Software Bugs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89788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93445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ACTIONS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6236208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11480" y="6236208"/>
            <a:ext cx="594360" cy="25603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0" name="Text 26"/>
          <p:cNvSpPr/>
          <p:nvPr/>
        </p:nvSpPr>
        <p:spPr>
          <a:xfrm>
            <a:off x="411480" y="6272784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1097280" y="6272784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firmware updates. Enforce change management for configuration changes.  [Timeline: 30 days]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411480" y="6528816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11480" y="6528816"/>
            <a:ext cx="594360" cy="25603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4" name="Text 30"/>
          <p:cNvSpPr/>
          <p:nvPr/>
        </p:nvSpPr>
        <p:spPr>
          <a:xfrm>
            <a:off x="411480" y="6565392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</a:t>
            </a:r>
            <a:endParaRPr lang="en-US" sz="750" dirty="0"/>
          </a:p>
        </p:txBody>
      </p:sp>
      <p:sp>
        <p:nvSpPr>
          <p:cNvPr id="35" name="Text 31"/>
          <p:cNvSpPr/>
          <p:nvPr/>
        </p:nvSpPr>
        <p:spPr>
          <a:xfrm>
            <a:off x="1097280" y="6565392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hardware audit. Identify end-of-life devices for replacement.  [Timeline: 60 days]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Noida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8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34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 (Excellent)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100.00% — exceeding SLA threshold of 99.9%.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11480" y="4014216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" y="4014216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Text 39"/>
          <p:cNvSpPr/>
          <p:nvPr/>
        </p:nvSpPr>
        <p:spPr>
          <a:xfrm>
            <a:off x="59436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100.0% of devices remained incident-free.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11480" y="4416552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11480" y="4416552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5" name="Text 42"/>
          <p:cNvSpPr/>
          <p:nvPr/>
        </p:nvSpPr>
        <p:spPr>
          <a:xfrm>
            <a:off x="594360" y="4443984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score of 100.00 indicates strong operational stability.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7" name="Text 44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Recurring Stable Operations (No Incidents) incidents require infrastructure investigation.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Noida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Noida operates 82 active devices (40 switches, 36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100.00% | Proactive Switch Uptime: 100.00% — within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[Stable Operations (No Incidents)] | APs [Stable Operations (No Incidents)].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Noida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8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35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JFL-15F-AP-Switch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FVH2903LAA9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JFL-15F-AP-Switch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FOC2710Y261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JFL-15F-L2-Stack1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FOC2714Z681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JFL-15F-L2-Stack1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FOC2716YN3W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JFL-15F-L2-Stack1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FOC2716YLLY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JFL-15F-L2-Stack1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FOC2716YLM7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JFL-15F-L2-Stack1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FOC2714Z5B8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Stable Operations (No Incidents)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Stable Operations (No Incidents)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Noida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8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36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INCIDENT TICKETS — NOIDA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59152"/>
          <a:ext cx="11365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1463040"/>
                <a:gridCol w="1097280"/>
                <a:gridCol w="1097280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Ticket 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/ Host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PRO/INC/62140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JFL-ISE-01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89788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93445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ACTIONS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6236208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11480" y="6236208"/>
            <a:ext cx="59436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0" name="Text 26"/>
          <p:cNvSpPr/>
          <p:nvPr/>
        </p:nvSpPr>
        <p:spPr>
          <a:xfrm>
            <a:off x="411480" y="6272784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1097280" y="6272784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High-frequency RCA (100.0%). Conduct root cause workshop with operations team.  [Timeline: 14 days]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AI-GENERATED RECOMMENDATIONS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Priority-Based Remediation Plan Generated from Incident &amp; Health Analytics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37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0040" y="960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996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PRIORITY — IMMEDIATE ACTION REQUIRED (0-30 DAYS)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11480" y="1298448"/>
            <a:ext cx="11365992" cy="384048"/>
          </a:xfrm>
          <a:prstGeom prst="roundRect">
            <a:avLst>
              <a:gd name="adj" fmla="val 1190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11480" y="1298448"/>
            <a:ext cx="548640" cy="38404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2"/>
          <p:cNvSpPr/>
          <p:nvPr/>
        </p:nvSpPr>
        <p:spPr>
          <a:xfrm>
            <a:off x="411480" y="138988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1051560" y="1353312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health degradation at Guwahati (Score: 40.62). Conduct on-site audit and deploy rapid response team.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11480" y="1737360"/>
            <a:ext cx="11365992" cy="384048"/>
          </a:xfrm>
          <a:prstGeom prst="roundRect">
            <a:avLst>
              <a:gd name="adj" fmla="val 1190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11480" y="1737360"/>
            <a:ext cx="548640" cy="38404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Text 16"/>
          <p:cNvSpPr/>
          <p:nvPr/>
        </p:nvSpPr>
        <p:spPr>
          <a:xfrm>
            <a:off x="411480" y="182880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1051560" y="1792224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health degradation at Nagpur (Score: 57.85). Conduct on-site audit and deploy rapid response team.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11480" y="2176272"/>
            <a:ext cx="11365992" cy="384048"/>
          </a:xfrm>
          <a:prstGeom prst="roundRect">
            <a:avLst>
              <a:gd name="adj" fmla="val 1190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11480" y="2176272"/>
            <a:ext cx="548640" cy="38404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3" name="Text 20"/>
          <p:cNvSpPr/>
          <p:nvPr/>
        </p:nvSpPr>
        <p:spPr>
          <a:xfrm>
            <a:off x="411480" y="226771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1051560" y="2231136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health degradation at Hyderabad (Score: 66.65). Conduct on-site audit and deploy rapid response team.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20040" y="27432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6" name="Text 23"/>
          <p:cNvSpPr/>
          <p:nvPr/>
        </p:nvSpPr>
        <p:spPr>
          <a:xfrm>
            <a:off x="502920" y="27797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 PRIORITY — ACTION REQUIRED (30-60 DAYS)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11480" y="3090672"/>
            <a:ext cx="11365992" cy="347472"/>
          </a:xfrm>
          <a:prstGeom prst="roundRect">
            <a:avLst>
              <a:gd name="adj" fmla="val 13158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11480" y="3090672"/>
            <a:ext cx="594360" cy="34747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9" name="Text 26"/>
          <p:cNvSpPr/>
          <p:nvPr/>
        </p:nvSpPr>
        <p:spPr>
          <a:xfrm>
            <a:off x="411480" y="3163824"/>
            <a:ext cx="594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1097280" y="3136392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firmware updates. Enforce change management for configuration changes.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411480" y="3493008"/>
            <a:ext cx="11365992" cy="347472"/>
          </a:xfrm>
          <a:prstGeom prst="roundRect">
            <a:avLst>
              <a:gd name="adj" fmla="val 13158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11480" y="3493008"/>
            <a:ext cx="594360" cy="34747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3" name="Text 30"/>
          <p:cNvSpPr/>
          <p:nvPr/>
        </p:nvSpPr>
        <p:spPr>
          <a:xfrm>
            <a:off x="411480" y="3566160"/>
            <a:ext cx="594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1097280" y="3538728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mitigate Client Side Activity failures.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11480" y="3895344"/>
            <a:ext cx="11365992" cy="347472"/>
          </a:xfrm>
          <a:prstGeom prst="roundRect">
            <a:avLst>
              <a:gd name="adj" fmla="val 13158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11480" y="3895344"/>
            <a:ext cx="594360" cy="34747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7" name="Text 34"/>
          <p:cNvSpPr/>
          <p:nvPr/>
        </p:nvSpPr>
        <p:spPr>
          <a:xfrm>
            <a:off x="411480" y="3968496"/>
            <a:ext cx="594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1097280" y="3941064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mitigate Preventive Maintenance (PM) or Planned Upgrade failures.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320040" y="4343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0" name="Text 37"/>
          <p:cNvSpPr/>
          <p:nvPr/>
        </p:nvSpPr>
        <p:spPr>
          <a:xfrm>
            <a:off x="502920" y="4379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PRIORITY — STANDARD PRACTICE (60-90 DAYS)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11480" y="4681728"/>
            <a:ext cx="11365992" cy="310896"/>
          </a:xfrm>
          <a:prstGeom prst="roundRect">
            <a:avLst>
              <a:gd name="adj" fmla="val 1176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11480" y="4681728"/>
            <a:ext cx="548640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3" name="Text 40"/>
          <p:cNvSpPr/>
          <p:nvPr/>
        </p:nvSpPr>
        <p:spPr>
          <a:xfrm>
            <a:off x="411480" y="473659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1051560" y="4718304"/>
            <a:ext cx="10607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network topology documentation for all 8 sites including current device serial inventories.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11480" y="5047488"/>
            <a:ext cx="11365992" cy="310896"/>
          </a:xfrm>
          <a:prstGeom prst="roundRect">
            <a:avLst>
              <a:gd name="adj" fmla="val 1176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11480" y="5047488"/>
            <a:ext cx="548640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7" name="Text 44"/>
          <p:cNvSpPr/>
          <p:nvPr/>
        </p:nvSpPr>
        <p:spPr>
          <a:xfrm>
            <a:off x="411480" y="510235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1051560" y="5084064"/>
            <a:ext cx="10607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quarterly stakeholder review meetings with JFL IT leadership to align on operational priorities.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411480" y="5413248"/>
            <a:ext cx="11365992" cy="310896"/>
          </a:xfrm>
          <a:prstGeom prst="roundRect">
            <a:avLst>
              <a:gd name="adj" fmla="val 1176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411480" y="5413248"/>
            <a:ext cx="548640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1" name="Text 48"/>
          <p:cNvSpPr/>
          <p:nvPr/>
        </p:nvSpPr>
        <p:spPr>
          <a:xfrm>
            <a:off x="411480" y="546811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1051560" y="5449824"/>
            <a:ext cx="10607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proactive monitoring alert threshold tuning to reduce noise and improve incident detection accuracy.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 PLAN TRACKER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Prioritized Action Items with Ownership, Timeline &amp; Status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38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1136599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31920"/>
                <a:gridCol w="1828800"/>
                <a:gridCol w="1280160"/>
                <a:gridCol w="1371600"/>
                <a:gridCol w="19476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Owner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Timeline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Impact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Critical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Remediate health degradation at Guwahati (Score: 40.62)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 Operations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Very High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Critical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Remediate health degradation at Nagpur (Score: 57.85)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 Operations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Very High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Critical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Remediate health degradation at Hyderabad (Score: 66.65)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 Operations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Very High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Root cause elimination for "Device Power Issues" (123 occurrences across all sites)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Infrastructure Team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45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 Progress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Root cause elimination for "Firmware or Software Bugs" (60 occurrences across all sites)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Infrastructure Team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45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 Progress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Root cause elimination for "Client Side Activity" (27 occurrences across all sites)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Infrastructure Team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45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 Progress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Quarterly firmware update across all network switches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 Ops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 FY2026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D94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Planned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 placement review at sites with &gt;30% AP incident rate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Wireless Team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D94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Planned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Documentation update — network topology diagrams for all 8 sites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Documentation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D94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Planned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proactive health check cadence review with JFL stakeholders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Account Manager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Ongoing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320040" y="589788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20040" y="589788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0"/>
          <p:cNvSpPr/>
          <p:nvPr/>
        </p:nvSpPr>
        <p:spPr>
          <a:xfrm>
            <a:off x="502920" y="595274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 Plan — Executive Note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502920" y="622706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6 high-priority actions require completion within 30-45 days to prevent SLA degradation.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502920" y="642823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Action ownership has been assigned to respective operational teams. Regular follow-up recommended.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5029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This action plan should be reviewed and updated monthly with JFL IT leadership.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Activity — Change Requests, Maintenance &amp; Non-Hardware Tickets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39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1136599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  <a:gridCol w="1280160"/>
                <a:gridCol w="914400"/>
                <a:gridCol w="1371600"/>
                <a:gridCol w="914400"/>
                <a:gridCol w="176479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Subject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Sub 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Name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Serial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Type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Hostname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Authentication issue as AD disjoined--------WMP271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Service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Noida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WMP271600PE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Cisco ISE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JFL-ISE-01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 Hold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Boundary wall and Security block Splicing Work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Service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Bangalore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SW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— MASTER DATA REFERENCE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Information Governance &amp; Accompanying Audit Logs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40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1371600" y="1828800"/>
            <a:ext cx="9445752" cy="320040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71600" y="1828800"/>
            <a:ext cx="9445752" cy="5486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10"/>
          <p:cNvSpPr/>
          <p:nvPr/>
        </p:nvSpPr>
        <p:spPr>
          <a:xfrm>
            <a:off x="1645920" y="1938528"/>
            <a:ext cx="8869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DATA NOTICE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645920" y="2606040"/>
            <a:ext cx="88696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Detailed raw device logs, switch inventories, AP breakdowns, and full incident history tables are available in the accompanying Excel/CSV data files.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QBR PPT presentation contains only executive summaries, site-by-site reviews, and strategic action plans to maintain high executive readability.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304" y="1097280"/>
            <a:ext cx="2743200" cy="868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19456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57200" y="324612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B1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Data Systems   ·   www.proactive.co.in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00400" y="3886200"/>
            <a:ext cx="5788152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4114800"/>
            <a:ext cx="112745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Reporting Period: 1 September 2026 – 30 September 2026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462272"/>
            <a:ext cx="112745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890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Customer: Jubilant Foodworks Ltd (JFL)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09744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D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Generated: 6 October 2026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6035040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55A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This document is intended for authorized recipients only.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2026-10-06T07:59:00Z</dcterms:created>
  <dcterms:modified xsi:type="dcterms:W3CDTF">2026-10-06T07:59:00Z</dcterms:modified>
</cp:coreProperties>
</file>