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Bangalore</c:v>
                  </c:pt>
                  <c:pt idx="1">
                    <c:v>Greater No</c:v>
                  </c:pt>
                  <c:pt idx="2">
                    <c:v>Guwahati</c:v>
                  </c:pt>
                  <c:pt idx="3">
                    <c:v>Hyderabad</c:v>
                  </c:pt>
                  <c:pt idx="4">
                    <c:v>Mohali</c:v>
                  </c:pt>
                  <c:pt idx="5">
                    <c:v>Mumbai</c:v>
                  </c:pt>
                  <c:pt idx="6">
                    <c:v>Nagpur</c:v>
                  </c:pt>
                  <c:pt idx="7">
                    <c:v>Noida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98</c:v>
                </c:pt>
                <c:pt idx="2">
                  <c:v>50</c:v>
                </c:pt>
                <c:pt idx="3">
                  <c:v>55</c:v>
                </c:pt>
                <c:pt idx="4">
                  <c:v>21</c:v>
                </c:pt>
                <c:pt idx="5">
                  <c:v>0</c:v>
                </c:pt>
                <c:pt idx="6">
                  <c:v>16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Distribution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D97706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0F172A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P1 Critical</c:v>
                </c:pt>
                <c:pt idx="1">
                  <c:v>P2 Major</c:v>
                </c:pt>
                <c:pt idx="2">
                  <c:v>P3/P4 Standard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0.001</c:v>
                </c:pt>
                <c:pt idx="1">
                  <c:v>2</c:v>
                </c:pt>
                <c:pt idx="2">
                  <c:v>249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SLA Gauge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bubble3D val="0"/>
            <c:spPr>
              <a:solidFill>
                <a:srgbClr val="E2E8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SLA Achieved</c:v>
                </c:pt>
                <c:pt idx="1">
                  <c:v>Margin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86.29</c:v>
                </c:pt>
                <c:pt idx="1">
                  <c:v>13.709999999999994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11480"/>
            <a:ext cx="2377440" cy="7498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4360" y="1463040"/>
            <a:ext cx="6035040" cy="4480560"/>
          </a:xfrm>
          <a:prstGeom prst="roundRect">
            <a:avLst>
              <a:gd name="adj" fmla="val 2041"/>
            </a:avLst>
          </a:prstGeom>
          <a:solidFill>
            <a:srgbClr val="334155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8288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Jubilant Foodworks Ltd (JFL)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868680" y="26060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2B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Monthly Business Review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68680" y="3200400"/>
            <a:ext cx="548640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333756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Period: 1 September 2026 – 30 September 2026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" y="3749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Proactive Data Systems Pvt. Ltd.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4114800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Classification: CONFIDENTIAL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8680" y="4480560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9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Generated: 6 October 2026</a:t>
            </a:r>
            <a:endParaRPr lang="en-US" sz="1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690872" cy="448056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6656832"/>
            <a:ext cx="12188952" cy="20116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4" name="Text 10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www.proactive.co.in  |  Proactive Data Systems Pvt. Ltd.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 — ALL SITES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Consolidated SLA Performance &amp; RCA Driver Summary Across Monitored Sites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645920"/>
                <a:gridCol w="1645920"/>
                <a:gridCol w="2011680"/>
                <a:gridCol w="1463040"/>
                <a:gridCol w="185623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of 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Proactive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 Driver (Switches)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 Incidents (Unique)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 Driver (AP)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/ 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97.62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97.07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Side Activity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92 / 48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67.28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35 / 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95.58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35 / 11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 / 13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Planned Upgrade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87.57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74.88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Third Party Device issue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 / 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/ 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11480" y="5120640"/>
            <a:ext cx="11365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11480" y="5376672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Top sites by JFL Switch Uptime: Mumbai-DC (100.00%), Noida (100.00%), Bangalore (99.77%).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Bottom sites by JFL Switch Uptime: Guwahati (67.28% BREACH), Nagpur (74.88% BREACH), Hyderabad (95.58% BREACH).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Largest RCA driver across all sites: Device Power Issues (123 incidents).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Highest AP incident density: Guwahati (7.00 incidents per device).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Site with the most On Hold tickets: Greater Noida (8 tickets).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Sites with Proactive and JFL Switch Uptime variance &gt; 5%: Guwahati (Proactive: 99.60%, JFL: 67.28%); Nagpur (Proactive: 87.57%, JFL: 74.88%).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11480" y="6263640"/>
            <a:ext cx="11365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consolidates SLA performance, rack and switch uptime, and access-point incident RCA for all 8 monitored JFL sites for the period 1 September 2026 – 30 September 2026.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Jubilant Foodworks Ltd (JFL)  ·  1 September 2026 – 30 September 2026  ·  Quarterly Business Review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Sites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182112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7832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227832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52744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98464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98464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Switches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8723376" y="96012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69096" y="103327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224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769096" y="157459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96.32%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457200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Uptime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182112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27832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251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3227832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952744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998464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73.66%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98464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8723376" y="219456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69096" y="2267712"/>
            <a:ext cx="2606040" cy="5266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86.29%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8769096" y="2809037"/>
            <a:ext cx="2606040" cy="4169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Compliance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3832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20040" y="33832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7" name="Text 34"/>
          <p:cNvSpPr/>
          <p:nvPr/>
        </p:nvSpPr>
        <p:spPr>
          <a:xfrm>
            <a:off x="502920" y="34381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Executive Summary — 1 September 2026 – 30 September 2026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02920" y="37124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Overall network uptime was 96.32%, marginally below the 99.9% SLA target, requiring corrective action.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02920" y="39136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 total of 251 incidents were recorded, with Greater Noida contributing the highest volume (98 incidents), primarily driven by Device Power Issues.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02920" y="41148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Mumbai-DC achieved the strongest health score while Guwahati reported the lowest at 40.62.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320040" y="489204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2" name="Text 39"/>
          <p:cNvSpPr/>
          <p:nvPr/>
        </p:nvSpPr>
        <p:spPr>
          <a:xfrm>
            <a:off x="502920" y="492861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ROOT CAUSE ANALYSIS DRIVERS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11480" y="528523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Power Issues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3977640" y="5321808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Shape 42"/>
          <p:cNvSpPr/>
          <p:nvPr/>
        </p:nvSpPr>
        <p:spPr>
          <a:xfrm>
            <a:off x="3977640" y="5321808"/>
            <a:ext cx="3584448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6" name="Text 43"/>
          <p:cNvSpPr/>
          <p:nvPr/>
        </p:nvSpPr>
        <p:spPr>
          <a:xfrm>
            <a:off x="11338560" y="5285232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 (123)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411480" y="5577840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or Software Bugs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3977640" y="5614416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9" name="Shape 46"/>
          <p:cNvSpPr/>
          <p:nvPr/>
        </p:nvSpPr>
        <p:spPr>
          <a:xfrm>
            <a:off x="3977640" y="5614416"/>
            <a:ext cx="1748333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0" name="Text 47"/>
          <p:cNvSpPr/>
          <p:nvPr/>
        </p:nvSpPr>
        <p:spPr>
          <a:xfrm>
            <a:off x="11338560" y="55778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23.9% (60)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411480" y="5870448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 Activity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3977640" y="5907024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3" name="Shape 50"/>
          <p:cNvSpPr/>
          <p:nvPr/>
        </p:nvSpPr>
        <p:spPr>
          <a:xfrm>
            <a:off x="3977640" y="5907024"/>
            <a:ext cx="790042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4" name="Text 51"/>
          <p:cNvSpPr/>
          <p:nvPr/>
        </p:nvSpPr>
        <p:spPr>
          <a:xfrm>
            <a:off x="11338560" y="5870448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10.8% (27)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411480" y="6163056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 (PM) or Planned Upgrade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3977640" y="6199632"/>
            <a:ext cx="73152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7" name="Shape 54"/>
          <p:cNvSpPr/>
          <p:nvPr/>
        </p:nvSpPr>
        <p:spPr>
          <a:xfrm>
            <a:off x="3977640" y="6199632"/>
            <a:ext cx="585216" cy="1828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8" name="Text 55"/>
          <p:cNvSpPr/>
          <p:nvPr/>
        </p:nvSpPr>
        <p:spPr>
          <a:xfrm>
            <a:off x="11338560" y="6163056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8.0% (20)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NETWORK HEALTH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Health Assessment Across All Monitored Sites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3200400" cy="2560320"/>
          </a:xfrm>
          <a:prstGeom prst="roundRect">
            <a:avLst>
              <a:gd name="adj" fmla="val 4286"/>
            </a:avLst>
          </a:prstGeom>
          <a:solidFill>
            <a:srgbClr val="F1F5F9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0972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02920" y="1389888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02920" y="169164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87.3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502920" y="24871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77640" y="96012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0" y="103327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96.32%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4023360" y="163604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7936992" y="96012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103327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73.66%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982712" y="163604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977640" y="228600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23360" y="235915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86.29%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4023360" y="296192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Compliance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36992" y="2286000"/>
            <a:ext cx="379476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82712" y="2359152"/>
            <a:ext cx="3703320" cy="5793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251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982712" y="2961924"/>
            <a:ext cx="3703320" cy="4586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320040" y="374904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78561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11480" y="40965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2788920" y="4133088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2" name="Shape 29"/>
          <p:cNvSpPr/>
          <p:nvPr/>
        </p:nvSpPr>
        <p:spPr>
          <a:xfrm>
            <a:off x="2788920" y="4133088"/>
            <a:ext cx="7616175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3" name="Text 30"/>
          <p:cNvSpPr/>
          <p:nvPr/>
        </p:nvSpPr>
        <p:spPr>
          <a:xfrm>
            <a:off x="10652760" y="409651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98.0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11430000" y="409651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11480" y="43891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Noida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788920" y="4425696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Shape 34"/>
          <p:cNvSpPr/>
          <p:nvPr/>
        </p:nvSpPr>
        <p:spPr>
          <a:xfrm>
            <a:off x="2788920" y="4425696"/>
            <a:ext cx="5952881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8" name="Text 35"/>
          <p:cNvSpPr/>
          <p:nvPr/>
        </p:nvSpPr>
        <p:spPr>
          <a:xfrm>
            <a:off x="10652760" y="43891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43891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411480" y="468172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Guwahati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788920" y="4718304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2" name="Shape 39"/>
          <p:cNvSpPr/>
          <p:nvPr/>
        </p:nvSpPr>
        <p:spPr>
          <a:xfrm>
            <a:off x="2788920" y="4718304"/>
            <a:ext cx="3157149" cy="182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10652760" y="46817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40.6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11430000" y="46817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11480" y="49743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2788920" y="5010912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Shape 44"/>
          <p:cNvSpPr/>
          <p:nvPr/>
        </p:nvSpPr>
        <p:spPr>
          <a:xfrm>
            <a:off x="2788920" y="5010912"/>
            <a:ext cx="5180305" cy="182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Text 45"/>
          <p:cNvSpPr/>
          <p:nvPr/>
        </p:nvSpPr>
        <p:spPr>
          <a:xfrm>
            <a:off x="10652760" y="497433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11430000" y="4974336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11480" y="52669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Mohali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2788920" y="5303520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2" name="Shape 49"/>
          <p:cNvSpPr/>
          <p:nvPr/>
        </p:nvSpPr>
        <p:spPr>
          <a:xfrm>
            <a:off x="2788920" y="5303520"/>
            <a:ext cx="5463220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3" name="Text 50"/>
          <p:cNvSpPr/>
          <p:nvPr/>
        </p:nvSpPr>
        <p:spPr>
          <a:xfrm>
            <a:off x="10652760" y="526694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70.3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11430000" y="5266944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411480" y="55595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Mumbai-DC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2788920" y="5596128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7" name="Shape 54"/>
          <p:cNvSpPr/>
          <p:nvPr/>
        </p:nvSpPr>
        <p:spPr>
          <a:xfrm>
            <a:off x="2788920" y="5596128"/>
            <a:ext cx="7772400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58" name="Text 55"/>
          <p:cNvSpPr/>
          <p:nvPr/>
        </p:nvSpPr>
        <p:spPr>
          <a:xfrm>
            <a:off x="10652760" y="555955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11430000" y="5559552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11480" y="585216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Nagpur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2788920" y="5888736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Shape 59"/>
          <p:cNvSpPr/>
          <p:nvPr/>
        </p:nvSpPr>
        <p:spPr>
          <a:xfrm>
            <a:off x="2788920" y="5888736"/>
            <a:ext cx="4496333" cy="1828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3" name="Text 60"/>
          <p:cNvSpPr/>
          <p:nvPr/>
        </p:nvSpPr>
        <p:spPr>
          <a:xfrm>
            <a:off x="10652760" y="58521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57.9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11430000" y="58521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411480" y="61447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Noida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2788920" y="6181344"/>
            <a:ext cx="7772400" cy="1828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4"/>
          <p:cNvSpPr/>
          <p:nvPr/>
        </p:nvSpPr>
        <p:spPr>
          <a:xfrm>
            <a:off x="2788920" y="6181344"/>
            <a:ext cx="7772400" cy="1828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68" name="Text 65"/>
          <p:cNvSpPr/>
          <p:nvPr/>
        </p:nvSpPr>
        <p:spPr>
          <a:xfrm>
            <a:off x="10652760" y="614476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11430000" y="614476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SUMMARY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Production Devices vs. Stock Inventory — SLA Exclusion Analysis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444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57200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1568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(In-SLA)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345936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(Excl. SLA)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83.8%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290304" y="1548994"/>
            <a:ext cx="2697480" cy="3995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Coverage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17627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21284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INVENTORY BY SITE — EXCLUDED FROM SLA CALCULATIONS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542032"/>
          <a:ext cx="1136599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496519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Stock 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Excluded from SLA calculations per business specification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603504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20040" y="603504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4"/>
          <p:cNvSpPr/>
          <p:nvPr/>
        </p:nvSpPr>
        <p:spPr>
          <a:xfrm>
            <a:off x="502920" y="608990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Insight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36422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Total monitored device estate: 444 devices across 8 sites.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02920" y="656539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372 devices (83.8%) are production-active and subject to SLA accountability.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02920" y="676656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72 stock/spare devices are excluded from SLA penalty calculations per operational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 Volume, Site Distribution &amp; Category Breakdown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Closed/Resolved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BY SITE</a:t>
            </a:r>
            <a:endParaRPr lang="en-US" sz="9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11480" y="2377440"/>
          <a:ext cx="6858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BY PRIORITY BREAKDOWN</a:t>
            </a:r>
            <a:endParaRPr lang="en-US" sz="900" dirty="0"/>
          </a:p>
        </p:txBody>
      </p:sp>
      <p:graphicFrame>
        <p:nvGraphicFramePr>
          <p:cNvPr id="28" name="Chart 1" descr=""/>
          <p:cNvGraphicFramePr/>
          <p:nvPr/>
        </p:nvGraphicFramePr>
        <p:xfrm>
          <a:off x="7498080" y="237744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Shape 24"/>
          <p:cNvSpPr/>
          <p:nvPr/>
        </p:nvSpPr>
        <p:spPr>
          <a:xfrm>
            <a:off x="320040" y="5559552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20040" y="5559552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1" name="Text 26"/>
          <p:cNvSpPr/>
          <p:nvPr/>
        </p:nvSpPr>
        <p:spPr>
          <a:xfrm>
            <a:off x="502920" y="5614416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Overview — Key Findings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502920" y="5888736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251 total incidents were recorded during the reporting period.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502920" y="60899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Greater Noida contributed the highest incident volume with 98 incidents.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502920" y="62910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240 incidents (95.6%) were resolved and closed.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ROOT CAUSE ANALYSIS — PARETO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Drivers by Frequency &amp; Cumulative Percentage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11480" y="960120"/>
          <a:ext cx="71323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7680960" y="960120"/>
            <a:ext cx="44622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9"/>
          <p:cNvSpPr/>
          <p:nvPr/>
        </p:nvSpPr>
        <p:spPr>
          <a:xfrm>
            <a:off x="7772400" y="996696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RCA FREQUENCY TABLE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325880"/>
          <a:ext cx="44622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914400"/>
                <a:gridCol w="777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49.0%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23.9%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Side 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8.0%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4.8%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Third Party Device issue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1.2%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Boot Issues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5" name="Shape 10"/>
          <p:cNvSpPr/>
          <p:nvPr/>
        </p:nvSpPr>
        <p:spPr>
          <a:xfrm>
            <a:off x="320040" y="47731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1"/>
          <p:cNvSpPr/>
          <p:nvPr/>
        </p:nvSpPr>
        <p:spPr>
          <a:xfrm>
            <a:off x="502920" y="48097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 RECOMMENDATIONS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411480" y="5138928"/>
            <a:ext cx="11365992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11480" y="5138928"/>
            <a:ext cx="685800" cy="32918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4"/>
          <p:cNvSpPr/>
          <p:nvPr/>
        </p:nvSpPr>
        <p:spPr>
          <a:xfrm>
            <a:off x="411480" y="519379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1188720" y="5193792"/>
            <a:ext cx="9235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Power Issues: Inspect and replace faulty UPS/power infrastructure. Schedule preventive power audits.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10515600" y="5193792"/>
            <a:ext cx="12161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11480" y="5522976"/>
            <a:ext cx="11365992" cy="329184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11480" y="5522976"/>
            <a:ext cx="685800" cy="3291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19"/>
          <p:cNvSpPr/>
          <p:nvPr/>
        </p:nvSpPr>
        <p:spPr>
          <a:xfrm>
            <a:off x="411480" y="557784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1188720" y="5577840"/>
            <a:ext cx="9235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or Software Bugs: Deploy firmware updates. Enforce change management for configuration changes.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0515600" y="5577840"/>
            <a:ext cx="12161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411480" y="5907024"/>
            <a:ext cx="11365992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11480" y="5907024"/>
            <a:ext cx="685800" cy="32918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4"/>
          <p:cNvSpPr/>
          <p:nvPr/>
        </p:nvSpPr>
        <p:spPr>
          <a:xfrm>
            <a:off x="411480" y="596188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1188720" y="5961888"/>
            <a:ext cx="9235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 Activity: Investigate and mitigate Client Side Activity failures.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10515600" y="5961888"/>
            <a:ext cx="12161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FY2026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RCA INCIDENT HEATMAP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vs. Root Cause Category — Incident Frequency Matrix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10312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214884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Power Issue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79476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4" name="Text 11"/>
          <p:cNvSpPr/>
          <p:nvPr/>
        </p:nvSpPr>
        <p:spPr>
          <a:xfrm>
            <a:off x="384048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or Softwa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548640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Text 13"/>
          <p:cNvSpPr/>
          <p:nvPr/>
        </p:nvSpPr>
        <p:spPr>
          <a:xfrm>
            <a:off x="553212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Side Activi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717804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886968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0" name="Text 17"/>
          <p:cNvSpPr/>
          <p:nvPr/>
        </p:nvSpPr>
        <p:spPr>
          <a:xfrm>
            <a:off x="891540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10561320" y="1005840"/>
            <a:ext cx="1645920" cy="38404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Text 19"/>
          <p:cNvSpPr/>
          <p:nvPr/>
        </p:nvSpPr>
        <p:spPr>
          <a:xfrm>
            <a:off x="10607040" y="1060704"/>
            <a:ext cx="1581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Party Device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274320" y="1435608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" y="154533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103120" y="1435608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148840" y="15453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79476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17804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869680" y="1435608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915400" y="1545336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561320" y="143560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4320" y="1911096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20040" y="202082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Greater Noida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2103120" y="1911096"/>
            <a:ext cx="1645920" cy="438912"/>
          </a:xfrm>
          <a:prstGeom prst="rect">
            <a:avLst/>
          </a:prstGeom>
          <a:solidFill>
            <a:srgbClr val="DC262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214884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794760" y="1911096"/>
            <a:ext cx="1645920" cy="438912"/>
          </a:xfrm>
          <a:prstGeom prst="rect">
            <a:avLst/>
          </a:prstGeom>
          <a:solidFill>
            <a:srgbClr val="B91C1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84048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0" y="1911096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53212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178040" y="1911096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869680" y="1911096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915400" y="202082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10561320" y="1911096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74320" y="2386584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320040" y="24963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Guwahati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2103120" y="2386584"/>
            <a:ext cx="1645920" cy="438912"/>
          </a:xfrm>
          <a:prstGeom prst="rect">
            <a:avLst/>
          </a:prstGeom>
          <a:solidFill>
            <a:srgbClr val="B91C1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2148840" y="249631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379476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48640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17804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968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561320" y="238658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74320" y="2862072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320040" y="29718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2103120" y="2862072"/>
            <a:ext cx="1645920" cy="438912"/>
          </a:xfrm>
          <a:prstGeom prst="rect">
            <a:avLst/>
          </a:prstGeom>
          <a:solidFill>
            <a:srgbClr val="DC262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2148840" y="29718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3794760" y="2862072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3840480" y="29718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486400" y="2862072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5532120" y="29718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7178040" y="2862072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223760" y="2971800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8869680" y="2862072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561320" y="2862072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4320" y="3337560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320040" y="34472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Mohali</a:t>
            </a:r>
            <a:endParaRPr lang="en-US" sz="900" dirty="0"/>
          </a:p>
        </p:txBody>
      </p:sp>
      <p:sp>
        <p:nvSpPr>
          <p:cNvPr id="68" name="Shape 65"/>
          <p:cNvSpPr/>
          <p:nvPr/>
        </p:nvSpPr>
        <p:spPr>
          <a:xfrm>
            <a:off x="2103120" y="3337560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2148840" y="344728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3794760" y="3337560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3840480" y="344728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72" name="Shape 69"/>
          <p:cNvSpPr/>
          <p:nvPr/>
        </p:nvSpPr>
        <p:spPr>
          <a:xfrm>
            <a:off x="5486400" y="3337560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7178040" y="3337560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223760" y="3447288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8869680" y="3337560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0561320" y="3337560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74320" y="3813048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20040" y="392277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Mumbai-DC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210312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79476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548640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717804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886968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10561320" y="3813048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274320" y="4288536"/>
            <a:ext cx="178308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320040" y="439826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Nagpur</a:t>
            </a:r>
            <a:endParaRPr lang="en-US" sz="900" dirty="0"/>
          </a:p>
        </p:txBody>
      </p:sp>
      <p:sp>
        <p:nvSpPr>
          <p:cNvPr id="87" name="Shape 84"/>
          <p:cNvSpPr/>
          <p:nvPr/>
        </p:nvSpPr>
        <p:spPr>
          <a:xfrm>
            <a:off x="2103120" y="4288536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214884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3794760" y="4288536"/>
            <a:ext cx="1645920" cy="43891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384048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91" name="Shape 88"/>
          <p:cNvSpPr/>
          <p:nvPr/>
        </p:nvSpPr>
        <p:spPr>
          <a:xfrm>
            <a:off x="5486400" y="4288536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553212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3" name="Shape 90"/>
          <p:cNvSpPr/>
          <p:nvPr/>
        </p:nvSpPr>
        <p:spPr>
          <a:xfrm>
            <a:off x="7178040" y="4288536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8869680" y="4288536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891540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6" name="Shape 93"/>
          <p:cNvSpPr/>
          <p:nvPr/>
        </p:nvSpPr>
        <p:spPr>
          <a:xfrm>
            <a:off x="10561320" y="4288536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10607040" y="4398264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8" name="Shape 95"/>
          <p:cNvSpPr/>
          <p:nvPr/>
        </p:nvSpPr>
        <p:spPr>
          <a:xfrm>
            <a:off x="274320" y="4764024"/>
            <a:ext cx="17830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320040" y="487375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Noida</a:t>
            </a:r>
            <a:endParaRPr lang="en-US" sz="900" dirty="0"/>
          </a:p>
        </p:txBody>
      </p:sp>
      <p:sp>
        <p:nvSpPr>
          <p:cNvPr id="100" name="Shape 97"/>
          <p:cNvSpPr/>
          <p:nvPr/>
        </p:nvSpPr>
        <p:spPr>
          <a:xfrm>
            <a:off x="210312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379476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548640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717804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8869680" y="4764024"/>
            <a:ext cx="1645920" cy="43891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8915400" y="487375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6" name="Shape 103"/>
          <p:cNvSpPr/>
          <p:nvPr/>
        </p:nvSpPr>
        <p:spPr>
          <a:xfrm>
            <a:off x="10561320" y="4764024"/>
            <a:ext cx="1645920" cy="438912"/>
          </a:xfrm>
          <a:prstGeom prst="rect">
            <a:avLst/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7" name="Text 104"/>
          <p:cNvSpPr/>
          <p:nvPr/>
        </p:nvSpPr>
        <p:spPr>
          <a:xfrm>
            <a:off x="274320" y="537667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Intensity:</a:t>
            </a:r>
            <a:endParaRPr lang="en-US" sz="850" dirty="0"/>
          </a:p>
        </p:txBody>
      </p:sp>
      <p:sp>
        <p:nvSpPr>
          <p:cNvPr id="108" name="Shape 105"/>
          <p:cNvSpPr/>
          <p:nvPr/>
        </p:nvSpPr>
        <p:spPr>
          <a:xfrm>
            <a:off x="1143000" y="5404104"/>
            <a:ext cx="201168" cy="164592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9" name="Text 106"/>
          <p:cNvSpPr/>
          <p:nvPr/>
        </p:nvSpPr>
        <p:spPr>
          <a:xfrm>
            <a:off x="137160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(1-2)</a:t>
            </a:r>
            <a:endParaRPr lang="en-US" sz="850" dirty="0"/>
          </a:p>
        </p:txBody>
      </p:sp>
      <p:sp>
        <p:nvSpPr>
          <p:cNvPr id="110" name="Shape 107"/>
          <p:cNvSpPr/>
          <p:nvPr/>
        </p:nvSpPr>
        <p:spPr>
          <a:xfrm>
            <a:off x="3063240" y="5404104"/>
            <a:ext cx="201168" cy="164592"/>
          </a:xfrm>
          <a:prstGeom prst="rect">
            <a:avLst/>
          </a:prstGeom>
          <a:solidFill>
            <a:srgbClr val="FDE68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1" name="Text 108"/>
          <p:cNvSpPr/>
          <p:nvPr/>
        </p:nvSpPr>
        <p:spPr>
          <a:xfrm>
            <a:off x="329184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Low-Med</a:t>
            </a:r>
            <a:endParaRPr lang="en-US" sz="850" dirty="0"/>
          </a:p>
        </p:txBody>
      </p:sp>
      <p:sp>
        <p:nvSpPr>
          <p:cNvPr id="112" name="Shape 109"/>
          <p:cNvSpPr/>
          <p:nvPr/>
        </p:nvSpPr>
        <p:spPr>
          <a:xfrm>
            <a:off x="4983480" y="5404104"/>
            <a:ext cx="201168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3" name="Text 110"/>
          <p:cNvSpPr/>
          <p:nvPr/>
        </p:nvSpPr>
        <p:spPr>
          <a:xfrm>
            <a:off x="521208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114" name="Shape 111"/>
          <p:cNvSpPr/>
          <p:nvPr/>
        </p:nvSpPr>
        <p:spPr>
          <a:xfrm>
            <a:off x="6903720" y="5404104"/>
            <a:ext cx="201168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5" name="Text 112"/>
          <p:cNvSpPr/>
          <p:nvPr/>
        </p:nvSpPr>
        <p:spPr>
          <a:xfrm>
            <a:off x="713232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16" name="Shape 113"/>
          <p:cNvSpPr/>
          <p:nvPr/>
        </p:nvSpPr>
        <p:spPr>
          <a:xfrm>
            <a:off x="8823960" y="5404104"/>
            <a:ext cx="201168" cy="164592"/>
          </a:xfrm>
          <a:prstGeom prst="rect">
            <a:avLst/>
          </a:prstGeom>
          <a:solidFill>
            <a:srgbClr val="B91C1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7" name="Text 114"/>
          <p:cNvSpPr/>
          <p:nvPr/>
        </p:nvSpPr>
        <p:spPr>
          <a:xfrm>
            <a:off x="9052560" y="537667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PERFORMANCE DASHBOARD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Target: 99.9%  ·  1 September 2026 – 30 September 2026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926080" cy="2651760"/>
          </a:xfrm>
          <a:prstGeom prst="roundRect">
            <a:avLst>
              <a:gd name="adj" fmla="val 4138"/>
            </a:avLst>
          </a:prstGeom>
          <a:solidFill>
            <a:srgbClr val="F1F5F9"/>
          </a:solidFill>
          <a:ln w="12700">
            <a:solidFill>
              <a:srgbClr val="DC2626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502920" y="1005840"/>
          <a:ext cx="2743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502920" y="1691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86.29%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502920" y="2377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🚨 SLA BREACH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52044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56616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96.32%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356616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Overall Uptime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35508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40080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73.66%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40080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189720" y="960120"/>
            <a:ext cx="269748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235440" y="1033272"/>
            <a:ext cx="2606040" cy="5925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99.9%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9235440" y="1651406"/>
            <a:ext cx="2606040" cy="469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Target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320040" y="23317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23682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SITE-WISE SLA COMPLIANCE OVERVIEW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97480"/>
          <a:ext cx="1136599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920240"/>
                <a:gridCol w="19202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Proactive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 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Incident-Free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SLA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95.31%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97.62%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97.07%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55.26%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99.60%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67.28%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95.58%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18.75%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26.32%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87.57%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74.88%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BREACH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MET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320040" y="6199632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320040" y="6199632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9" name="Text 24"/>
          <p:cNvSpPr/>
          <p:nvPr/>
        </p:nvSpPr>
        <p:spPr>
          <a:xfrm>
            <a:off x="502920" y="6254496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Performance Insight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502920" y="6528816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Overall SLA compliance: 86.29% against a 99.9% target.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>
            <a:off x="502920" y="672998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SLA compliance is below target. Immediate remediation is recommended.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502920" y="69311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Network uptime averaged 96.32% across all monitored infrastructure.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Ticket Volume, Priority Distribution &amp; Resolution Performance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608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97787"/>
            <a:ext cx="2697480" cy="364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2029968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66544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10 INCIDENT TICKETS BY PRIORITY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95728"/>
          <a:ext cx="113659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645920"/>
                <a:gridCol w="1371600"/>
                <a:gridCol w="1188720"/>
                <a:gridCol w="30449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PRO/INC/64100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PRO/INC/63537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PRO/INC/58420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JFL-GNSC-AP50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PRO/INC/60166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PRO/INC/60765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PRO/INC/60880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PRO/INC/61244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JFL-GNSC-TP-AC-SW-01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PRO/INC/61938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PRO/INC/61942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PRO/INC/62140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JFL-ISE-01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6144768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20040" y="6144768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8" name="Text 24"/>
          <p:cNvSpPr/>
          <p:nvPr/>
        </p:nvSpPr>
        <p:spPr>
          <a:xfrm>
            <a:off x="502920" y="619963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Analytics Insight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251 incident tickets were processed during the reporting period.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502920" y="66751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Resolution rate: 95.6% — 240 tickets resolved, 11 pending closure.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502920" y="6876288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 critical (P1) tickets recorded — excellent incident prioritization.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RANKING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Sites Ranked from Healthiest to Most Critical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011680"/>
                <a:gridCol w="1463040"/>
                <a:gridCol w="1463040"/>
                <a:gridCol w="1463040"/>
                <a:gridCol w="1737360"/>
                <a:gridCol w="24505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Rank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 Score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Switch Uptime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Incident-Free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Incident Count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🥇 1st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🟢 TOP PERFORMER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🥈 2nd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9E0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🥉 3rd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95.31%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 (Excellent)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76.6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97.07%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55.26%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ELEVATED (Fair)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70.3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98.35%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26.32%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ELEVATED (Fair)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66.7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95.58%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18.75%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#7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57.9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74.88%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#8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67.28%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🚨 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320040" y="56692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20040" y="56692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" y="57241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Ranking — Key Findings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" y="59984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Mumbai-DC leads the network with the highest health score of 100.00 — strong operational performance.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502920" y="61996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Guwahati reported the lowest health score of 40.62 and requires priority intervention.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502920" y="64008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 out of 8 sites are in excellent or good health.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Site-Level Risk Classification with Prioritized Remediation Recommendations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280160"/>
                <a:gridCol w="2286000"/>
                <a:gridCol w="45994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Site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 Score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Risk Level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Top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Recommendation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Guwahati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URGENT: Escalate Device Power Issues failures. Deploy incident response team within 48 hours.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Nagpur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57.9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URGENT: Escalate Firmware or Software Bugs failures. Deploy incident response team within 48 hours.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Hyderabad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66.7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URGENT: Escalate Device Power Issues failures. Deploy incident response team within 48 hours.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Mohali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70.3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ELEVATED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Planned Upgrade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PRIORITY: Investigate Preventive Maintenance (PM) or Planned Upgrade incidents. Schedule site visit within 2 weeks.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Greater 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76.6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ELEVATED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PRIORITY: Investigate Firmware or Software Bugs incidents. Schedule site visit within 2 weeks.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98.0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Mumbai-DC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(No Incidents)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 / 100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Continue standard monitoring. No immediate action required.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11480" y="5715000"/>
            <a:ext cx="201168" cy="16459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Text 9"/>
          <p:cNvSpPr/>
          <p:nvPr/>
        </p:nvSpPr>
        <p:spPr>
          <a:xfrm>
            <a:off x="65836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(Score &gt;= 95)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3337560" y="5715000"/>
            <a:ext cx="201168" cy="16459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Text 11"/>
          <p:cNvSpPr/>
          <p:nvPr/>
        </p:nvSpPr>
        <p:spPr>
          <a:xfrm>
            <a:off x="358444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(85-94)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263640" y="5715000"/>
            <a:ext cx="201168" cy="1645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3"/>
          <p:cNvSpPr/>
          <p:nvPr/>
        </p:nvSpPr>
        <p:spPr>
          <a:xfrm>
            <a:off x="651052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(70-84)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9189720" y="5715000"/>
            <a:ext cx="201168" cy="16459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5"/>
          <p:cNvSpPr/>
          <p:nvPr/>
        </p:nvSpPr>
        <p:spPr>
          <a:xfrm>
            <a:off x="9436608" y="568756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(Score &lt; 70)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320040" y="594360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0040" y="594360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2" name="Text 18"/>
          <p:cNvSpPr/>
          <p:nvPr/>
        </p:nvSpPr>
        <p:spPr>
          <a:xfrm>
            <a:off x="502920" y="599846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 — Executive Summary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502920" y="627278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 site(s) require immediate high-risk remediation.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systemic risk driver across the estate: Device Power Issues.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502920" y="667512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Proactive intervention at elevated-risk sites will prevent escalation to high-risk status.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99.77%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95.31%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97.99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99.77%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95.3%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97.99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Device Power Issues incidents require infrastructure investigation.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Bangalore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Bangalore operates 182 active devices (50 switches, 78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99.77% | Proactive Switch Uptime: 100.00%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[Device Power Issues] | APs [Configuration Errors].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99.77%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Q2EW-5R5B-HEY9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Q2ZP-AP5E-Z83L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Q2ZP-D2D2-VFQK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Q2ZP-D47G-NGKY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Q2QW-EXJY-SE64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Q2QW-CTFE-E2WF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1F-R3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Q2QW-CTFW-5KJ6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Device Power Issues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Configuration Errors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1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BANGALORE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PRO/INC/62741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PRO/INC/62978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GF-ETP-SW1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PRO/INC/63077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GF-ETP-SW1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PRO/INC/63078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HEALTHCARE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PRO/INC/63079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Z1-SIDE PLANT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PRO/INC/63093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Z1-SIDE PLANT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PRO/INC/63094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HEALTHCARE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PRO/INC/63975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GF-AP45-R03-SW03-30P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 and mitigate Unknown failures.  [Timeline: Q2 FY2026]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97.07%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55.26%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76.59 (Fair)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 total incidents logged; primary driver: Client Side Activity.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8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97.07% — below SLA target of 99.9%.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55.3% of devices are incident-free — investigate recurring failures.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 of 76.59 indicates moderate risk requiring attention.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Greater Noida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Greater Noida operates 122 active devices (42 switches, 72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97.07% | Proactive Switch Uptime: 97.62%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[Client Side Activity] | APs [Firmware or Software Bugs].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97.07%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Q5TN-DGC5-M8QZ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99.95%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Q5TN-NF5F-N32X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JFL-GNMC-1F-LB-AC-SW-01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FCW2110B27A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FCW2110B28C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FCW2110B27F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JFL-GNMC-2F-AC-ST-01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FOC2113V20F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JFL-GNMC-3F-AC-ST-01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FOC2113S2MD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Client Side Activity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Firmware or Software Bugs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Greater Noida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2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GREATER NOIDA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PRO/INC/58420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JFL-GNSC-AP50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PRO/INC/60166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PRO/INC/60765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PRO/INC/60880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PRO/INC/61244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JFL-GNSC-TP-AC-SW-01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PRO/INC/61938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JFL-GNSC-AP63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PRO/INC/61942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PRO/INC/62657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JFL-GNSC-AP33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firmware updates. Enforce change management for configuration changes.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19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67.28%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40.62 (Poor)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 total incidents logged; primary driver: Device Power Issues.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67.28% — below SLA target of 99.9%.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health score of 40.62 — immediate intervention recommended.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5" name="Text 52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Device Power Issues incidents require infrastructure investigation.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Guwahati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Guwahati operates 5 active devices (2 switches, 3 APs).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67.28% | Proactive Switch Uptime: 99.60% — below the 99.9% SLA threshold.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[Device Power Issues] | APs [Device Power Issues].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67.28%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Q5JG-AQNW-P9FB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Q5JG-ECTW-5MN7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99.42%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Device Power Issues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Device Power Issues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Guwahati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3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GUWAHATI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PRO/INC/62646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PRO/INC/62645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PRO/INC/62652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PRO/INC/62655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PRO/INC/62654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PRO/INC/62797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Boot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PRO/INC/63345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JFL-Guwahati-SSC-AP-01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PRO/INC/63367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JFL-Guwahati-SSC-AP-01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hardware audit. Identify end-of-life devices for replacement.  [Timeline: 60 days]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95.58%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18.75%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66.65 (Poor)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 total incidents logged; primary driver: Device Power Issues.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8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95.58% — below SLA target of 99.9%.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18.8% of devices are incident-free — investigate recurring failures.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health score of 66.65 — immediate intervention recommended.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Hyderabad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Hyderabad operates 16 active devices (2 switches, 14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95.58% | Proactive Switch Uptime: 99.81%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[Device Power Issues] | APs [Device Power Issues].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95.58%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Q5JJ-GEWQ-X3MG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99.87%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Q5JJ-Q88T-6XC7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99.74%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Device Power Issues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Device Power Issues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4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HYDERABAD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PRO/INC/62988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PRO/INC/62990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JFL-HYD-CORE-2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PRO/INC/62989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JFL-HYD-CORE-1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JFL-HYD-SCC-AP14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PRO/INC/63003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PRO/INC/63051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PRO/INC/63053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JFL-HYD-SCC-AP07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 and mitigate Client Side Activity failures.  [Timeline: Q2 FY2026]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98.35%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26.32%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70.29 (Fair)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total incidents logged; primary driver: Configuration Errors.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8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98.35% — below SLA target of 99.9%.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26.3% of devices are incident-free — investigate recurring failures.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health score of 70.29 — immediate intervention recommended.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Mohali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Mohali operates 19 active devices (4 switches, 15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98.35% | Proactive Switch Uptime: 100.00%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[Configuration Errors] | APs [Preventive Maintenance (PM) or Planned Upgrade].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98.35%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Q5JG-NJW9-ABBQ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Q5JJ-3TZH-2HV5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99.98%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TRANSPORT ROOM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Q3LP-2PSJ-6DLB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WAREHOUSE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Q3LM-TGAF-Q97P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Configuration Errors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Preventive Maintenance (PM) or Planned Upgrade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Mohali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5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MOHALI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PRO/INC/63537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JFL-MOHALI-CORE-01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Configuration Errors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PRO/INC/63538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JFL-Mohali-SCC-AP13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Boot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PRO/INC/63610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JFL-Mohali-SCC-AP13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PRO/INC/63611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JFL-Mohali-SCC-AP08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PRO/INC/63612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JFL-Mohali-SCC-AP05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PRO/INC/64201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JFL-Mohali-SCC-AP03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PRO/INC/64203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JFL-Mohali-SCC-AP11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PRO/INC/64206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JFL-Mohali-SCC-AP10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Preventive Maintenance (PM) or Plan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High-frequency RCA (61.9%). Conduct root cause workshop with operations team.  [Timeline: 14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 and replace faulty UPS/power infrastructure. Schedule preventive power audits.  [Timeline: 30 days]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100.00%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100.00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critical risks identified. Continue standard monitoring protocols.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Mumbai-DC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Mumbai-DC operates 8 active devices (4 switches, 0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100.00% | Proactive Switch Uptime: 100.00% — within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29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Main Rack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N/A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6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 &amp; RCA REVIEW — MUMBAI-DC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11480" y="2423160"/>
            <a:ext cx="11365992" cy="1280160"/>
          </a:xfrm>
          <a:prstGeom prst="roundRect">
            <a:avLst>
              <a:gd name="adj" fmla="val 571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256032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INCIDENTS RECORDED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02920" y="297180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Mumbai-DC achieved 100% operational SLA compliance with zero incident tickets recorded during this reporting period.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20040" y="39319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9684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11480" y="4343400"/>
            <a:ext cx="11365992" cy="731520"/>
          </a:xfrm>
          <a:prstGeom prst="roundRect">
            <a:avLst>
              <a:gd name="adj" fmla="val 75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Status: Stable Operations (No Incidents)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20040" y="5303520"/>
            <a:ext cx="11548872" cy="813816"/>
          </a:xfrm>
          <a:prstGeom prst="roundRect">
            <a:avLst>
              <a:gd name="adj" fmla="val 674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0040" y="5303520"/>
            <a:ext cx="73152" cy="813816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4" name="Text 31"/>
          <p:cNvSpPr/>
          <p:nvPr/>
        </p:nvSpPr>
        <p:spPr>
          <a:xfrm>
            <a:off x="502920" y="535838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Insight — Mumbai-DC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02920" y="563270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Zero incident tickets recorded for Mumbai-DC in this reporting period.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502920" y="583387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health remains optimal. Continuous proactive monitoring is active.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74.88%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57.85 (Poor)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BREACH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total incidents logged; primary driver: Third Party Device issue.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1" name="Text 38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0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6" name="Text 43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74.88% — below SLA target of 99.9%.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806440" y="4014216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806440" y="4014216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989320" y="4041648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10.0% of devices are incident-free — investigate recurring failures.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806440" y="4416552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4416552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4443984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health score of 57.85 — immediate intervention recommended.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Nagpur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Nagpur operates 10 active devices (4 switches, 6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74.88% | Proactive Switch Uptime: 87.57% — below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[Third Party Device issue] | APs [Firmware or Software Bugs].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32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74.88%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Q5JJ-68KZ-MXAS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75.09%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Q5JG-SL55-CZ9Z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Q5JG-TM9S-PLFP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75.21%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3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Q5JG-STQ9-EUPF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99.99%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Operational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Third Party Device issue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Firmware or Software Bugs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Nagpur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7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33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NAGPUR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PRO/INC/62666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New Configuration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PRO/INC/62790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Power Issues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PRO/INC/62979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Side Activity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PRO/INC/63080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Third Party Device issue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PRO/INC/63507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Third Party Device issue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PRO/INC/63820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JFL-NAG-SSC-SW01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Client Side Activity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PRO/INC/63837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JFL-NAG-SSC-AP02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PRO/INC/63839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JFL-NAG-SCC-AP01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NON-CORE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Firmware or Software Bugs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firmware updates. Enforce change management for configuration changes.  [Timeline: 30 days]</a:t>
            </a:r>
            <a:endParaRPr lang="en-US" sz="850" dirty="0"/>
          </a:p>
        </p:txBody>
      </p:sp>
      <p:sp>
        <p:nvSpPr>
          <p:cNvPr id="32" name="Shape 28"/>
          <p:cNvSpPr/>
          <p:nvPr/>
        </p:nvSpPr>
        <p:spPr>
          <a:xfrm>
            <a:off x="411480" y="6528816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11480" y="6528816"/>
            <a:ext cx="59436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0"/>
          <p:cNvSpPr/>
          <p:nvPr/>
        </p:nvSpPr>
        <p:spPr>
          <a:xfrm>
            <a:off x="411480" y="6565392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</a:t>
            </a:r>
            <a:endParaRPr lang="en-US" sz="750" dirty="0"/>
          </a:p>
        </p:txBody>
      </p:sp>
      <p:sp>
        <p:nvSpPr>
          <p:cNvPr id="35" name="Text 31"/>
          <p:cNvSpPr/>
          <p:nvPr/>
        </p:nvSpPr>
        <p:spPr>
          <a:xfrm>
            <a:off x="1097280" y="6565392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hardware audit. Identify end-of-life devices for replacement.  [Timeline: 60 days]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SITE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Operational KPIs, Health Assessment &amp; AI Insights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34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Active Devices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Points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523390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JFL Uptime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7200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7200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Incident-Free %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355848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01568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 (Excellent)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3401568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Score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6300216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345936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345936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SLA Status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9244584" y="2121408"/>
            <a:ext cx="278892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290304" y="2194560"/>
            <a:ext cx="2697480" cy="4828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9290304" y="2684678"/>
            <a:ext cx="2697480" cy="3822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11480" y="3611880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11480" y="3611880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9" name="Text 36"/>
          <p:cNvSpPr/>
          <p:nvPr/>
        </p:nvSpPr>
        <p:spPr>
          <a:xfrm>
            <a:off x="594360" y="3639312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 uptime at 100.00% — exceeding SLA threshold of 99.9%.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11480" y="4014216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" y="4014216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Text 39"/>
          <p:cNvSpPr/>
          <p:nvPr/>
        </p:nvSpPr>
        <p:spPr>
          <a:xfrm>
            <a:off x="594360" y="4041648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100.0% of devices remained incident-free.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4416552"/>
            <a:ext cx="5120640" cy="347472"/>
          </a:xfrm>
          <a:prstGeom prst="roundRect">
            <a:avLst>
              <a:gd name="adj" fmla="val 1315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4416552"/>
            <a:ext cx="73152" cy="347472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5" name="Text 42"/>
          <p:cNvSpPr/>
          <p:nvPr/>
        </p:nvSpPr>
        <p:spPr>
          <a:xfrm>
            <a:off x="594360" y="4443984"/>
            <a:ext cx="484632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health score of 100.00 indicates strong operational stability.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" y="3246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7" name="Text 44"/>
          <p:cNvSpPr/>
          <p:nvPr/>
        </p:nvSpPr>
        <p:spPr>
          <a:xfrm>
            <a:off x="502920" y="3282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806440" y="3246120"/>
            <a:ext cx="5971032" cy="29260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9" name="Text 46"/>
          <p:cNvSpPr/>
          <p:nvPr/>
        </p:nvSpPr>
        <p:spPr>
          <a:xfrm>
            <a:off x="5897880" y="3282696"/>
            <a:ext cx="5760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RISKS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5806440" y="3611880"/>
            <a:ext cx="5971032" cy="347472"/>
          </a:xfrm>
          <a:prstGeom prst="roundRect">
            <a:avLst>
              <a:gd name="adj" fmla="val 1315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806440" y="3611880"/>
            <a:ext cx="73152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2" name="Text 49"/>
          <p:cNvSpPr/>
          <p:nvPr/>
        </p:nvSpPr>
        <p:spPr>
          <a:xfrm>
            <a:off x="5989320" y="3639312"/>
            <a:ext cx="5715000" cy="292608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F1D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Stable Operations (No Incidents) incidents require infrastructure investigation.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20040" y="493776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93776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5" name="Text 52"/>
          <p:cNvSpPr/>
          <p:nvPr/>
        </p:nvSpPr>
        <p:spPr>
          <a:xfrm>
            <a:off x="502920" y="49926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Site Summary — Noida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502920" y="526694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Noida operates 82 active devices (40 switches, 36 APs).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502920" y="546811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JFL Switch Uptime: 100.00% | Proactive Switch Uptime: 100.00% — within the 99.9% SLA threshold.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02920" y="566928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Primary RCA Drivers: Switches [Stable Operations (No Incidents)] | APs [Stable Operations (No Incidents)].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OPERATIONAL ANALYTICS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Expanded Switch Uptime Summary &amp; RCA Drivers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35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100.00%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Switch Uptime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Switches @ 100%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APs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Incidents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EXPANDED RACK-WISE SWITCH UPTIME SUMMARY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286000"/>
          <a:ext cx="1136599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3108960"/>
                <a:gridCol w="2011680"/>
                <a:gridCol w="304495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S.No.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RACK NUMBER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SERIAL NUMBER(S)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UPTIME %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OPERATING 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JFL-15F-AP-Switch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FVH2903LAA9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JFL-15F-AP-Switch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FOC2710Y261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FOC2714Z681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FOC2716YN3W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FOC2716YLLY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FOC2716YLM7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JFL-15F-L2-Stack1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FOC2714Z5B8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100.00%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Stable Operations (100% Uptime)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486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522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ROOT CAUSE DRIVERS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02920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(Switches): Stable Operations (No Incidents)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291072" y="5852160"/>
            <a:ext cx="5486400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382512" y="5907024"/>
            <a:ext cx="5303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RCA (APs): Stable Operations (No Incidents)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Noida  —  INCIDENT &amp; TICKET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Site Review 8 of 8  ·  Top Tickets, RCA Breakdown &amp; Recommended Actions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36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11480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Tickets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355848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1568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3401568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300216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45936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345936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9244584" y="96012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90304" y="1033272"/>
            <a:ext cx="2697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9290304" y="1472184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Critical (P1)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20040" y="1993392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029968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INCIDENT TICKETS — NOIDA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11365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1097280"/>
                <a:gridCol w="1097280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Ticket #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/ Host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Primary 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PRO/INC/62140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JFL-ISE-01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P3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320040" y="589788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93445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 ACTIONS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411480" y="6236208"/>
            <a:ext cx="1136599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11480" y="6236208"/>
            <a:ext cx="594360" cy="2560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0" name="Text 26"/>
          <p:cNvSpPr/>
          <p:nvPr/>
        </p:nvSpPr>
        <p:spPr>
          <a:xfrm>
            <a:off x="411480" y="6272784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</a:t>
            </a:r>
            <a:endParaRPr lang="en-US" sz="750" dirty="0"/>
          </a:p>
        </p:txBody>
      </p:sp>
      <p:sp>
        <p:nvSpPr>
          <p:cNvPr id="31" name="Text 27"/>
          <p:cNvSpPr/>
          <p:nvPr/>
        </p:nvSpPr>
        <p:spPr>
          <a:xfrm>
            <a:off x="1097280" y="6272784"/>
            <a:ext cx="10607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High-frequency RCA (100.0%). Conduct root cause workshop with operations team.  [Timeline: 14 days]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AI-GENERATED RECOMMENDATIONS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Priority-Based Remediation Plan Generated from Incident &amp; Health Analytics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37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320040" y="96012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99669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PRIORITY — IMMEDIATE ACTION REQUIRED (0-30 DAYS)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11480" y="1298448"/>
            <a:ext cx="11365992" cy="384048"/>
          </a:xfrm>
          <a:prstGeom prst="roundRect">
            <a:avLst>
              <a:gd name="adj" fmla="val 1190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11480" y="1298448"/>
            <a:ext cx="54864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2"/>
          <p:cNvSpPr/>
          <p:nvPr/>
        </p:nvSpPr>
        <p:spPr>
          <a:xfrm>
            <a:off x="411480" y="1389888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1051560" y="135331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health degradation at Guwahati (Score: 40.62). Conduct on-site audit and deploy rapid response team.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11480" y="1737360"/>
            <a:ext cx="11365992" cy="384048"/>
          </a:xfrm>
          <a:prstGeom prst="roundRect">
            <a:avLst>
              <a:gd name="adj" fmla="val 1190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11480" y="1737360"/>
            <a:ext cx="54864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Text 16"/>
          <p:cNvSpPr/>
          <p:nvPr/>
        </p:nvSpPr>
        <p:spPr>
          <a:xfrm>
            <a:off x="411480" y="182880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051560" y="179222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health degradation at Nagpur (Score: 57.85). Conduct on-site audit and deploy rapid response team.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11480" y="2176272"/>
            <a:ext cx="11365992" cy="384048"/>
          </a:xfrm>
          <a:prstGeom prst="roundRect">
            <a:avLst>
              <a:gd name="adj" fmla="val 11905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11480" y="2176272"/>
            <a:ext cx="548640" cy="384048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0"/>
          <p:cNvSpPr/>
          <p:nvPr/>
        </p:nvSpPr>
        <p:spPr>
          <a:xfrm>
            <a:off x="411480" y="22677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1051560" y="223113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health degradation at Hyderabad (Score: 66.65). Conduct on-site audit and deploy rapid response team.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320040" y="27432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Text 23"/>
          <p:cNvSpPr/>
          <p:nvPr/>
        </p:nvSpPr>
        <p:spPr>
          <a:xfrm>
            <a:off x="502920" y="27797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MEDIUM PRIORITY — ACTION REQUIRED (30-60 DAYS)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11480" y="3090672"/>
            <a:ext cx="11365992" cy="347472"/>
          </a:xfrm>
          <a:prstGeom prst="roundRect">
            <a:avLst>
              <a:gd name="adj" fmla="val 1315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11480" y="3090672"/>
            <a:ext cx="59436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9" name="Text 26"/>
          <p:cNvSpPr/>
          <p:nvPr/>
        </p:nvSpPr>
        <p:spPr>
          <a:xfrm>
            <a:off x="411480" y="3163824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1097280" y="3136392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firmware updates. Enforce change management for configuration changes.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3493008"/>
            <a:ext cx="11365992" cy="347472"/>
          </a:xfrm>
          <a:prstGeom prst="roundRect">
            <a:avLst>
              <a:gd name="adj" fmla="val 1315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11480" y="3493008"/>
            <a:ext cx="59436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3" name="Text 30"/>
          <p:cNvSpPr/>
          <p:nvPr/>
        </p:nvSpPr>
        <p:spPr>
          <a:xfrm>
            <a:off x="411480" y="3566160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1097280" y="3538728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mitigate Client Side Activity failures.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411480" y="3895344"/>
            <a:ext cx="11365992" cy="347472"/>
          </a:xfrm>
          <a:prstGeom prst="roundRect">
            <a:avLst>
              <a:gd name="adj" fmla="val 13158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11480" y="3895344"/>
            <a:ext cx="594360" cy="34747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7" name="Text 34"/>
          <p:cNvSpPr/>
          <p:nvPr/>
        </p:nvSpPr>
        <p:spPr>
          <a:xfrm>
            <a:off x="411480" y="3968496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1097280" y="3941064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mitigate Preventive Maintenance (PM) or Planned Upgrade failures.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20040" y="4343400"/>
            <a:ext cx="11548872" cy="29260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" y="4379976"/>
            <a:ext cx="10972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PRIORITY — STANDARD PRACTICE (60-90 DAYS)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11480" y="468172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11480" y="468172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3" name="Text 40"/>
          <p:cNvSpPr/>
          <p:nvPr/>
        </p:nvSpPr>
        <p:spPr>
          <a:xfrm>
            <a:off x="411480" y="473659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1051560" y="471830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network topology documentation for all 8 sites including current device serial inventories.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11480" y="504748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11480" y="504748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7" name="Text 44"/>
          <p:cNvSpPr/>
          <p:nvPr/>
        </p:nvSpPr>
        <p:spPr>
          <a:xfrm>
            <a:off x="411480" y="51023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1051560" y="508406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quarterly stakeholder review meetings with JFL IT leadership to align on operational priorities.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411480" y="5413248"/>
            <a:ext cx="11365992" cy="310896"/>
          </a:xfrm>
          <a:prstGeom prst="roundRect">
            <a:avLst>
              <a:gd name="adj" fmla="val 1176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11480" y="5413248"/>
            <a:ext cx="548640" cy="31089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1" name="Text 48"/>
          <p:cNvSpPr/>
          <p:nvPr/>
        </p:nvSpPr>
        <p:spPr>
          <a:xfrm>
            <a:off x="411480" y="54681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1051560" y="5449824"/>
            <a:ext cx="10607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proactive monitoring alert threshold tuning to reduce noise and improve incident detection accuracy.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PLAN TRACKER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Prioritized Action Items with Ownership, Timeline &amp; Status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38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659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828800"/>
                <a:gridCol w="1280160"/>
                <a:gridCol w="1371600"/>
                <a:gridCol w="1947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Owner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Timeline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Impact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Remediate health degradation at Guwahati (Score: 40.62)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Operations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Remediate health degradation at Nagpur (Score: 57.85)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Operations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Critical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Remediate health degradation at Hyderabad (Score: 66.65)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Operations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 elimination for "Device Power Issues" (123 occurrences across all sites)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Infrastructure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Progress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 elimination for "Firmware or Software Bugs" (60 occurrences across all sites)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Infrastructure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Progress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Root cause elimination for "Client Side Activity" (27 occurrences across all sites)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Infrastructure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 Progress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Quarterly firmware update across all network switches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Ops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 FY2026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 placement review at sites with &gt;30% AP incident rate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Wireless Team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Documentation update — network topology diagrams for all 8 sites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Documentation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 days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D948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Planned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Monthly proactive health check cadence review with JFL stakeholders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Account Manager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Ongoing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Active</a:t>
                      </a:r>
                      <a:endParaRPr lang="en-US" sz="8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320040" y="5897880"/>
            <a:ext cx="11548872" cy="1014984"/>
          </a:xfrm>
          <a:prstGeom prst="roundRect">
            <a:avLst>
              <a:gd name="adj" fmla="val 5405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20040" y="5897880"/>
            <a:ext cx="73152" cy="101498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0"/>
          <p:cNvSpPr/>
          <p:nvPr/>
        </p:nvSpPr>
        <p:spPr>
          <a:xfrm>
            <a:off x="502920" y="595274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Plan — Executive Note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" y="6227064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6 high-priority actions require completion within 30-45 days to prevent SLA degradation.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502920" y="6428232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Action ownership has been assigned to respective operational teams. Regular follow-up recommended.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5029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This action plan should be reviewed and updated monthly with JFL IT leadership.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Activity — Change Requests, Maintenance &amp; Non-Hardware Tickets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39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51560"/>
          <a:ext cx="1136599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  <a:gridCol w="1280160"/>
                <a:gridCol w="914400"/>
                <a:gridCol w="1371600"/>
                <a:gridCol w="914400"/>
                <a:gridCol w="176479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Subject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Sub Category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Name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Serial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Device Type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Hostname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RCA</a:t>
                      </a:r>
                      <a:endParaRPr lang="en-US" sz="9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Authentication issue as AD disjoined--------WMP271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Service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Noida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WMP271600PE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Cisco ISE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JFL-ISE-01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9770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 Hold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Boundary wall and Security block Splicing Work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Meraki Managed Service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Bangalore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563E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SW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A34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Closed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Unknown</a:t>
                      </a:r>
                      <a:endParaRPr lang="en-US" sz="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0800" marR="50800" marT="38100" marB="381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20040" y="54864"/>
            <a:ext cx="8686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— MASTER DATA REFERENCE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475488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C4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Information Governance &amp; Accompanying Audit Logs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91440"/>
            <a:ext cx="1828800" cy="5943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0040" y="6492240"/>
            <a:ext cx="1154887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653796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Proactive Data Systems Pvt. Ltd.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9144000" y="6537960"/>
            <a:ext cx="27249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Slide 40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78040" y="6537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Oct 2026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1371600" y="1828800"/>
            <a:ext cx="9445752" cy="320040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71600" y="1828800"/>
            <a:ext cx="9445752" cy="5486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0"/>
          <p:cNvSpPr/>
          <p:nvPr/>
        </p:nvSpPr>
        <p:spPr>
          <a:xfrm>
            <a:off x="1645920" y="1938528"/>
            <a:ext cx="8869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DATA NOTICE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645920" y="260604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Detailed raw device logs, switch inventories, AP breakdowns, and full incident history tables are available in the accompanying Excel/CSV data files.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QBR PPT presentation contains only executive summaries, site-by-site reviews, and strategic action plans to maintain high executive readability.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304" y="1097280"/>
            <a:ext cx="274320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19456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324612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B1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Data Systems   ·   www.proactive.co.in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200400" y="3886200"/>
            <a:ext cx="5788152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4114800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A4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Reporting Period: 1 September 2026 – 30 September 2026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4462272"/>
            <a:ext cx="112745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890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Customer: Jubilant Foodworks Ltd (JFL)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09744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D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Generated: 6 October 2026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6035040"/>
            <a:ext cx="11274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55A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This document is intended for authorized recipients only.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2026-10-06T09:47:57Z</dcterms:created>
  <dcterms:modified xsi:type="dcterms:W3CDTF">2026-10-06T09:47:57Z</dcterms:modified>
</cp:coreProperties>
</file>