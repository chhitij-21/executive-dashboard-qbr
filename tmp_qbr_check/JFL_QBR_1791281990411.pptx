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70</c:v>
                </c:pt>
                <c:pt idx="1">
                  <c:v>185</c:v>
                </c:pt>
                <c:pt idx="2">
                  <c:v>15</c:v>
                </c:pt>
                <c:pt idx="3">
                  <c:v>0</c:v>
                </c:pt>
                <c:pt idx="4">
                  <c:v>45</c:v>
                </c:pt>
                <c:pt idx="5">
                  <c:v>0</c:v>
                </c:pt>
                <c:pt idx="6">
                  <c:v>42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P1 Critical</c:v>
                </c:pt>
                <c:pt idx="1">
                  <c:v>P2 Major</c:v>
                </c:pt>
                <c:pt idx="2">
                  <c:v>P3/P4 Standard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0.001</c:v>
                </c:pt>
                <c:pt idx="1">
                  <c:v>0.001</c:v>
                </c:pt>
                <c:pt idx="2">
                  <c:v>357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 Gauge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SLA Achieved</c:v>
                </c:pt>
                <c:pt idx="1">
                  <c:v>Margin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94.7</c:v>
                </c:pt>
                <c:pt idx="1">
                  <c:v>5.299999999999997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33415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7 April 2026 – 6 July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6 October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— ALL SITES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SLA Performance &amp; RCA Driver Summary Across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of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(Switches)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Incidents (Unique)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(AP)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95.86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 / 25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99.52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175 / 56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93.42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/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98.03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96.08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42 / 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99.67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7.30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/ 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512064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Insights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5376672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sites by JFL Switch Uptime: Hyderabad (100.00%), Mumbai (100.00%), Noida (100.00%).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Bottom sites by JFL Switch Uptime: Nagpur (7.30% BREACH), Guwahati (93.42% BREACH), Bangalore (95.86% BREACH).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RCA driver across all sites: Device Power Issues (191 incidents).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AP incident density: Mohali (2.21 incidents per device).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with the most On Hold tickets: Greater Noida (1 tickets).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Sites with Proactive and JFL Switch Uptime variance &gt; 5%: Guwahati (Proactive: 99.94%, JFL: 93.42%); Nagpur (Proactive: 99.67%, JFL: 7.30%).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" y="626364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8 monitored JFL sites for the period 7 April 2026 – 6 July 2026.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Jubilant Foodworks Ltd (JFL)  ·  7 April 2026 – 6 July 2026  ·  Quarterly Business Review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434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151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277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98.21%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357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66.36%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94.70%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Executive Summary — 7 April 2026 – 6 July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network uptime was 98.21%, marginally below the 99.3%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 total of 357 incidents were recorded, with Greater Noida contributing the highest volume (185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achieved the strongest health score while Nagpur reported the lowest at 60.51.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2"/>
          <p:cNvSpPr/>
          <p:nvPr/>
        </p:nvSpPr>
        <p:spPr>
          <a:xfrm>
            <a:off x="3977640" y="5321808"/>
            <a:ext cx="3913632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3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53.5% (191)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6"/>
          <p:cNvSpPr/>
          <p:nvPr/>
        </p:nvSpPr>
        <p:spPr>
          <a:xfrm>
            <a:off x="3977640" y="5614416"/>
            <a:ext cx="2231136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7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30.5% (109)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50"/>
          <p:cNvSpPr/>
          <p:nvPr/>
        </p:nvSpPr>
        <p:spPr>
          <a:xfrm>
            <a:off x="3977640" y="5907024"/>
            <a:ext cx="453542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1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 (22)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 issue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3977640" y="6199632"/>
            <a:ext cx="263347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3.6% (13)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NETWORK HEALTH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Health Assessment Across All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77640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98.21%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023360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936992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82712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66.36%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982712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977640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23360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94.70%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023360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36992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82712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357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982712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0040" y="3749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785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11480" y="409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88920" y="413308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2788920" y="4133088"/>
            <a:ext cx="6865361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30"/>
          <p:cNvSpPr/>
          <p:nvPr/>
        </p:nvSpPr>
        <p:spPr>
          <a:xfrm>
            <a:off x="1065276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88.3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43000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11480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88920" y="442569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4"/>
          <p:cNvSpPr/>
          <p:nvPr/>
        </p:nvSpPr>
        <p:spPr>
          <a:xfrm>
            <a:off x="2788920" y="4425696"/>
            <a:ext cx="5778779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5"/>
          <p:cNvSpPr/>
          <p:nvPr/>
        </p:nvSpPr>
        <p:spPr>
          <a:xfrm>
            <a:off x="1065276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74.3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43000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11480" y="4681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88920" y="471830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9"/>
          <p:cNvSpPr/>
          <p:nvPr/>
        </p:nvSpPr>
        <p:spPr>
          <a:xfrm>
            <a:off x="2788920" y="4718304"/>
            <a:ext cx="5195072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1065276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66.8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143000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4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8" name="Text 45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11480" y="5266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788920" y="5303520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49"/>
          <p:cNvSpPr/>
          <p:nvPr/>
        </p:nvSpPr>
        <p:spPr>
          <a:xfrm>
            <a:off x="2788920" y="5303520"/>
            <a:ext cx="4826660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3" name="Text 50"/>
          <p:cNvSpPr/>
          <p:nvPr/>
        </p:nvSpPr>
        <p:spPr>
          <a:xfrm>
            <a:off x="1065276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62.1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143000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55595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8" name="Text 55"/>
          <p:cNvSpPr/>
          <p:nvPr/>
        </p:nvSpPr>
        <p:spPr>
          <a:xfrm>
            <a:off x="1065276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1143000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411480" y="5852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2788920" y="588873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59"/>
          <p:cNvSpPr/>
          <p:nvPr/>
        </p:nvSpPr>
        <p:spPr>
          <a:xfrm>
            <a:off x="2788920" y="5888736"/>
            <a:ext cx="4703079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3" name="Text 60"/>
          <p:cNvSpPr/>
          <p:nvPr/>
        </p:nvSpPr>
        <p:spPr>
          <a:xfrm>
            <a:off x="1065276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60.5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1143000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411480" y="6144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64"/>
          <p:cNvSpPr/>
          <p:nvPr/>
        </p:nvSpPr>
        <p:spPr>
          <a:xfrm>
            <a:off x="2788920" y="6181344"/>
            <a:ext cx="7770068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8" name="Text 65"/>
          <p:cNvSpPr/>
          <p:nvPr/>
        </p:nvSpPr>
        <p:spPr>
          <a:xfrm>
            <a:off x="1065276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1143000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Production Devices vs. Stock Inventory — SLA Exclusion Analysis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434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11480" y="2651760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stock inventory devices registered in this reporting period.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0040" y="603504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0040" y="603504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monitored device estate: 434 devices across 8 sites.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434 devices (100.0%) are production-active and subject to SLA accountability.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0 stock/spare devices are excluded from SLA penalty calculations per operational specification.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 Volume, Site Distribution &amp; Category Breakdown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357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PRIORITY BREAKDOWN</a:t>
            </a:r>
            <a:endParaRPr lang="en-US" sz="9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7498080" y="23774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Shape 24"/>
          <p:cNvSpPr/>
          <p:nvPr/>
        </p:nvSpPr>
        <p:spPr>
          <a:xfrm>
            <a:off x="320040" y="555955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555955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357 total incidents were recorded during the reporting period.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contributed the highest incident volume with 185 incidents.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355 incidents (99.4%) were resolved and closed.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 — PARETO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Drivers by Frequency &amp; Cumulative Percentage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680960" y="960120"/>
            <a:ext cx="44622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0" y="99669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53.5%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30.5%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Hardware Component Failures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Activity: High-frequency RCA (30.5%). Conduct root cause workshop with operations team.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Deploy firmware updates. Enforce change management for configuration changes.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INCIDENT HEATMAP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vs. Root Cause Category — Incident Frequency Matrix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Boot Issues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3212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6070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84048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84048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06070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6" name="Shape 73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6" name="Shape 83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21488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90" name="Shape 87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53212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722376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94" name="Shape 91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891540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8" name="Shape 95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100" name="Shape 97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13" name="Shape 110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5" name="Shape 112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Target: 99.3%  ·  7 April 2026 – 6 July 2026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502920" y="1005840"/>
          <a:ext cx="2743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94.70%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2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SLA BREACH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6616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98.21%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6616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66.36%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40080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3544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99.3%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23544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920240"/>
                <a:gridCol w="192024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SLA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95.86%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71.98%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99.52%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97.13%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41.59%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93.42%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98.03%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96.08%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10.53%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99.67%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7.30%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320040" y="619963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20040" y="619963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SLA compliance: 94.70% against a 99.3% target.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uptime averaged 98.21%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Ticket Volume, Priority Distribution &amp; Resolution Performance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357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PRO/INC/41590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SIDE-PLANT1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PRO/INC/41597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PRO/INC/41621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PRO/INC/41635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2F-AP20-R4-SW2-45P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2F-AP18-R4-SW2-8P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2F-AP12-R5-SW2-4P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2F-AP04-R4-SW3-24P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357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Resolution rate: 99.4% — 355 tickets resolved, 2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Sites Ranked from Healthiest to Most Critical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011680"/>
                <a:gridCol w="1463040"/>
                <a:gridCol w="1463040"/>
                <a:gridCol w="1463040"/>
                <a:gridCol w="1737360"/>
                <a:gridCol w="24505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 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🥇 1st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TOP PERFORMER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🥈 2nd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🥉 3rd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88.3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95.86%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71.98%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 (Good)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74.3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97.13%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41.59%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93.42%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62.1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96.08%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10.53%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60.5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7.30%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reported the lowest health score of 60.51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Site-Level Risk Classification with Prioritized Remediation Recommendations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60.5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Client Side Activity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62.1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74.3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Device Power Issues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88.3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MONITOR: Review Device Power Issues trends. Consider preventive maintenance scheduling.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site(s) require immediate high-risk remediation.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95.86%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71.98%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88.33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 total incidents logged; primary driver: Device Power Issues.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95.86% — below SLA target of 99.3%.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72.0%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 of 88.33 indicates moderate risk requiring attention.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Bangalore operates 182 active devices (60 switches, 122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95.86% | Proactive Switch Uptime: 99.45%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95.86%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Q2DW-EM6A-8GPL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92.14%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Q2DW-FPMF-3AL6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Q2EW-3S9C-VJRW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Q2EW-5R5B-HEY9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Q2EW-68N6-HTZ7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Q2EW-78HY-BNUV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Q2MW-CC67-WVEU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BANGALORE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PRO/INC/41590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SIDE-PLANT1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PRO/INC/41597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2F-AP20-R4-SW2-45P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2F-AP18-R4-SW2-8P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2F-AP12-R5-SW2-4P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2F-AP04-R4-SW3-24P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97.13%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41.59%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74.35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185 total incidents logged; primary driver: New Configuration.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97.13% — below SLA target of 99.3%.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41.6%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74.35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operates 113 active devices (38 switches, 75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97.13% | Proactive Switch Uptime: 99.52%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[New Configuration]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97.13%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Q5TN-DGC5-M8QZ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Q5TN-NF5F-N32X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FJC29021TWN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FJC290222AL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FJC290222SV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FJC29021TTW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FJC29021TPQ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New Configuration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PRO/INC/42933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JFL-GNSC-CORE-SW-ST-01 [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PRO/INC/44555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PRO/INC/44719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PRO/INC/44727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PRO/INC/44988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JFL-GNSC-CORE-SW-ST-01 [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PRO/INC/45327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(43.2%). Conduct root cause workshop with operations team.  [Timeline: 14 days]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93.42%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66.84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total incidents logged; primary driver: Device Power Issues.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93.42% — below SLA target of 99.3%.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20.0%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66.84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operates 5 active devices (2 switches, 3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93.42% | Proactive Switch Uptime: 99.94%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93.42%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Q5JG-AQNW-P9FB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Q5JG-ECTW-5MN7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PRO/INC/41621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PRO/INC/45631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PRO/INC/45632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PRO/INC/47426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PRO/INC/47431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99.3%.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operates 16 active devices (2 switches, 14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Q5JJ-GEWQ-X3MG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Q5JJ-Q88T-6XC7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HYDERABAD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Hyderabad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Hyderabad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96.08%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10.53%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62.10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 total incidents logged; primary driver: Client Side Activity.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96.08% — below SLA target of 99.3%.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10.5%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62.10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Mohali operates 19 active devices (2 switches, 17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96.08% | Proactive Switch Uptime: 98.03%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[Client Side Activity]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96.08%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Q5JG-NJW9-ABBQ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Q5JJ-3TZH-2HV5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98.66%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Client Side Activity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PRO/INC/41803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PRO/INC/43076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PRO/INC/45099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PRO/INC/45960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PRO/INC/46727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PRO/INC/46728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Client Side Activity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99.3%.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Mumbai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 operates 8 active devices (8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FCW2302L13B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FCW2302G0TL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FCW2302D0ZJ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FCW2302D0Z7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FCW2302AHDZ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FCW2302DHGQ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FOC2302U0WY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MUMBAI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Mumbai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Mumbai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7.30%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60.51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 total incidents logged; primary driver: Third Party Device issue.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7.30% — below SLA target of 99.3%.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20.0%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60.51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operates 10 active devices (4 switches, 6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7.30% | Proactive Switch Uptime: 99.67%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[Third Party Device issue] | APs [Client Side Activity].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7.30%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Q5JG-SL55-CZ9Z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Q5JG-STQ9-EUPF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Q5JG-TM9S-PLFP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Third Party Device issue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Client Side Activity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NAGPUR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PRO/INC/41635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PRO/INC/41715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PRO/INC/44676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PRO/INC/44824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PRO/INC/45528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PRO/INC/46268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PRO/INC/46310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(35.7%).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99.97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99.3%.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99.97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Noida operates 81 active devices (41 switches, 40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FOC2635Y89M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FOC2635Y89T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FOC2647Y151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FOC2646YCRH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FOC2704Y1N8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FOC2704Y3AY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FOC2708YFGS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NOIDA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Noida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Noida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Priority-Based Remediation Plan Generated from Incident &amp; Health Analytics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5331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Nagpur (Score: 60.51). Conduct on-site audit and deploy rapid response team.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79222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Mohali (Score: 62.10). Conduct on-site audit and deploy rapid response team.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31136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66.84). Conduct on-site audit and deploy rapid response team.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363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387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41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1830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8406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498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accuracy.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TRACKER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Prioritized Action Items with Ownership, Timeline &amp; Status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1828800"/>
                <a:gridCol w="1280160"/>
                <a:gridCol w="137160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Nagpur (Score: 60.51)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Mohali (Score: 62.10)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Guwahati (Score: 66.84)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"Device Power Issues" (191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"Client Side Activity" (109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"New Configuration" (22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Quarterly firmware update across all network switches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 FY2026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placement review at sites with &gt;30% AP incident rate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Wireless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 update — network topology diagrams for all 8 sites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proactive health check cadence review with JFL stakeholders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 Manager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1 of 2)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Q2MW-DT66-3HKL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SIDE-PLANT1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Need to Enable VLan 9 - GF-ETP-SW1-Port 45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Q2QW-CAJU-QVKD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Q5AA-RM28-C2R8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dhcp server detected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Q3AC-9EFV-95CH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2F-AP20-R4-SW2-45P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Q3AC-C4P4-JNC9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2F-AP18-R4-SW2-8P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Q3AC-PGZ6-YM5F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2F-AP12-R5-SW2-4P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Q2QW-CTCG-QKDE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Q2QW-CTMF-ZXMF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Q3AC-JN66-PSGV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2F-AP04-R4-SW3-24P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Q3AC-9EFV-95CH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2F-AP20-R4-SW2-45P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Q2QW-ARKH-HCRT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2F-R4-SW2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2 of 2)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Q3AC-PGZ6-YM5F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2F-AP12-R5-SW2-4P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Q3AC-C4P4-JNC9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2F-AP18-R4-SW2-8P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dhcp server detected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— MASTER DATA 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Governance &amp; Accompanying Audit Logs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71600" y="1828800"/>
            <a:ext cx="9445752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1828800"/>
            <a:ext cx="944575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1645920" y="1938528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DATA NOTICE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45920" y="260604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raw device logs, switch inventories, AP breakdowns, and full incident history tables are available in the accompanying Excel/CSV data files.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QBR PPT presentation contains only executive summaries, site-by-site reviews, and strategic action plans to maintain high executive readability.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Period: 7 April 2026 – 6 July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Generated: 6 October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2026-10-06T10:19:50Z</dcterms:created>
  <dcterms:modified xsi:type="dcterms:W3CDTF">2026-10-06T10:19:50Z</dcterms:modified>
</cp:coreProperties>
</file>