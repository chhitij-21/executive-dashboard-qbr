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86" r:id="rId6"/>
    <p:sldId id="307" r:id="rId107"/>
    <p:sldId id="308" r:id="rId108"/>
    <p:sldId id="309" r:id="rId109"/>
    <p:sldId id="310" r:id="rId110"/>
    <p:sldId id="311" r:id="rId111"/>
    <p:sldId id="312" r:id="rId112"/>
    <p:sldId id="313" r:id="rId113"/>
    <p:sldId id="314" r:id="rId114"/>
    <p:sldId id="315" r:id="rId115"/>
    <p:sldId id="316" r:id="rId116"/>
    <p:sldId id="317" r:id="rId117"/>
    <p:sldId id="318" r:id="rId118"/>
    <p:sldId id="319" r:id="rId119"/>
    <p:sldId id="320" r:id="rId120"/>
    <p:sldId id="321" r:id="rId121"/>
    <p:sldId id="322" r:id="rId122"/>
    <p:sldId id="323" r:id="rId123"/>
    <p:sldId id="324" r:id="rId124"/>
    <p:sldId id="325" r:id="rId125"/>
    <p:sldId id="326" r:id="rId126"/>
    <p:sldId id="327" r:id="rId127"/>
    <p:sldId id="285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07" Type="http://schemas.openxmlformats.org/officeDocument/2006/relationships/slide" Target="slides/slide7.xml"/><Relationship Id="rId108" Type="http://schemas.openxmlformats.org/officeDocument/2006/relationships/slide" Target="slides/slide8.xml"/><Relationship Id="rId109" Type="http://schemas.openxmlformats.org/officeDocument/2006/relationships/slide" Target="slides/slide9.xml"/><Relationship Id="rId110" Type="http://schemas.openxmlformats.org/officeDocument/2006/relationships/slide" Target="slides/slide10.xml"/><Relationship Id="rId111" Type="http://schemas.openxmlformats.org/officeDocument/2006/relationships/slide" Target="slides/slide11.xml"/><Relationship Id="rId112" Type="http://schemas.openxmlformats.org/officeDocument/2006/relationships/slide" Target="slides/slide12.xml"/><Relationship Id="rId113" Type="http://schemas.openxmlformats.org/officeDocument/2006/relationships/slide" Target="slides/slide13.xml"/><Relationship Id="rId114" Type="http://schemas.openxmlformats.org/officeDocument/2006/relationships/slide" Target="slides/slide14.xml"/><Relationship Id="rId115" Type="http://schemas.openxmlformats.org/officeDocument/2006/relationships/slide" Target="slides/slide15.xml"/><Relationship Id="rId116" Type="http://schemas.openxmlformats.org/officeDocument/2006/relationships/slide" Target="slides/slide16.xml"/><Relationship Id="rId117" Type="http://schemas.openxmlformats.org/officeDocument/2006/relationships/slide" Target="slides/slide17.xml"/><Relationship Id="rId118" Type="http://schemas.openxmlformats.org/officeDocument/2006/relationships/slide" Target="slides/slide18.xml"/><Relationship Id="rId119" Type="http://schemas.openxmlformats.org/officeDocument/2006/relationships/slide" Target="slides/slide19.xml"/><Relationship Id="rId120" Type="http://schemas.openxmlformats.org/officeDocument/2006/relationships/slide" Target="slides/slide20.xml"/><Relationship Id="rId121" Type="http://schemas.openxmlformats.org/officeDocument/2006/relationships/slide" Target="slides/slide21.xml"/><Relationship Id="rId122" Type="http://schemas.openxmlformats.org/officeDocument/2006/relationships/slide" Target="slides/slide22.xml"/><Relationship Id="rId123" Type="http://schemas.openxmlformats.org/officeDocument/2006/relationships/slide" Target="slides/slide23.xml"/><Relationship Id="rId124" Type="http://schemas.openxmlformats.org/officeDocument/2006/relationships/slide" Target="slides/slide24.xml"/><Relationship Id="rId125" Type="http://schemas.openxmlformats.org/officeDocument/2006/relationships/slide" Target="slides/slide25.xml"/><Relationship Id="rId126" Type="http://schemas.openxmlformats.org/officeDocument/2006/relationships/slide" Target="slides/slide26.xml"/><Relationship Id="rId127" Type="http://schemas.openxmlformats.org/officeDocument/2006/relationships/slide" Target="slides/slide2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98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AA7-4168-A00E-7F34F16E58CD}"/>
              </c:ext>
            </c:extLst>
          </c:dPt>
          <c:dPt>
            <c:idx val="1"/>
            <c:bubble3D val="0"/>
            <c:spPr>
              <a:solidFill>
                <a:srgbClr val="C046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AA7-4168-A00E-7F34F16E58CD}"/>
              </c:ext>
            </c:extLst>
          </c:dPt>
          <c:dPt>
            <c:idx val="2"/>
            <c:bubble3D val="0"/>
            <c:spPr>
              <a:solidFill>
                <a:srgbClr val="E29A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AA7-4168-A00E-7F34F16E58CD}"/>
              </c:ext>
            </c:extLst>
          </c:dPt>
          <c:cat>
            <c:strRef>
              <c:f>Sheet1!$A$2:$A$4</c:f>
              <c:strCache>
                <c:ptCount val="3"/>
                <c:pt idx="0">
                  <c:v>Device Power Issues</c:v>
                </c:pt>
                <c:pt idx="1">
                  <c:v>ISP Issue</c:v>
                </c:pt>
                <c:pt idx="2">
                  <c:v>Client Side Activity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</c:v>
                </c:pt>
                <c:pt idx="1">
                  <c:v>5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AA7-4168-A00E-7F34F16E58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F2937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5801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BC3F7-65C8-4FB7-AACA-8C88C9355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DB15F4-506F-E795-F3DE-0B0C35BE8A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1AC2F2-2544-0CBE-9F05-B3DD5B5704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566583-6605-655A-8A6D-EB2261D222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858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4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863840" y="0"/>
            <a:ext cx="4327855" cy="6858000"/>
          </a:xfrm>
          <a:prstGeom prst="rect">
            <a:avLst/>
          </a:prstGeom>
          <a:solidFill>
            <a:srgbClr val="0F2D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9875520" y="-1463040"/>
            <a:ext cx="3840480" cy="3840480"/>
          </a:xfrm>
          <a:prstGeom prst="ellipse">
            <a:avLst/>
          </a:prstGeom>
          <a:solidFill>
            <a:srgbClr val="0098D8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778240" y="4206240"/>
            <a:ext cx="2926080" cy="2926080"/>
          </a:xfrm>
          <a:prstGeom prst="ellipse">
            <a:avLst/>
          </a:prstGeom>
          <a:solidFill>
            <a:srgbClr val="0EAE9E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assets/proactive_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32004"/>
            <a:ext cx="4327854" cy="6793992"/>
          </a:xfrm>
          <a:prstGeom prst="rect">
            <a:avLst/>
          </a:prstGeom>
        </p:spPr>
      </p:pic>
      <p:pic>
        <p:nvPicPr>
          <p:cNvPr id="7" name="Image 1" descr="assets/cisco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6260" y="182880"/>
            <a:ext cx="123444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1798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BUSINESS REVIEW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02920" y="2697480"/>
            <a:ext cx="8595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Network</a:t>
            </a:r>
            <a:r>
              <a:rPr lang="en-US" sz="3200" dirty="0"/>
              <a:t> 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Review</a:t>
            </a:r>
            <a:endParaRPr lang="en-US" sz="3200" dirty="0"/>
          </a:p>
        </p:txBody>
      </p:sp>
      <p:sp>
        <p:nvSpPr>
          <p:cNvPr id="11" name="Shape 7"/>
          <p:cNvSpPr/>
          <p:nvPr/>
        </p:nvSpPr>
        <p:spPr>
          <a:xfrm>
            <a:off x="502920" y="4846320"/>
            <a:ext cx="457200" cy="32004"/>
          </a:xfrm>
          <a:prstGeom prst="rect">
            <a:avLst/>
          </a:prstGeom>
          <a:solidFill>
            <a:srgbClr val="009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502920" y="4983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FY2026 (7 Apr – 6 Jul 2026)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02920" y="53035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Proactive Data Systems  ·  Presented to JFL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 name="Slide 2"><p:bg><p:bgPr><a:solidFill><a:srgbClr val="FFFFFF"/></a:solidFill><a:effectLst/></p:bgPr></p:bg><p:spTree><p:nvGrpSpPr><p:cNvPr id="1" name=""/><p:cNvGrpSpPr/><p:nvPr/></p:nvGrpSpPr><p:grpSpPr><a:xfrm><a:off x="0" y="0"/><a:ext cx="0" cy="0"/><a:chOff x="0" y="0"/><a:chExt cx="0" cy="0"/></a:xfrm></p:grpSpPr><p:sp><p:nvSpPr><p:cNvPr id="2" name="Text 0"/><p:cNvSpPr/><p:nvPr/></p:nvSpPr><p:spPr><a:xfrm><a:off x="502920" y="292608"/><a:ext cx="10058400" cy="274320"/></a:xfrm><a:prstGeom prst="rect"><a:avLst/></a:prstGeom><a:noFill/><a:ln/></p:spPr><p:txBody><a:bodyPr wrap="square" rtlCol="0" anchor="ctr"/><a:lstStyle/><a:p><a:pPr marL="0" indent="0"><a:buNone/></a:pPr><a:r><a:rPr lang="en-US" sz="1200" b="1" kern="0" spc="100" dirty="0"><a:solidFill><a:srgbClr val="0098D8"/></a:solidFill><a:latin typeface="Arial" pitchFamily="34" charset="0"/><a:ea typeface="Arial" pitchFamily="34" charset="-122"/><a:cs typeface="Arial" pitchFamily="34" charset="-120"/></a:rPr><a:t>OVERVIEW</a:t></a:r><a:endParaRPr lang="en-US" sz="1200" dirty="0"/></a:p></p:txBody></p:sp><p:sp><p:nvSpPr><p:cNvPr id="3" name="Text 1"/><p:cNvSpPr/><p:nvPr/></p:nvSpPr><p:spPr><a:xfrm><a:off x="502920" y="548640"/><a:ext cx="11155680" cy="566928"/></a:xfrm><a:prstGeom prst="rect"><a:avLst/></a:prstGeom><a:noFill/><a:ln/></p:spPr><p:txBody><a:bodyPr wrap="square" rtlCol="0" anchor="ctr"/><a:lstStyle/><a:p><a:pPr marL="0" indent="0"><a:buNone/></a:pPr><a:r><a:rPr lang="en-US" sz="2600" b="1" dirty="0"><a:solidFill><a:srgbClr val="0B2440"/></a:solidFill><a:latin typeface="Arial" pitchFamily="34" charset="0"/><a:ea typeface="Arial" pitchFamily="34" charset="-122"/><a:cs typeface="Arial" pitchFamily="34" charset="-120"/></a:rPr><a:t>Executive Summary — All Sites</a:t></a:r><a:endParaRPr lang="en-US" sz="2600" dirty="0"/></a:p></p:txBody></p:sp><p:sp><p:nvSpPr><p:cNvPr id="4" name="Shape 2"/><p:cNvSpPr/><p:nvPr/></p:nvSpPr><p:spPr><a:xfrm><a:off x="502920" y="1170432"/><a:ext cx="11183112" cy="16459"/></a:xfrm><a:prstGeom prst="rect"><a:avLst/></a:prstGeom><a:solidFill><a:srgbClr val="DDE3E9"/></a:solidFill><a:ln/></p:spPr><p:txBody><a:bodyPr/><a:lstStyle/><a:p><a:endParaRPr lang="en-IN"/></a:p></p:txBody></p:sp><p:graphicFrame><p:nvGraphicFramePr><p:cNvPr id="5" name="Table 0"/><p:cNvGraphicFramePr><a:graphicFrameLocks noGrp="1"/></p:cNvGraphicFramePr><p:nvPr><p:extLst><p:ext uri="{D42A27DB-BD31-4B8C-83A1-F6EECF244321}"><p14:modId xmlns:p14="http://schemas.microsoft.com/office/powerpoint/2010/main" val="1925669667"/></p:ext></p:extLst></p:nvPr></p:nvGraphicFramePr><p:xfrm><a:off x="502920" y="1417320"/><a:ext cx="10977880" cy="4211320"/></p:xfrm><a:graphic><a:graphicData uri="http://schemas.openxmlformats.org/drawingml/2006/table"><a:tbl><a:tblPr/><a:tblGrid><a:gridCol w="3200400"><a:extLst><a:ext uri="{9D8B030D-6E8A-4147-A177-3AD203B41FA5}"><a16:colId xmlns:a16="http://schemas.microsoft.com/office/drawing/2014/main" val="20000"/></a:ext></a:extLst></a:gridCol><a:gridCol w="1143000"><a:extLst><a:ext uri="{9D8B030D-6E8A-4147-A177-3AD203B41FA5}"><a16:colId xmlns:a16="http://schemas.microsoft.com/office/drawing/2014/main" val="20001"/></a:ext></a:extLst></a:gridCol><a:gridCol w="1143000"><a:extLst><a:ext uri="{9D8B030D-6E8A-4147-A177-3AD203B41FA5}"><a16:colId xmlns:a16="http://schemas.microsoft.com/office/drawing/2014/main" val="2053469525"/></a:ext></a:extLst></a:gridCol><a:gridCol w="1508760"><a:extLst><a:ext uri="{9D8B030D-6E8A-4147-A177-3AD203B41FA5}"><a16:colId xmlns:a16="http://schemas.microsoft.com/office/drawing/2014/main" val="20002"/></a:ext></a:extLst></a:gridCol><a:gridCol w="2093976"><a:extLst><a:ext uri="{9D8B030D-6E8A-4147-A177-3AD203B41FA5}"><a16:colId xmlns:a16="http://schemas.microsoft.com/office/drawing/2014/main" val="20003"/></a:ext></a:extLst></a:gridCol><a:gridCol w="1888744"><a:extLst><a:ext uri="{9D8B030D-6E8A-4147-A177-3AD203B41FA5}"><a16:colId xmlns:a16="http://schemas.microsoft.com/office/drawing/2014/main" val="167844973"/></a:ext></a:extLst></a:gridCol></a:tblGrid><a:tr h="467360"><a:tc><a:txBody><a:bodyPr/><a:lstStyle/><a:p><a:pPr marL="0" indent="0" algn="ctr"><a:buNone/></a:pPr><a:r><a:rPr lang="en-US" sz="1300" b="1" dirty="0"><a:solidFill><a:srgbClr val="FFFFFF"/></a:solidFill></a:rPr><a:t>Site</a:t></a:r><a:endParaRPr lang="en-US" sz="1300" dirty="0"/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0B2440"/></a:solidFill></a:tcPr></a:tc><a:tc><a:txBody><a:bodyPr/><a:lstStyle/><a:p><a:pPr marL="0" indent="0" algn="ctr"><a:buNone/></a:pPr><a:r><a:rPr lang="en-US" sz="1300" b="1" dirty="0"><a:solidFill><a:srgbClr val="FFFFFF"/></a:solidFill></a:rPr><a:t>No of devices</a:t></a:r><a:endParaRPr lang="en-US" sz="1300" dirty="0"/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0B2440"/></a:solidFill></a:tcPr></a:tc><a:tc><a:txBody><a:bodyPr/><a:lstStyle/><a:p><a:pPr marL="0" indent="0" algn="ctr"><a:buNone/></a:pPr><a:r><a:rPr lang="en-US" sz="1300" b="1" dirty="0"><a:solidFill><a:srgbClr val="FFFFFF"/></a:solidFill></a:rPr><a:t>Switch Uptime</a:t></a:r><a:endParaRPr lang="en-US" sz="1300" dirty="0"/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0B2440"/></a:solidFill></a:tcPr></a:tc><a:tc><a:txBody><a:bodyPr/><a:lstStyle/><a:p><a:pPr marL="0" indent="0" algn="ctr"><a:buNone/></a:pPr><a:r><a:rPr lang="en-US" sz="1300" b="1" dirty="0"><a:solidFill><a:srgbClr val="FFFFFF"/></a:solidFill></a:rPr><a:t>AP Incidents</a:t></a:r><a:endParaRPr lang="en-US" sz="1300" dirty="0"/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0B2440"/></a:solidFill></a:tcPr></a:tc><a:tc><a:txBody><a:bodyPr/><a:lstStyle/><a:p><a:pPr marL="0" indent="0" algn="ctr"><a:buNone/></a:pPr><a:r><a:rPr lang="en-US" sz="1300" b="1" dirty="0"><a:solidFill><a:srgbClr val="FFFFFF"/></a:solidFill></a:rPr><a:t>Primary RCA Driver (Switches)</a:t></a:r><a:endParaRPr lang="en-US" sz="1300" dirty="0"/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0B2440"/></a:solidFill></a:tcPr></a:tc><a:tc><a:txBody><a:bodyPr/><a:lstStyle/><a:p><a:pPr marL="0" marR="0" lvl="0" indent="0" algn="ctr" defTabSz="914400" rtl="0" eaLnBrk="1" fontAlgn="auto" latinLnBrk="0" hangingPunct="1"><a:lnSpc><a:spcPct val="100000"/></a:lnSpc><a:spcBef><a:spcPts val="0"/></a:spcBef><a:spcAft><a:spcPts val="0"/></a:spcAft><a:buClrTx/><a:buSzTx/><a:buFontTx/><a:buNone/><a:tabLst/><a:defRPr/></a:pPr><a:r><a:rPr lang="en-US" sz="1300" b="1" dirty="0"><a:solidFill><a:srgbClr val="FFFFFF"/></a:solidFill></a:rPr><a:t>Primary RCA Driver (AP)</a:t></a:r><a:endParaRPr lang="en-US" sz="1300" dirty="0"/></a:p><a:p><a:pPr marL="0" indent="0" algn="ctr"><a:buNone/></a:pPr><a:endParaRPr lang="en-US" sz="1300" dirty="0"/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0B2440"/></a:solidFill></a:tcPr></a:tc><a:extLst><a:ext uri="{0D108BD9-81ED-4DB2-BD59-A6C34878D82A}"><a16:rowId xmlns:a16="http://schemas.microsoft.com/office/drawing/2014/main" val="10000"/></a:ext></a:extLst></a:tr><a:tr h="467360"><a:t>BANGALORE</a:t></a:r><a:endParaRPr lang="en-US" sz="1250" b="1" dirty="0"/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ctr"><a:buNone/></a:pPr><a:endParaRPr lang="en-US" sz="1250" dirty="0"/></a:p><a:p><a:pPr marL="0" indent="0" algn="ctr"/><a:r><a:rPr lang="en-US" sz="1000"/><a:t>0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ctr"><a:buNone/></a:pPr><a:endParaRPr lang="en-US" sz="1250" dirty="0"/></a:p><a:p><a:pPr marL="0" indent="0" algn="ctr"/><a:r><a:rPr lang="en-US" sz="1000"/><a:t>N/A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ctr"><a:buNone/></a:pPr><a:endParaRPr lang="en-US" sz="1250" dirty="0"/></a:p><a:p><a:pPr marL="0" indent="0" algn="ctr"/><a:r><a:rPr lang="en-US" sz="1000"/><a:t>0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l"><a:buNone/></a:pPr><a:endParaRPr lang="en-US" sz="1250" dirty="0"/></a:p><a:p><a:pPr marL="0" indent="0" algn="ctr"/><a:r><a:rPr lang="en-US" sz="1000"/><a:t>None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l"><a:buNone/></a:pPr><a:endParaRPr lang="en-US" sz="1250" dirty="0"/></a:p><a:p><a:pPr marL="0" indent="0" algn="ctr"/><a:r><a:rPr lang="en-US" sz="1000"/><a:t>None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extLst><a:ext uri="{0D108BD9-81ED-4DB2-BD59-A6C34878D82A}"><a16:rowId xmlns:a16="http://schemas.microsoft.com/office/drawing/2014/main" val="10001"/></a:ext></a:extLst></a:tr><a:tr h="467360"><a:t>GUWAHATI</a:t></a:r><a:endParaRPr lang="en-US" sz="1250" b="1" dirty="0"/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ctr"><a:buNone/></a:pPr><a:endParaRPr lang="en-US" sz="1250" dirty="0"/></a:p><a:p><a:pPr marL="0" indent="0" algn="ctr"/><a:r><a:rPr lang="en-US" sz="1000"/><a:t>7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ctr"><a:buNone/></a:pPr><a:endParaRPr lang="en-US" sz="1250" dirty="0"/></a:p><a:p><a:pPr marL="0" indent="0" algn="ctr"/><a:r><a:rPr lang="en-US" sz="1000"/><a:t>N/A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ctr"><a:buNone/></a:pPr><a:endParaRPr lang="en-US" sz="1250" dirty="0"/></a:p><a:p><a:pPr marL="0" indent="0" algn="ctr"/><a:r><a:rPr lang="en-US" sz="1000"/><a:t>0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l"><a:buNone/></a:pPr><a:endParaRPr lang="en-US" sz="1250" dirty="0"/></a:p><a:p><a:pPr marL="0" indent="0" algn="ctr"/><a:r><a:rPr lang="en-US" sz="1000"/><a:t>None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l"><a:buNone/></a:pPr><a:endParaRPr lang="en-US" sz="1250" dirty="0"/></a:p><a:p><a:pPr marL="0" indent="0" algn="ctr"/><a:r><a:rPr lang="en-US" sz="1000"/><a:t>None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extLst><a:ext uri="{0D108BD9-81ED-4DB2-BD59-A6C34878D82A}"><a16:rowId xmlns:a16="http://schemas.microsoft.com/office/drawing/2014/main" val="10002"/></a:ext></a:extLst></a:tr><a:tr h="467360"><a:t>GREATER NOIDA</a:t></a:r><a:endParaRPr lang="en-US" sz="1250" b="1" dirty="0"/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ctr"><a:buNone/></a:pPr><a:endParaRPr lang="en-US" sz="1250" dirty="0"/></a:p><a:p><a:pPr marL="0" indent="0" algn="ctr"/><a:r><a:rPr lang="en-US" sz="1000"/><a:t>0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ctr"><a:buNone/></a:pPr><a:endParaRPr lang="en-US" sz="1250" dirty="0"/></a:p><a:p><a:pPr marL="0" indent="0" algn="ctr"/><a:r><a:rPr lang="en-US" sz="1000"/><a:t>N/A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ctr"><a:buNone/></a:pPr><a:endParaRPr lang="en-US" sz="1250" dirty="0"/></a:p><a:p><a:pPr marL="0" indent="0" algn="ctr"/><a:r><a:rPr lang="en-US" sz="1000"/><a:t>0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l"><a:buNone/></a:pPr><a:endParaRPr lang="en-US" sz="1250" dirty="0"/></a:p><a:p><a:pPr marL="0" indent="0" algn="ctr"/><a:r><a:rPr lang="en-US" sz="1000"/><a:t>None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l"><a:buNone/></a:pPr><a:endParaRPr lang="en-US" sz="1250" dirty="0"/></a:p><a:p><a:pPr marL="0" indent="0" algn="ctr"/><a:r><a:rPr lang="en-US" sz="1000"/><a:t>None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extLst><a:ext uri="{0D108BD9-81ED-4DB2-BD59-A6C34878D82A}"><a16:rowId xmlns:a16="http://schemas.microsoft.com/office/drawing/2014/main" val="10003"/></a:ext></a:extLst></a:tr><a:tr h="467360"><a:t>NOIDA</a:t></a:r><a:endParaRPr lang="en-US" sz="1250" b="1" dirty="0"/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ctr"><a:buNone/></a:pPr><a:endParaRPr lang="en-US" sz="1250" dirty="0"/></a:p><a:p><a:pPr marL="0" indent="0" algn="ctr"/><a:r><a:rPr lang="en-US" sz="1000"/><a:t>83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ctr"><a:buNone/></a:pPr><a:endParaRPr lang="en-US" sz="1250" dirty="0"/></a:p><a:p><a:pPr marL="0" indent="0" algn="ctr"/><a:r><a:rPr lang="en-US" sz="1000"/><a:t>N/A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ctr"><a:buNone/></a:pPr><a:endParaRPr lang="en-US" sz="1250" dirty="0"/></a:p><a:p><a:pPr marL="0" indent="0" algn="ctr"/><a:r><a:rPr lang="en-US" sz="1000"/><a:t>0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l"><a:buNone/></a:pPr><a:endParaRPr lang="en-US" sz="1250" dirty="0"/></a:p><a:p><a:pPr marL="0" indent="0" algn="ctr"/><a:r><a:rPr lang="en-US" sz="1000"/><a:t>None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l"><a:buNone/></a:pPr><a:endParaRPr lang="en-US" sz="1250" dirty="0"/></a:p><a:p><a:pPr marL="0" indent="0" algn="ctr"/><a:r><a:rPr lang="en-US" sz="1000"/><a:t>None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extLst><a:ext uri="{0D108BD9-81ED-4DB2-BD59-A6C34878D82A}"><a16:rowId xmlns:a16="http://schemas.microsoft.com/office/drawing/2014/main" val="10004"/></a:ext></a:extLst></a:tr><a:tr h="467360"><a:t>MUMBAI</a:t></a:r><a:endParaRPr lang="en-US" sz="1250" b="1" dirty="0"/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ctr"><a:buNone/></a:pPr><a:endParaRPr lang="en-US" sz="1250" dirty="0"/></a:p><a:p><a:pPr marL="0" indent="0" algn="ctr"/><a:r><a:rPr lang="en-US" sz="1000"/><a:t>10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ctr"><a:buNone/></a:pPr><a:endParaRPr lang="en-US" sz="1250" dirty="0"/></a:p><a:p><a:pPr marL="0" indent="0" algn="ctr"/><a:r><a:rPr lang="en-US" sz="1000"/><a:t>N/A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ctr"><a:buNone/></a:pPr><a:endParaRPr lang="en-US" sz="1250" dirty="0"/></a:p><a:p><a:pPr marL="0" indent="0" algn="ctr"/><a:r><a:rPr lang="en-US" sz="1000"/><a:t>0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l"><a:buNone/></a:pPr><a:endParaRPr lang="en-US" sz="1250" dirty="0"/></a:p><a:p><a:pPr marL="0" indent="0" algn="ctr"/><a:r><a:rPr lang="en-US" sz="1000"/><a:t>None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l"><a:buNone/></a:pPr><a:endParaRPr lang="en-US" sz="1250" dirty="0"/></a:p><a:p><a:pPr marL="0" indent="0" algn="ctr"/><a:r><a:rPr lang="en-US" sz="1000"/><a:t>None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extLst><a:ext uri="{0D108BD9-81ED-4DB2-BD59-A6C34878D82A}"><a16:rowId xmlns:a16="http://schemas.microsoft.com/office/drawing/2014/main" val="10005"/></a:ext></a:extLst></a:tr><a:tr h="467360"><a:t>HYDERABAD</a:t></a:r><a:endParaRPr lang="en-US" sz="1250" b="1" dirty="0"/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ctr"><a:buNone/></a:pPr><a:endParaRPr lang="en-US" sz="1250" dirty="0"/></a:p><a:p><a:pPr marL="0" indent="0" algn="ctr"/><a:r><a:rPr lang="en-US" sz="1000"/><a:t>0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ctr"><a:buNone/></a:pPr><a:endParaRPr lang="en-US" sz="1250" dirty="0"/></a:p><a:p><a:pPr marL="0" indent="0" algn="ctr"/><a:r><a:rPr lang="en-US" sz="1000"/><a:t>N/A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ctr"><a:buNone/></a:pPr><a:endParaRPr lang="en-US" sz="1250" dirty="0"/></a:p><a:p><a:pPr marL="0" indent="0" algn="ctr"/><a:r><a:rPr lang="en-US" sz="1000"/><a:t>0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l"><a:buNone/></a:pPr><a:endParaRPr lang="en-US" sz="1250" dirty="0"/></a:p><a:p><a:pPr marL="0" indent="0" algn="ctr"/><a:r><a:rPr lang="en-US" sz="1000"/><a:t>None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l"><a:buNone/></a:pPr><a:endParaRPr lang="en-US" sz="1250" dirty="0"/></a:p><a:p><a:pPr marL="0" indent="0" algn="ctr"/><a:r><a:rPr lang="en-US" sz="1000"/><a:t>None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extLst><a:ext uri="{0D108BD9-81ED-4DB2-BD59-A6C34878D82A}"><a16:rowId xmlns:a16="http://schemas.microsoft.com/office/drawing/2014/main" val="10006"/></a:ext></a:extLst></a:tr><a:tr h="467360"><a:t>MOHALI</a:t></a:r><a:endParaRPr lang="en-US" sz="1250" b="1" dirty="0"/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ctr"><a:buNone/></a:pPr><a:endParaRPr lang="en-US" sz="1250" dirty="0"/></a:p><a:p><a:pPr marL="0" indent="0" algn="ctr"/><a:r><a:rPr lang="en-US" sz="1000"/><a:t>0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ctr"><a:buNone/></a:pPr><a:endParaRPr lang="en-US" sz="1250" dirty="0"/></a:p><a:p><a:pPr marL="0" indent="0" algn="ctr"/><a:r><a:rPr lang="en-US" sz="1000"/><a:t>N/A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ctr"><a:buNone/></a:pPr><a:endParaRPr lang="en-US" sz="1250" dirty="0"/></a:p><a:p><a:pPr marL="0" indent="0" algn="ctr"/><a:r><a:rPr lang="en-US" sz="1000"/><a:t>0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l"><a:buNone/></a:pPr><a:endParaRPr lang="en-US" sz="1250" dirty="0"/></a:p><a:p><a:pPr marL="0" indent="0" algn="ctr"/><a:r><a:rPr lang="en-US" sz="1000"/><a:t>None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l"><a:buNone/></a:pPr><a:endParaRPr lang="en-US" sz="1250" dirty="0"/></a:p><a:p><a:pPr marL="0" indent="0" algn="ctr"/><a:r><a:rPr lang="en-US" sz="1000"/><a:t>None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extLst><a:ext uri="{0D108BD9-81ED-4DB2-BD59-A6C34878D82A}"><a16:rowId xmlns:a16="http://schemas.microsoft.com/office/drawing/2014/main" val="10007"/></a:ext></a:extLst></a:tr><a:tr h="467360"><a:t>NAGPUR</a:t></a:r><a:endParaRPr lang="en-US" sz="1250" b="1" dirty="0"/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ctr"><a:buNone/></a:pPr><a:endParaRPr lang="en-US" sz="1250" dirty="0"/></a:p><a:p><a:pPr marL="0" indent="0" algn="ctr"/><a:r><a:rPr lang="en-US" sz="1000"/><a:t>12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ctr"><a:buNone/></a:pPr><a:endParaRPr lang="en-US" sz="1250" dirty="0"/></a:p><a:p><a:pPr marL="0" indent="0" algn="ctr"/><a:r><a:rPr lang="en-US" sz="1000"/><a:t>N/A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ctr"><a:buNone/></a:pPr><a:endParaRPr lang="en-US" sz="1250" dirty="0"/></a:p><a:p><a:pPr marL="0" indent="0" algn="ctr"/><a:r><a:rPr lang="en-US" sz="1000"/><a:t>0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l"><a:buNone/></a:pPr><a:endParaRPr lang="en-US" sz="1250" dirty="0"/></a:p><a:p><a:pPr marL="0" indent="0" algn="ctr"/><a:r><a:rPr lang="en-US" sz="1000"/><a:t>None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l"><a:buNone/></a:pPr><a:endParaRPr lang="en-US" sz="1250" dirty="0"/></a:p><a:p><a:pPr marL="0" indent="0" algn="ctr"/><a:r><a:rPr lang="en-US" sz="1000"/><a:t>None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extLst><a:ext uri="{0D108BD9-81ED-4DB2-BD59-A6C34878D82A}"><a16:rowId xmlns:a16="http://schemas.microsoft.com/office/drawing/2014/main" val="10008"/></a:ext></a:extLst></a:tr></a:tbl></a:graphicData></a:graphic></p:graphicFrame><p:sp><p:nvSpPr><p:cNvPr id="6" name="Text 3"/><p:cNvSpPr/><p:nvPr/></p:nvSpPr><p:spPr><a:xfrm><a:off x="502920" y="5806440"/><a:ext cx="11183112" cy="548640"/></a:xfrm><a:prstGeom prst="rect"><a:avLst/></a:prstGeom><a:noFill/><a:ln/></p:spPr><p:txBody><a:bodyPr wrap="square" rtlCol="0" anchor="ctr"/><a:lstStyle/><a:p><a:pPr marL="0" indent="0"><a:buNone/></a:pPr><a:r><a:rPr lang="en-US" sz="1150" i="1" dirty="0"><a:solidFill><a:srgbClr val="5B6B7C"/></a:solidFill><a:latin typeface="Arial" pitchFamily="34" charset="0"/><a:ea typeface="Arial" pitchFamily="34" charset="-122"/><a:cs typeface="Arial" pitchFamily="34" charset="-120"/></a:rPr><a:t>This review consolidates SLA performance, rack and switch uptime, and access-point incident RCA for all eight monitored JFL sites for the period 7 April 2026 – 6 July 2026.</a:t></a:r><a:endParaRPr lang="en-US" sz="1150" dirty="0"/></a:p></p:txBody></p:sp><p:sp><p:nvSpPr><p:cNvPr id="7" name="Text 4"/><p:cNvSpPr/><p:nvPr/></p:nvSpPr><p:spPr><a:xfrm><a:off x="457200" y="6510528"/><a:ext cx="5486400" cy="274320"/></a:xfrm><a:prstGeom prst="rect"><a:avLst/></a:prstGeom><a:noFill/><a:ln/></p:spPr><p:txBody><a:bodyPr wrap="square" rtlCol="0" anchor="ctr"/><a:lstStyle/><a:p><a:pPr marL="0" indent="0" algn="l"><a:buNone/></a:pPr><a:r><a:rPr lang="en-US" sz="900" dirty="0"><a:solidFill><a:srgbClr val="5B6B7C"/></a:solidFill><a:latin typeface="Arial" pitchFamily="34" charset="0"/><a:ea typeface="Arial" pitchFamily="34" charset="-122"/><a:cs typeface="Arial" pitchFamily="34" charset="-120"/></a:rPr><a:t>JFL – Proactive Quarterly Review</a:t></a:r><a:endParaRPr lang="en-US" sz="900" dirty="0"/></a:p></p:txBody></p:sp><p:sp><p:nvSpPr><p:cNvPr id="8" name="Text 5"/><p:cNvSpPr/><p:nvPr/></p:nvSpPr><p:spPr><a:xfrm><a:off x="8991295" y="6510528"/><a:ext cx="2743200" cy="274320"/></a:xfrm><a:prstGeom prst="rect"><a:avLst/></a:prstGeom><a:noFill/><a:ln/></p:spPr><p:txBody><a:bodyPr wrap="square" rtlCol="0" anchor="ctr"/><a:lstStyle/><a:p><a:pPr marL="0" indent="0" algn="r"><a:buNone/></a:pPr><a:r><a:rPr lang="en-US" sz="900" dirty="0"><a:solidFill><a:srgbClr val="5B6B7C"/></a:solidFill><a:latin typeface="Arial" pitchFamily="34" charset="0"/><a:ea typeface="Arial" pitchFamily="34" charset="-122"/><a:cs typeface="Arial" pitchFamily="34" charset="-120"/></a:rPr><a:t>2</a:t></a:r><a:endParaRPr lang="en-US" sz="900" dirty="0"/></a:p></p:txBody></p:sp></p:spTree></p:cSld><p:clrMapOvr><a:masterClrMapping/></p:clrMapOvr>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1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Bangalore 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AP and Switch statistical </a:t>
            </a:r>
            <a:r>
              <a:rPr lang="en-US" sz="2600" b="1" dirty="0" err="1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Access Point Breakdown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1783080"/>
          <a:ext cx="539496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263640" y="1417320"/>
            <a:ext cx="5422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Rack-wise Switch Uptime % 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369199"/>
              </p:ext>
            </p:extLst>
          </p:nvPr>
        </p:nvGraphicFramePr>
        <p:xfrm>
          <a:off x="6263640" y="1783080"/>
          <a:ext cx="5422392" cy="4256766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78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RACK#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1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Bangalore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Switch Uptime Report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29A2E"/>
                </a:solidFill>
                <a:latin typeface="Arial" pitchFamily="34" charset="0"/>
                <a:cs typeface="Arial" pitchFamily="34" charset="-120"/>
              </a:rPr>
              <a:t>100%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Aggregated Switch Uptime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Monitored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/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at 100% Uptime</a:t>
            </a:r>
            <a:endParaRPr lang="en-US" sz="1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249306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25DCE6-D21B-A32D-99A2-46E719723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AFEAF6E-272D-E9CB-3CC3-40847D4588E5}"/>
              </a:ext>
            </a:extLst>
          </p:cNvPr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1 OF 8 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98F5697-5FFC-023E-4FB4-B1EF2E7F053B}"/>
              </a:ext>
            </a:extLst>
          </p:cNvPr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Bangalore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AP Incidents &amp; RCA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1265925-22E0-6A54-851C-FECF3F5973CE}"/>
              </a:ext>
            </a:extLst>
          </p:cNvPr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7BA8E21-6875-D204-3320-B9D0D2C2CFB3}"/>
              </a:ext>
            </a:extLst>
          </p:cNvPr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5A844D0-4655-F707-5BC8-DF91D8DA7B86}"/>
              </a:ext>
            </a:extLst>
          </p:cNvPr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7B59AD7-6CB9-487D-2373-13587A9FD995}"/>
              </a:ext>
            </a:extLst>
          </p:cNvPr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number of incidents</a:t>
            </a:r>
            <a:endParaRPr lang="en-US" sz="10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CA3CBA4-6E1C-7331-5C98-8730EF3B00E7}"/>
              </a:ext>
            </a:extLst>
          </p:cNvPr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D2C06DD-38EB-521B-3E2F-4FFB5D184B76}"/>
              </a:ext>
            </a:extLst>
          </p:cNvPr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9A72516-BA90-3527-9B20-08BB3B104E3C}"/>
              </a:ext>
            </a:extLst>
          </p:cNvPr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Cases</a:t>
            </a:r>
            <a:endParaRPr lang="en-US" sz="10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B9591BE-4473-F514-2BA8-DF8EBC13BFBB}"/>
              </a:ext>
            </a:extLst>
          </p:cNvPr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DD7FF90-D984-57A7-4EB6-DB23E3AEDF6D}"/>
              </a:ext>
            </a:extLst>
          </p:cNvPr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EB814E1-8333-EA1B-24BF-6885EEC0FD04}"/>
              </a:ext>
            </a:extLst>
          </p:cNvPr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Breach Cases</a:t>
            </a:r>
            <a:endParaRPr lang="en-US" sz="10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B6B9B1B-4B34-4E3B-5318-C8EDDF42F522}"/>
              </a:ext>
            </a:extLst>
          </p:cNvPr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5D58784-4257-AC9C-D260-4EC5198E9F5A}"/>
              </a:ext>
            </a:extLst>
          </p:cNvPr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3CEF56E-82BF-BE57-7A45-B780DC5FFE46}"/>
              </a:ext>
            </a:extLst>
          </p:cNvPr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graphicFrame>
        <p:nvGraphicFramePr>
          <p:cNvPr id="17" name="Table 0">
            <a:extLst>
              <a:ext uri="{FF2B5EF4-FFF2-40B4-BE49-F238E27FC236}">
                <a16:creationId xmlns:a16="http://schemas.microsoft.com/office/drawing/2014/main" id="{32681362-619D-6E3A-9BA4-89C3E72C56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826723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 of Incidents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Primary RCA Driver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Unknown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Unknown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182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None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>
            <a:extLst>
              <a:ext uri="{FF2B5EF4-FFF2-40B4-BE49-F238E27FC236}">
                <a16:creationId xmlns:a16="http://schemas.microsoft.com/office/drawing/2014/main" id="{7967299A-64C8-EE0F-1E9D-1215AD87427C}"/>
              </a:ext>
            </a:extLst>
          </p:cNvPr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5254C37-C991-5EAD-E82E-7C19FBE7A4AC}"/>
              </a:ext>
            </a:extLst>
          </p:cNvPr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69681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114800" cy="4114800"/>
          </a:xfrm>
          <a:prstGeom prst="ellipse">
            <a:avLst/>
          </a:prstGeom>
          <a:solidFill>
            <a:srgbClr val="0098D8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assets/cisc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286000"/>
            <a:ext cx="2286000" cy="84124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-91440" y="36322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6" name="Text 2"/>
          <p:cNvSpPr/>
          <p:nvPr/>
        </p:nvSpPr>
        <p:spPr>
          <a:xfrm>
            <a:off x="0" y="49377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B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Data Systems   ·   www.proactive.co.in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2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Guwahati 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AP and Switch statistical </a:t>
            </a:r>
            <a:r>
              <a:rPr lang="en-US" sz="2600" b="1" dirty="0" err="1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Access Point Breakdown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1783080"/>
          <a:ext cx="539496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263640" y="1417320"/>
            <a:ext cx="5422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Rack-wise Switch Uptime % 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369199"/>
              </p:ext>
            </p:extLst>
          </p:nvPr>
        </p:nvGraphicFramePr>
        <p:xfrm>
          <a:off x="6263640" y="1783080"/>
          <a:ext cx="5422392" cy="4256766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78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RACK#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2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Guwahati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Switch Uptime Report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29A2E"/>
                </a:solidFill>
                <a:latin typeface="Arial" pitchFamily="34" charset="0"/>
                <a:cs typeface="Arial" pitchFamily="34" charset="-120"/>
              </a:rPr>
              <a:t>100%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Aggregated Switch Uptime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Monitored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/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at 100% Uptime</a:t>
            </a:r>
            <a:endParaRPr lang="en-US" sz="1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249306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25DCE6-D21B-A32D-99A2-46E719723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AFEAF6E-272D-E9CB-3CC3-40847D4588E5}"/>
              </a:ext>
            </a:extLst>
          </p:cNvPr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2 OF 8 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98F5697-5FFC-023E-4FB4-B1EF2E7F053B}"/>
              </a:ext>
            </a:extLst>
          </p:cNvPr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Guwahati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AP Incidents &amp; RCA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1265925-22E0-6A54-851C-FECF3F5973CE}"/>
              </a:ext>
            </a:extLst>
          </p:cNvPr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7BA8E21-6875-D204-3320-B9D0D2C2CFB3}"/>
              </a:ext>
            </a:extLst>
          </p:cNvPr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5A844D0-4655-F707-5BC8-DF91D8DA7B86}"/>
              </a:ext>
            </a:extLst>
          </p:cNvPr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7B59AD7-6CB9-487D-2373-13587A9FD995}"/>
              </a:ext>
            </a:extLst>
          </p:cNvPr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number of incidents</a:t>
            </a:r>
            <a:endParaRPr lang="en-US" sz="10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CA3CBA4-6E1C-7331-5C98-8730EF3B00E7}"/>
              </a:ext>
            </a:extLst>
          </p:cNvPr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D2C06DD-38EB-521B-3E2F-4FFB5D184B76}"/>
              </a:ext>
            </a:extLst>
          </p:cNvPr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9A72516-BA90-3527-9B20-08BB3B104E3C}"/>
              </a:ext>
            </a:extLst>
          </p:cNvPr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Cases</a:t>
            </a:r>
            <a:endParaRPr lang="en-US" sz="10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B9591BE-4473-F514-2BA8-DF8EBC13BFBB}"/>
              </a:ext>
            </a:extLst>
          </p:cNvPr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DD7FF90-D984-57A7-4EB6-DB23E3AEDF6D}"/>
              </a:ext>
            </a:extLst>
          </p:cNvPr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EB814E1-8333-EA1B-24BF-6885EEC0FD04}"/>
              </a:ext>
            </a:extLst>
          </p:cNvPr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Breach Cases</a:t>
            </a:r>
            <a:endParaRPr lang="en-US" sz="10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B6B9B1B-4B34-4E3B-5318-C8EDDF42F522}"/>
              </a:ext>
            </a:extLst>
          </p:cNvPr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5D58784-4257-AC9C-D260-4EC5198E9F5A}"/>
              </a:ext>
            </a:extLst>
          </p:cNvPr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3CEF56E-82BF-BE57-7A45-B780DC5FFE46}"/>
              </a:ext>
            </a:extLst>
          </p:cNvPr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graphicFrame>
        <p:nvGraphicFramePr>
          <p:cNvPr id="17" name="Table 0">
            <a:extLst>
              <a:ext uri="{FF2B5EF4-FFF2-40B4-BE49-F238E27FC236}">
                <a16:creationId xmlns:a16="http://schemas.microsoft.com/office/drawing/2014/main" id="{32681362-619D-6E3A-9BA4-89C3E72C56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826723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 of Incidents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Primary RCA Driver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Unknown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Unknown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None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>
            <a:extLst>
              <a:ext uri="{FF2B5EF4-FFF2-40B4-BE49-F238E27FC236}">
                <a16:creationId xmlns:a16="http://schemas.microsoft.com/office/drawing/2014/main" id="{7967299A-64C8-EE0F-1E9D-1215AD87427C}"/>
              </a:ext>
            </a:extLst>
          </p:cNvPr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5254C37-C991-5EAD-E82E-7C19FBE7A4AC}"/>
              </a:ext>
            </a:extLst>
          </p:cNvPr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696815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3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Greater Noida 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AP and Switch statistical </a:t>
            </a:r>
            <a:r>
              <a:rPr lang="en-US" sz="2600" b="1" dirty="0" err="1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Access Point Breakdown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1783080"/>
          <a:ext cx="539496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263640" y="1417320"/>
            <a:ext cx="5422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Rack-wise Switch Uptime % 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369199"/>
              </p:ext>
            </p:extLst>
          </p:nvPr>
        </p:nvGraphicFramePr>
        <p:xfrm>
          <a:off x="6263640" y="1783080"/>
          <a:ext cx="5422392" cy="4256766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78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RACK#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3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Greater Noida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Switch Uptime Report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29A2E"/>
                </a:solidFill>
                <a:latin typeface="Arial" pitchFamily="34" charset="0"/>
                <a:cs typeface="Arial" pitchFamily="34" charset="-120"/>
              </a:rPr>
              <a:t>100%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Aggregated Switch Uptime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Monitored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/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at 100% Uptime</a:t>
            </a:r>
            <a:endParaRPr lang="en-US" sz="1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249306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25DCE6-D21B-A32D-99A2-46E719723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AFEAF6E-272D-E9CB-3CC3-40847D4588E5}"/>
              </a:ext>
            </a:extLst>
          </p:cNvPr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3 OF 8 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98F5697-5FFC-023E-4FB4-B1EF2E7F053B}"/>
              </a:ext>
            </a:extLst>
          </p:cNvPr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Greater Noida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AP Incidents &amp; RCA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1265925-22E0-6A54-851C-FECF3F5973CE}"/>
              </a:ext>
            </a:extLst>
          </p:cNvPr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7BA8E21-6875-D204-3320-B9D0D2C2CFB3}"/>
              </a:ext>
            </a:extLst>
          </p:cNvPr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5A844D0-4655-F707-5BC8-DF91D8DA7B86}"/>
              </a:ext>
            </a:extLst>
          </p:cNvPr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7B59AD7-6CB9-487D-2373-13587A9FD995}"/>
              </a:ext>
            </a:extLst>
          </p:cNvPr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number of incidents</a:t>
            </a:r>
            <a:endParaRPr lang="en-US" sz="10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CA3CBA4-6E1C-7331-5C98-8730EF3B00E7}"/>
              </a:ext>
            </a:extLst>
          </p:cNvPr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D2C06DD-38EB-521B-3E2F-4FFB5D184B76}"/>
              </a:ext>
            </a:extLst>
          </p:cNvPr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9A72516-BA90-3527-9B20-08BB3B104E3C}"/>
              </a:ext>
            </a:extLst>
          </p:cNvPr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Cases</a:t>
            </a:r>
            <a:endParaRPr lang="en-US" sz="10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B9591BE-4473-F514-2BA8-DF8EBC13BFBB}"/>
              </a:ext>
            </a:extLst>
          </p:cNvPr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DD7FF90-D984-57A7-4EB6-DB23E3AEDF6D}"/>
              </a:ext>
            </a:extLst>
          </p:cNvPr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EB814E1-8333-EA1B-24BF-6885EEC0FD04}"/>
              </a:ext>
            </a:extLst>
          </p:cNvPr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Breach Cases</a:t>
            </a:r>
            <a:endParaRPr lang="en-US" sz="10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B6B9B1B-4B34-4E3B-5318-C8EDDF42F522}"/>
              </a:ext>
            </a:extLst>
          </p:cNvPr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5D58784-4257-AC9C-D260-4EC5198E9F5A}"/>
              </a:ext>
            </a:extLst>
          </p:cNvPr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3CEF56E-82BF-BE57-7A45-B780DC5FFE46}"/>
              </a:ext>
            </a:extLst>
          </p:cNvPr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graphicFrame>
        <p:nvGraphicFramePr>
          <p:cNvPr id="17" name="Table 0">
            <a:extLst>
              <a:ext uri="{FF2B5EF4-FFF2-40B4-BE49-F238E27FC236}">
                <a16:creationId xmlns:a16="http://schemas.microsoft.com/office/drawing/2014/main" id="{32681362-619D-6E3A-9BA4-89C3E72C56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826723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 of Incidents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Primary RCA Driver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Unknown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Unknown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119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None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>
            <a:extLst>
              <a:ext uri="{FF2B5EF4-FFF2-40B4-BE49-F238E27FC236}">
                <a16:creationId xmlns:a16="http://schemas.microsoft.com/office/drawing/2014/main" id="{7967299A-64C8-EE0F-1E9D-1215AD87427C}"/>
              </a:ext>
            </a:extLst>
          </p:cNvPr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5254C37-C991-5EAD-E82E-7C19FBE7A4AC}"/>
              </a:ext>
            </a:extLst>
          </p:cNvPr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696815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4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Noida 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AP and Switch statistical </a:t>
            </a:r>
            <a:r>
              <a:rPr lang="en-US" sz="2600" b="1" dirty="0" err="1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Access Point Breakdown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1783080"/>
          <a:ext cx="539496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263640" y="1417320"/>
            <a:ext cx="5422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Rack-wise Switch Uptime % 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369199"/>
              </p:ext>
            </p:extLst>
          </p:nvPr>
        </p:nvGraphicFramePr>
        <p:xfrm>
          <a:off x="6263640" y="1783080"/>
          <a:ext cx="5422392" cy="4256766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78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RACK#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4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Noida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Switch Uptime Report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29A2E"/>
                </a:solidFill>
                <a:latin typeface="Arial" pitchFamily="34" charset="0"/>
                <a:cs typeface="Arial" pitchFamily="34" charset="-120"/>
              </a:rPr>
              <a:t>100%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Aggregated Switch Uptime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Monitored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/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at 100% Uptime</a:t>
            </a:r>
            <a:endParaRPr lang="en-US" sz="1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249306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25DCE6-D21B-A32D-99A2-46E719723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AFEAF6E-272D-E9CB-3CC3-40847D4588E5}"/>
              </a:ext>
            </a:extLst>
          </p:cNvPr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4 OF 8 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98F5697-5FFC-023E-4FB4-B1EF2E7F053B}"/>
              </a:ext>
            </a:extLst>
          </p:cNvPr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Noida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AP Incidents &amp; RCA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1265925-22E0-6A54-851C-FECF3F5973CE}"/>
              </a:ext>
            </a:extLst>
          </p:cNvPr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7BA8E21-6875-D204-3320-B9D0D2C2CFB3}"/>
              </a:ext>
            </a:extLst>
          </p:cNvPr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5A844D0-4655-F707-5BC8-DF91D8DA7B86}"/>
              </a:ext>
            </a:extLst>
          </p:cNvPr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7B59AD7-6CB9-487D-2373-13587A9FD995}"/>
              </a:ext>
            </a:extLst>
          </p:cNvPr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number of incidents</a:t>
            </a:r>
            <a:endParaRPr lang="en-US" sz="10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CA3CBA4-6E1C-7331-5C98-8730EF3B00E7}"/>
              </a:ext>
            </a:extLst>
          </p:cNvPr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D2C06DD-38EB-521B-3E2F-4FFB5D184B76}"/>
              </a:ext>
            </a:extLst>
          </p:cNvPr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9A72516-BA90-3527-9B20-08BB3B104E3C}"/>
              </a:ext>
            </a:extLst>
          </p:cNvPr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Cases</a:t>
            </a:r>
            <a:endParaRPr lang="en-US" sz="10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B9591BE-4473-F514-2BA8-DF8EBC13BFBB}"/>
              </a:ext>
            </a:extLst>
          </p:cNvPr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DD7FF90-D984-57A7-4EB6-DB23E3AEDF6D}"/>
              </a:ext>
            </a:extLst>
          </p:cNvPr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EB814E1-8333-EA1B-24BF-6885EEC0FD04}"/>
              </a:ext>
            </a:extLst>
          </p:cNvPr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Breach Cases</a:t>
            </a:r>
            <a:endParaRPr lang="en-US" sz="10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B6B9B1B-4B34-4E3B-5318-C8EDDF42F522}"/>
              </a:ext>
            </a:extLst>
          </p:cNvPr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5D58784-4257-AC9C-D260-4EC5198E9F5A}"/>
              </a:ext>
            </a:extLst>
          </p:cNvPr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3CEF56E-82BF-BE57-7A45-B780DC5FFE46}"/>
              </a:ext>
            </a:extLst>
          </p:cNvPr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graphicFrame>
        <p:nvGraphicFramePr>
          <p:cNvPr id="17" name="Table 0">
            <a:extLst>
              <a:ext uri="{FF2B5EF4-FFF2-40B4-BE49-F238E27FC236}">
                <a16:creationId xmlns:a16="http://schemas.microsoft.com/office/drawing/2014/main" id="{32681362-619D-6E3A-9BA4-89C3E72C56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826723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 of Incidents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Primary RCA Driver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Unknown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Unknown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None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>
            <a:extLst>
              <a:ext uri="{FF2B5EF4-FFF2-40B4-BE49-F238E27FC236}">
                <a16:creationId xmlns:a16="http://schemas.microsoft.com/office/drawing/2014/main" id="{7967299A-64C8-EE0F-1E9D-1215AD87427C}"/>
              </a:ext>
            </a:extLst>
          </p:cNvPr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5254C37-C991-5EAD-E82E-7C19FBE7A4AC}"/>
              </a:ext>
            </a:extLst>
          </p:cNvPr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696815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5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Mumbai 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AP and Switch statistical </a:t>
            </a:r>
            <a:r>
              <a:rPr lang="en-US" sz="2600" b="1" dirty="0" err="1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Access Point Breakdown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1783080"/>
          <a:ext cx="539496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263640" y="1417320"/>
            <a:ext cx="5422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Rack-wise Switch Uptime % 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369199"/>
              </p:ext>
            </p:extLst>
          </p:nvPr>
        </p:nvGraphicFramePr>
        <p:xfrm>
          <a:off x="6263640" y="1783080"/>
          <a:ext cx="5422392" cy="4256766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78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RACK#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5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Mumbai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Switch Uptime Report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29A2E"/>
                </a:solidFill>
                <a:latin typeface="Arial" pitchFamily="34" charset="0"/>
                <a:cs typeface="Arial" pitchFamily="34" charset="-120"/>
              </a:rPr>
              <a:t>100%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Aggregated Switch Uptime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Monitored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/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at 100% Uptime</a:t>
            </a:r>
            <a:endParaRPr lang="en-US" sz="1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249306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25DCE6-D21B-A32D-99A2-46E719723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AFEAF6E-272D-E9CB-3CC3-40847D4588E5}"/>
              </a:ext>
            </a:extLst>
          </p:cNvPr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5 OF 8 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98F5697-5FFC-023E-4FB4-B1EF2E7F053B}"/>
              </a:ext>
            </a:extLst>
          </p:cNvPr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Mumbai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AP Incidents &amp; RCA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1265925-22E0-6A54-851C-FECF3F5973CE}"/>
              </a:ext>
            </a:extLst>
          </p:cNvPr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7BA8E21-6875-D204-3320-B9D0D2C2CFB3}"/>
              </a:ext>
            </a:extLst>
          </p:cNvPr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5A844D0-4655-F707-5BC8-DF91D8DA7B86}"/>
              </a:ext>
            </a:extLst>
          </p:cNvPr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7B59AD7-6CB9-487D-2373-13587A9FD995}"/>
              </a:ext>
            </a:extLst>
          </p:cNvPr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number of incidents</a:t>
            </a:r>
            <a:endParaRPr lang="en-US" sz="10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CA3CBA4-6E1C-7331-5C98-8730EF3B00E7}"/>
              </a:ext>
            </a:extLst>
          </p:cNvPr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D2C06DD-38EB-521B-3E2F-4FFB5D184B76}"/>
              </a:ext>
            </a:extLst>
          </p:cNvPr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9A72516-BA90-3527-9B20-08BB3B104E3C}"/>
              </a:ext>
            </a:extLst>
          </p:cNvPr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Cases</a:t>
            </a:r>
            <a:endParaRPr lang="en-US" sz="10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B9591BE-4473-F514-2BA8-DF8EBC13BFBB}"/>
              </a:ext>
            </a:extLst>
          </p:cNvPr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DD7FF90-D984-57A7-4EB6-DB23E3AEDF6D}"/>
              </a:ext>
            </a:extLst>
          </p:cNvPr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EB814E1-8333-EA1B-24BF-6885EEC0FD04}"/>
              </a:ext>
            </a:extLst>
          </p:cNvPr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Breach Cases</a:t>
            </a:r>
            <a:endParaRPr lang="en-US" sz="10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B6B9B1B-4B34-4E3B-5318-C8EDDF42F522}"/>
              </a:ext>
            </a:extLst>
          </p:cNvPr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5D58784-4257-AC9C-D260-4EC5198E9F5A}"/>
              </a:ext>
            </a:extLst>
          </p:cNvPr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3CEF56E-82BF-BE57-7A45-B780DC5FFE46}"/>
              </a:ext>
            </a:extLst>
          </p:cNvPr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graphicFrame>
        <p:nvGraphicFramePr>
          <p:cNvPr id="17" name="Table 0">
            <a:extLst>
              <a:ext uri="{FF2B5EF4-FFF2-40B4-BE49-F238E27FC236}">
                <a16:creationId xmlns:a16="http://schemas.microsoft.com/office/drawing/2014/main" id="{32681362-619D-6E3A-9BA4-89C3E72C56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826723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 of Incidents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Primary RCA Driver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Unknown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Unknown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None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>
            <a:extLst>
              <a:ext uri="{FF2B5EF4-FFF2-40B4-BE49-F238E27FC236}">
                <a16:creationId xmlns:a16="http://schemas.microsoft.com/office/drawing/2014/main" id="{7967299A-64C8-EE0F-1E9D-1215AD87427C}"/>
              </a:ext>
            </a:extLst>
          </p:cNvPr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5254C37-C991-5EAD-E82E-7C19FBE7A4AC}"/>
              </a:ext>
            </a:extLst>
          </p:cNvPr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696815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6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Hyderabad 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AP and Switch statistical </a:t>
            </a:r>
            <a:r>
              <a:rPr lang="en-US" sz="2600" b="1" dirty="0" err="1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Access Point Breakdown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1783080"/>
          <a:ext cx="539496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263640" y="1417320"/>
            <a:ext cx="5422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Rack-wise Switch Uptime % 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369199"/>
              </p:ext>
            </p:extLst>
          </p:nvPr>
        </p:nvGraphicFramePr>
        <p:xfrm>
          <a:off x="6263640" y="1783080"/>
          <a:ext cx="5422392" cy="4256766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78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RACK#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6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Hyderabad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Switch Uptime Report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29A2E"/>
                </a:solidFill>
                <a:latin typeface="Arial" pitchFamily="34" charset="0"/>
                <a:cs typeface="Arial" pitchFamily="34" charset="-120"/>
              </a:rPr>
              <a:t>100%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Aggregated Switch Uptime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Monitored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/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at 100% Uptime</a:t>
            </a:r>
            <a:endParaRPr lang="en-US" sz="1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249306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25DCE6-D21B-A32D-99A2-46E719723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AFEAF6E-272D-E9CB-3CC3-40847D4588E5}"/>
              </a:ext>
            </a:extLst>
          </p:cNvPr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6 OF 8 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98F5697-5FFC-023E-4FB4-B1EF2E7F053B}"/>
              </a:ext>
            </a:extLst>
          </p:cNvPr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Hyderabad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AP Incidents &amp; RCA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1265925-22E0-6A54-851C-FECF3F5973CE}"/>
              </a:ext>
            </a:extLst>
          </p:cNvPr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7BA8E21-6875-D204-3320-B9D0D2C2CFB3}"/>
              </a:ext>
            </a:extLst>
          </p:cNvPr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5A844D0-4655-F707-5BC8-DF91D8DA7B86}"/>
              </a:ext>
            </a:extLst>
          </p:cNvPr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7B59AD7-6CB9-487D-2373-13587A9FD995}"/>
              </a:ext>
            </a:extLst>
          </p:cNvPr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number of incidents</a:t>
            </a:r>
            <a:endParaRPr lang="en-US" sz="10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CA3CBA4-6E1C-7331-5C98-8730EF3B00E7}"/>
              </a:ext>
            </a:extLst>
          </p:cNvPr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D2C06DD-38EB-521B-3E2F-4FFB5D184B76}"/>
              </a:ext>
            </a:extLst>
          </p:cNvPr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9A72516-BA90-3527-9B20-08BB3B104E3C}"/>
              </a:ext>
            </a:extLst>
          </p:cNvPr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Cases</a:t>
            </a:r>
            <a:endParaRPr lang="en-US" sz="10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B9591BE-4473-F514-2BA8-DF8EBC13BFBB}"/>
              </a:ext>
            </a:extLst>
          </p:cNvPr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DD7FF90-D984-57A7-4EB6-DB23E3AEDF6D}"/>
              </a:ext>
            </a:extLst>
          </p:cNvPr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EB814E1-8333-EA1B-24BF-6885EEC0FD04}"/>
              </a:ext>
            </a:extLst>
          </p:cNvPr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Breach Cases</a:t>
            </a:r>
            <a:endParaRPr lang="en-US" sz="10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B6B9B1B-4B34-4E3B-5318-C8EDDF42F522}"/>
              </a:ext>
            </a:extLst>
          </p:cNvPr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5D58784-4257-AC9C-D260-4EC5198E9F5A}"/>
              </a:ext>
            </a:extLst>
          </p:cNvPr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3CEF56E-82BF-BE57-7A45-B780DC5FFE46}"/>
              </a:ext>
            </a:extLst>
          </p:cNvPr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graphicFrame>
        <p:nvGraphicFramePr>
          <p:cNvPr id="17" name="Table 0">
            <a:extLst>
              <a:ext uri="{FF2B5EF4-FFF2-40B4-BE49-F238E27FC236}">
                <a16:creationId xmlns:a16="http://schemas.microsoft.com/office/drawing/2014/main" id="{32681362-619D-6E3A-9BA4-89C3E72C56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826723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 of Incidents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Primary RCA Driver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Unknown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Unknown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16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None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>
            <a:extLst>
              <a:ext uri="{FF2B5EF4-FFF2-40B4-BE49-F238E27FC236}">
                <a16:creationId xmlns:a16="http://schemas.microsoft.com/office/drawing/2014/main" id="{7967299A-64C8-EE0F-1E9D-1215AD87427C}"/>
              </a:ext>
            </a:extLst>
          </p:cNvPr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5254C37-C991-5EAD-E82E-7C19FBE7A4AC}"/>
              </a:ext>
            </a:extLst>
          </p:cNvPr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696815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7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Mohali 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AP and Switch statistical </a:t>
            </a:r>
            <a:r>
              <a:rPr lang="en-US" sz="2600" b="1" dirty="0" err="1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Access Point Breakdown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1783080"/>
          <a:ext cx="539496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263640" y="1417320"/>
            <a:ext cx="5422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Rack-wise Switch Uptime % 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369199"/>
              </p:ext>
            </p:extLst>
          </p:nvPr>
        </p:nvGraphicFramePr>
        <p:xfrm>
          <a:off x="6263640" y="1783080"/>
          <a:ext cx="5422392" cy="4256766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78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RACK#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7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Mohali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Switch Uptime Report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29A2E"/>
                </a:solidFill>
                <a:latin typeface="Arial" pitchFamily="34" charset="0"/>
                <a:cs typeface="Arial" pitchFamily="34" charset="-120"/>
              </a:rPr>
              <a:t>100%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Aggregated Switch Uptime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Monitored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/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at 100% Uptime</a:t>
            </a:r>
            <a:endParaRPr lang="en-US" sz="1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249306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25DCE6-D21B-A32D-99A2-46E719723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AFEAF6E-272D-E9CB-3CC3-40847D4588E5}"/>
              </a:ext>
            </a:extLst>
          </p:cNvPr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7 OF 8 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98F5697-5FFC-023E-4FB4-B1EF2E7F053B}"/>
              </a:ext>
            </a:extLst>
          </p:cNvPr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Mohali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AP Incidents &amp; RCA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1265925-22E0-6A54-851C-FECF3F5973CE}"/>
              </a:ext>
            </a:extLst>
          </p:cNvPr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7BA8E21-6875-D204-3320-B9D0D2C2CFB3}"/>
              </a:ext>
            </a:extLst>
          </p:cNvPr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5A844D0-4655-F707-5BC8-DF91D8DA7B86}"/>
              </a:ext>
            </a:extLst>
          </p:cNvPr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7B59AD7-6CB9-487D-2373-13587A9FD995}"/>
              </a:ext>
            </a:extLst>
          </p:cNvPr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number of incidents</a:t>
            </a:r>
            <a:endParaRPr lang="en-US" sz="10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CA3CBA4-6E1C-7331-5C98-8730EF3B00E7}"/>
              </a:ext>
            </a:extLst>
          </p:cNvPr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D2C06DD-38EB-521B-3E2F-4FFB5D184B76}"/>
              </a:ext>
            </a:extLst>
          </p:cNvPr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9A72516-BA90-3527-9B20-08BB3B104E3C}"/>
              </a:ext>
            </a:extLst>
          </p:cNvPr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Cases</a:t>
            </a:r>
            <a:endParaRPr lang="en-US" sz="10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B9591BE-4473-F514-2BA8-DF8EBC13BFBB}"/>
              </a:ext>
            </a:extLst>
          </p:cNvPr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DD7FF90-D984-57A7-4EB6-DB23E3AEDF6D}"/>
              </a:ext>
            </a:extLst>
          </p:cNvPr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EB814E1-8333-EA1B-24BF-6885EEC0FD04}"/>
              </a:ext>
            </a:extLst>
          </p:cNvPr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Breach Cases</a:t>
            </a:r>
            <a:endParaRPr lang="en-US" sz="10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B6B9B1B-4B34-4E3B-5318-C8EDDF42F522}"/>
              </a:ext>
            </a:extLst>
          </p:cNvPr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5D58784-4257-AC9C-D260-4EC5198E9F5A}"/>
              </a:ext>
            </a:extLst>
          </p:cNvPr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3CEF56E-82BF-BE57-7A45-B780DC5FFE46}"/>
              </a:ext>
            </a:extLst>
          </p:cNvPr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graphicFrame>
        <p:nvGraphicFramePr>
          <p:cNvPr id="17" name="Table 0">
            <a:extLst>
              <a:ext uri="{FF2B5EF4-FFF2-40B4-BE49-F238E27FC236}">
                <a16:creationId xmlns:a16="http://schemas.microsoft.com/office/drawing/2014/main" id="{32681362-619D-6E3A-9BA4-89C3E72C56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826723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 of Incidents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Primary RCA Driver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Unknown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Unknown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19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None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>
            <a:extLst>
              <a:ext uri="{FF2B5EF4-FFF2-40B4-BE49-F238E27FC236}">
                <a16:creationId xmlns:a16="http://schemas.microsoft.com/office/drawing/2014/main" id="{7967299A-64C8-EE0F-1E9D-1215AD87427C}"/>
              </a:ext>
            </a:extLst>
          </p:cNvPr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5254C37-C991-5EAD-E82E-7C19FBE7A4AC}"/>
              </a:ext>
            </a:extLst>
          </p:cNvPr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696815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8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Nagpur 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AP and Switch statistical </a:t>
            </a:r>
            <a:r>
              <a:rPr lang="en-US" sz="2600" b="1" dirty="0" err="1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Access Point Breakdown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1783080"/>
          <a:ext cx="539496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263640" y="1417320"/>
            <a:ext cx="5422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Rack-wise Switch Uptime % 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369199"/>
              </p:ext>
            </p:extLst>
          </p:nvPr>
        </p:nvGraphicFramePr>
        <p:xfrm>
          <a:off x="6263640" y="1783080"/>
          <a:ext cx="5422392" cy="4256766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78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RACK#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8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Nagpur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Switch Uptime Report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29A2E"/>
                </a:solidFill>
                <a:latin typeface="Arial" pitchFamily="34" charset="0"/>
                <a:cs typeface="Arial" pitchFamily="34" charset="-120"/>
              </a:rPr>
              <a:t>100%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Aggregated Switch Uptime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Monitored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/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at 100% Uptime</a:t>
            </a:r>
            <a:endParaRPr lang="en-US" sz="1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249306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25DCE6-D21B-A32D-99A2-46E719723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AFEAF6E-272D-E9CB-3CC3-40847D4588E5}"/>
              </a:ext>
            </a:extLst>
          </p:cNvPr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8 OF 8 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98F5697-5FFC-023E-4FB4-B1EF2E7F053B}"/>
              </a:ext>
            </a:extLst>
          </p:cNvPr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Nagpur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AP Incidents &amp; RCA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1265925-22E0-6A54-851C-FECF3F5973CE}"/>
              </a:ext>
            </a:extLst>
          </p:cNvPr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7BA8E21-6875-D204-3320-B9D0D2C2CFB3}"/>
              </a:ext>
            </a:extLst>
          </p:cNvPr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5A844D0-4655-F707-5BC8-DF91D8DA7B86}"/>
              </a:ext>
            </a:extLst>
          </p:cNvPr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7B59AD7-6CB9-487D-2373-13587A9FD995}"/>
              </a:ext>
            </a:extLst>
          </p:cNvPr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number of incidents</a:t>
            </a:r>
            <a:endParaRPr lang="en-US" sz="10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CA3CBA4-6E1C-7331-5C98-8730EF3B00E7}"/>
              </a:ext>
            </a:extLst>
          </p:cNvPr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D2C06DD-38EB-521B-3E2F-4FFB5D184B76}"/>
              </a:ext>
            </a:extLst>
          </p:cNvPr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9A72516-BA90-3527-9B20-08BB3B104E3C}"/>
              </a:ext>
            </a:extLst>
          </p:cNvPr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Cases</a:t>
            </a:r>
            <a:endParaRPr lang="en-US" sz="10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B9591BE-4473-F514-2BA8-DF8EBC13BFBB}"/>
              </a:ext>
            </a:extLst>
          </p:cNvPr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DD7FF90-D984-57A7-4EB6-DB23E3AEDF6D}"/>
              </a:ext>
            </a:extLst>
          </p:cNvPr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EB814E1-8333-EA1B-24BF-6885EEC0FD04}"/>
              </a:ext>
            </a:extLst>
          </p:cNvPr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Breach Cases</a:t>
            </a:r>
            <a:endParaRPr lang="en-US" sz="10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B6B9B1B-4B34-4E3B-5318-C8EDDF42F522}"/>
              </a:ext>
            </a:extLst>
          </p:cNvPr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5D58784-4257-AC9C-D260-4EC5198E9F5A}"/>
              </a:ext>
            </a:extLst>
          </p:cNvPr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3CEF56E-82BF-BE57-7A45-B780DC5FFE46}"/>
              </a:ext>
            </a:extLst>
          </p:cNvPr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graphicFrame>
        <p:nvGraphicFramePr>
          <p:cNvPr id="17" name="Table 0">
            <a:extLst>
              <a:ext uri="{FF2B5EF4-FFF2-40B4-BE49-F238E27FC236}">
                <a16:creationId xmlns:a16="http://schemas.microsoft.com/office/drawing/2014/main" id="{32681362-619D-6E3A-9BA4-89C3E72C56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826723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 of Incidents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Primary RCA Driver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Unknown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Unknown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None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>
            <a:extLst>
              <a:ext uri="{FF2B5EF4-FFF2-40B4-BE49-F238E27FC236}">
                <a16:creationId xmlns:a16="http://schemas.microsoft.com/office/drawing/2014/main" id="{7967299A-64C8-EE0F-1E9D-1215AD87427C}"/>
              </a:ext>
            </a:extLst>
          </p:cNvPr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5254C37-C991-5EAD-E82E-7C19FBE7A4AC}"/>
              </a:ext>
            </a:extLst>
          </p:cNvPr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69681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230</Words>
  <Application>Microsoft Office PowerPoint</Application>
  <PresentationFormat>Widescreen</PresentationFormat>
  <Paragraphs>73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Ankit Mathuria</cp:lastModifiedBy>
  <cp:revision>4</cp:revision>
  <dcterms:created xsi:type="dcterms:W3CDTF">2026-07-16T06:49:37Z</dcterms:created>
  <dcterms:modified xsi:type="dcterms:W3CDTF">2026-07-21T09:05:57Z</dcterms:modified>
</cp:coreProperties>
</file>