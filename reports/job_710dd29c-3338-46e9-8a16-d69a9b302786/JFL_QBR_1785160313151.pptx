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86" r:id="rId6"/>
    <p:sldId id="307" r:id="rId107"/>
    <p:sldId id="308" r:id="rId108"/>
    <p:sldId id="309" r:id="rId109"/>
    <p:sldId id="310" r:id="rId110"/>
    <p:sldId id="311" r:id="rId111"/>
    <p:sldId id="312" r:id="rId112"/>
    <p:sldId id="313" r:id="rId113"/>
    <p:sldId id="314" r:id="rId114"/>
    <p:sldId id="315" r:id="rId115"/>
    <p:sldId id="316" r:id="rId116"/>
    <p:sldId id="317" r:id="rId117"/>
    <p:sldId id="318" r:id="rId118"/>
    <p:sldId id="319" r:id="rId119"/>
    <p:sldId id="320" r:id="rId120"/>
    <p:sldId id="321" r:id="rId121"/>
    <p:sldId id="322" r:id="rId122"/>
    <p:sldId id="323" r:id="rId123"/>
    <p:sldId id="324" r:id="rId124"/>
    <p:sldId id="325" r:id="rId125"/>
    <p:sldId id="326" r:id="rId126"/>
    <p:sldId id="327" r:id="rId127"/>
    <p:sldId id="285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109" Type="http://schemas.openxmlformats.org/officeDocument/2006/relationships/slide" Target="slides/slide9.xml"/><Relationship Id="rId110" Type="http://schemas.openxmlformats.org/officeDocument/2006/relationships/slide" Target="slides/slide10.xml"/><Relationship Id="rId111" Type="http://schemas.openxmlformats.org/officeDocument/2006/relationships/slide" Target="slides/slide11.xml"/><Relationship Id="rId112" Type="http://schemas.openxmlformats.org/officeDocument/2006/relationships/slide" Target="slides/slide12.xml"/><Relationship Id="rId113" Type="http://schemas.openxmlformats.org/officeDocument/2006/relationships/slide" Target="slides/slide13.xml"/><Relationship Id="rId114" Type="http://schemas.openxmlformats.org/officeDocument/2006/relationships/slide" Target="slides/slide14.xml"/><Relationship Id="rId115" Type="http://schemas.openxmlformats.org/officeDocument/2006/relationships/slide" Target="slides/slide15.xml"/><Relationship Id="rId116" Type="http://schemas.openxmlformats.org/officeDocument/2006/relationships/slide" Target="slides/slide16.xml"/><Relationship Id="rId117" Type="http://schemas.openxmlformats.org/officeDocument/2006/relationships/slide" Target="slides/slide17.xml"/><Relationship Id="rId118" Type="http://schemas.openxmlformats.org/officeDocument/2006/relationships/slide" Target="slides/slide18.xml"/><Relationship Id="rId119" Type="http://schemas.openxmlformats.org/officeDocument/2006/relationships/slide" Target="slides/slide19.xml"/><Relationship Id="rId120" Type="http://schemas.openxmlformats.org/officeDocument/2006/relationships/slide" Target="slides/slide20.xml"/><Relationship Id="rId121" Type="http://schemas.openxmlformats.org/officeDocument/2006/relationships/slide" Target="slides/slide21.xml"/><Relationship Id="rId122" Type="http://schemas.openxmlformats.org/officeDocument/2006/relationships/slide" Target="slides/slide22.xml"/><Relationship Id="rId123" Type="http://schemas.openxmlformats.org/officeDocument/2006/relationships/slide" Target="slides/slide23.xml"/><Relationship Id="rId124" Type="http://schemas.openxmlformats.org/officeDocument/2006/relationships/slide" Target="slides/slide24.xml"/><Relationship Id="rId125" Type="http://schemas.openxmlformats.org/officeDocument/2006/relationships/slide" Target="slides/slide25.xml"/><Relationship Id="rId126" Type="http://schemas.openxmlformats.org/officeDocument/2006/relationships/slide" Target="slides/slide26.xml"/><Relationship Id="rId127" Type="http://schemas.openxmlformats.org/officeDocument/2006/relationships/slide" Target="slides/slide2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98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AA7-4168-A00E-7F34F16E58CD}"/>
              </c:ext>
            </c:extLst>
          </c:dPt>
          <c:dPt>
            <c:idx val="1"/>
            <c:bubble3D val="0"/>
            <c:spPr>
              <a:solidFill>
                <a:srgbClr val="C046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A7-4168-A00E-7F34F16E58CD}"/>
              </c:ext>
            </c:extLst>
          </c:dPt>
          <c:dPt>
            <c:idx val="2"/>
            <c:bubble3D val="0"/>
            <c:spPr>
              <a:solidFill>
                <a:srgbClr val="E29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AA7-4168-A00E-7F34F16E58CD}"/>
              </c:ext>
            </c:extLst>
          </c:dPt>
          <c:cat>
            <c:strRef>
              <c:f>Sheet1!$A$2:$A$4</c:f>
              <c:strCache>
                <c:ptCount val="3"/>
                <c:pt idx="0">
                  <c:v>Device Power Issues</c:v>
                </c:pt>
                <c:pt idx="1">
                  <c:v>ISP Issue</c:v>
                </c:pt>
                <c:pt idx="2">
                  <c:v>Client Side Activity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AA7-4168-A00E-7F34F16E5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801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BC3F7-65C8-4FB7-AACA-8C88C9355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B15F4-506F-E795-F3DE-0B0C35BE8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AC2F2-2544-0CBE-9F05-B3DD5B570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66583-6605-655A-8A6D-EB2261D222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5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0F2D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875520" y="-1463040"/>
            <a:ext cx="3840480" cy="3840480"/>
          </a:xfrm>
          <a:prstGeom prst="ellipse">
            <a:avLst/>
          </a:prstGeom>
          <a:solidFill>
            <a:srgbClr val="0098D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778240" y="4206240"/>
            <a:ext cx="2926080" cy="2926080"/>
          </a:xfrm>
          <a:prstGeom prst="ellipse">
            <a:avLst/>
          </a:prstGeom>
          <a:solidFill>
            <a:srgbClr val="0EAE9E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assets/proactive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2004"/>
            <a:ext cx="4327854" cy="6793992"/>
          </a:xfrm>
          <a:prstGeom prst="rect">
            <a:avLst/>
          </a:prstGeom>
        </p:spPr>
      </p:pic>
      <p:pic>
        <p:nvPicPr>
          <p:cNvPr id="7" name="Image 1" descr="assets/cisc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260" y="182880"/>
            <a:ext cx="123444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1798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BUSINESS REVIEW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02920" y="269748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Network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Review</a:t>
            </a:r>
            <a:endParaRPr lang="en-US" sz="3200" dirty="0"/>
          </a:p>
        </p:txBody>
      </p:sp>
      <p:sp>
        <p:nvSpPr>
          <p:cNvPr id="11" name="Shape 7"/>
          <p:cNvSpPr/>
          <p:nvPr/>
        </p:nvSpPr>
        <p:spPr>
          <a:xfrm>
            <a:off x="502920" y="4846320"/>
            <a:ext cx="457200" cy="32004"/>
          </a:xfrm>
          <a:prstGeom prst="rect">
            <a:avLst/>
          </a:prstGeom>
          <a:solidFill>
            <a:srgbClr val="009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50292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FY2026 (7 Apr – 6 Jul 2026)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2920" y="5303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Proactive Data Systems  ·  Presented to JFL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2"><p:bg><p:bgPr><a:solidFill><a:srgbClr val="FFFFFF"/></a:solidFill><a:effectLst/></p:bgPr></p:bg><p:spTree><p:nvGrpSpPr><p:cNvPr id="1" name=""/><p:cNvGrpSpPr/><p:nvPr/></p:nvGrpSpPr><p:grpSpPr><a:xfrm><a:off x="0" y="0"/><a:ext cx="0" cy="0"/><a:chOff x="0" y="0"/><a:chExt cx="0" cy="0"/></a:xfrm></p:grpSpPr><p:sp><p:nvSpPr><p:cNvPr id="2" name="Text 0"/><p:cNvSpPr/><p:nvPr/></p:nvSpPr><p:spPr><a:xfrm><a:off x="502920" y="292608"/><a:ext cx="10058400" cy="274320"/></a:xfrm><a:prstGeom prst="rect"><a:avLst/></a:prstGeom><a:noFill/><a:ln/></p:spPr><p:txBody><a:bodyPr wrap="square" rtlCol="0" anchor="ctr"/><a:lstStyle/><a:p><a:pPr marL="0" indent="0"><a:buNone/></a:pPr><a:r><a:rPr lang="en-US" sz="1200" b="1" kern="0" spc="100" dirty="0"><a:solidFill><a:srgbClr val="0098D8"/></a:solidFill><a:latin typeface="Arial" pitchFamily="34" charset="0"/><a:ea typeface="Arial" pitchFamily="34" charset="-122"/><a:cs typeface="Arial" pitchFamily="34" charset="-120"/></a:rPr><a:t>OVERVIEW</a:t></a:r><a:endParaRPr lang="en-US" sz="1200" dirty="0"/></a:p></p:txBody></p:sp><p:sp><p:nvSpPr><p:cNvPr id="3" name="Text 1"/><p:cNvSpPr/><p:nvPr/></p:nvSpPr><p:spPr><a:xfrm><a:off x="502920" y="548640"/><a:ext cx="11155680" cy="566928"/></a:xfrm><a:prstGeom prst="rect"><a:avLst/></a:prstGeom><a:noFill/><a:ln/></p:spPr><p:txBody><a:bodyPr wrap="square" rtlCol="0" anchor="ctr"/><a:lstStyle/><a:p><a:pPr marL="0" indent="0"><a:buNone/></a:pPr><a:r><a:rPr lang="en-US" sz="2600" b="1" dirty="0"><a:solidFill><a:srgbClr val="0B2440"/></a:solidFill><a:latin typeface="Arial" pitchFamily="34" charset="0"/><a:ea typeface="Arial" pitchFamily="34" charset="-122"/><a:cs typeface="Arial" pitchFamily="34" charset="-120"/></a:rPr><a:t>Executive Summary — All Sites</a:t></a:r><a:endParaRPr lang="en-US" sz="2600" dirty="0"/></a:p></p:txBody></p:sp><p:sp><p:nvSpPr><p:cNvPr id="4" name="Shape 2"/><p:cNvSpPr/><p:nvPr/></p:nvSpPr><p:spPr><a:xfrm><a:off x="502920" y="1170432"/><a:ext cx="11183112" cy="16459"/></a:xfrm><a:prstGeom prst="rect"><a:avLst/></a:prstGeom><a:solidFill><a:srgbClr val="DDE3E9"/></a:solidFill><a:ln/></p:spPr><p:txBody><a:bodyPr/><a:lstStyle/><a:p><a:endParaRPr lang="en-IN"/></a:p></p:txBody></p:sp><p:graphicFrame><p:nvGraphicFramePr><p:cNvPr id="5" name="Table 0"/><p:cNvGraphicFramePr><a:graphicFrameLocks noGrp="1"/></p:cNvGraphicFramePr><p:nvPr><p:extLst><p:ext uri="{D42A27DB-BD31-4B8C-83A1-F6EECF244321}"><p14:modId xmlns:p14="http://schemas.microsoft.com/office/powerpoint/2010/main" val="1925669667"/></p:ext></p:extLst></p:nvPr></p:nvGraphicFramePr><p:xfrm><a:off x="502920" y="1417320"/><a:ext cx="10977880" cy="4211320"/></p:xfrm><a:graphic><a:graphicData uri="http://schemas.openxmlformats.org/drawingml/2006/table"><a:tbl><a:tblPr/><a:tblGrid><a:gridCol w="3200400"><a:extLst><a:ext uri="{9D8B030D-6E8A-4147-A177-3AD203B41FA5}"><a16:colId xmlns:a16="http://schemas.microsoft.com/office/drawing/2014/main" val="20000"/></a:ext></a:extLst></a:gridCol><a:gridCol w="1143000"><a:extLst><a:ext uri="{9D8B030D-6E8A-4147-A177-3AD203B41FA5}"><a16:colId xmlns:a16="http://schemas.microsoft.com/office/drawing/2014/main" val="20001"/></a:ext></a:extLst></a:gridCol><a:gridCol w="1143000"><a:extLst><a:ext uri="{9D8B030D-6E8A-4147-A177-3AD203B41FA5}"><a16:colId xmlns:a16="http://schemas.microsoft.com/office/drawing/2014/main" val="2053469525"/></a:ext></a:extLst></a:gridCol><a:gridCol w="1508760"><a:extLst><a:ext uri="{9D8B030D-6E8A-4147-A177-3AD203B41FA5}"><a16:colId xmlns:a16="http://schemas.microsoft.com/office/drawing/2014/main" val="20002"/></a:ext></a:extLst></a:gridCol><a:gridCol w="2093976"><a:extLst><a:ext uri="{9D8B030D-6E8A-4147-A177-3AD203B41FA5}"><a16:colId xmlns:a16="http://schemas.microsoft.com/office/drawing/2014/main" val="20003"/></a:ext></a:extLst></a:gridCol><a:gridCol w="1888744"><a:extLst><a:ext uri="{9D8B030D-6E8A-4147-A177-3AD203B41FA5}"><a16:colId xmlns:a16="http://schemas.microsoft.com/office/drawing/2014/main" val="167844973"/></a:ext></a:extLst></a:gridCol></a:tblGrid><a:tr h="467360"><a:tc><a:txBody><a:bodyPr/><a:lstStyle/><a:p><a:pPr marL="0" indent="0" algn="ctr"><a:buNone/></a:pPr><a:r><a:rPr lang="en-US" sz="1300" b="1" dirty="0"><a:solidFill><a:srgbClr val="FFFFFF"/></a:solidFill></a:rPr><a:t>Site</a:t></a: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tc><a:txBody><a:bodyPr/><a:lstStyle/><a:p><a:pPr marL="0" indent="0" algn="ctr"><a:buNone/></a:pPr><a:r><a:rPr lang="en-US" sz="1300" b="1" dirty="0"><a:solidFill><a:srgbClr val="FFFFFF"/></a:solidFill></a:rPr><a:t>No of devices</a:t></a: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tc><a:txBody><a:bodyPr/><a:lstStyle/><a:p><a:pPr marL="0" indent="0" algn="ctr"><a:buNone/></a:pPr><a:r><a:rPr lang="en-US" sz="1300" b="1" dirty="0"><a:solidFill><a:srgbClr val="FFFFFF"/></a:solidFill></a:rPr><a:t>Switch Uptime</a:t></a: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tc><a:txBody><a:bodyPr/><a:lstStyle/><a:p><a:pPr marL="0" indent="0" algn="ctr"><a:buNone/></a:pPr><a:r><a:rPr lang="en-US" sz="1300" b="1" dirty="0"><a:solidFill><a:srgbClr val="FFFFFF"/></a:solidFill></a:rPr><a:t>AP Incidents</a:t></a: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tc><a:txBody><a:bodyPr/><a:lstStyle/><a:p><a:pPr marL="0" indent="0" algn="ctr"><a:buNone/></a:pPr><a:r><a:rPr lang="en-US" sz="1300" b="1" dirty="0"><a:solidFill><a:srgbClr val="FFFFFF"/></a:solidFill></a:rPr><a:t>Primary RCA Driver (Switches)</a:t></a: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tc><a:txBody><a:bodyPr/><a:lstStyle/><a:p><a:pPr marL="0" marR="0" lvl="0" indent="0" algn="ctr" defTabSz="914400" rtl="0" eaLnBrk="1" fontAlgn="auto" latinLnBrk="0" hangingPunct="1"><a:lnSpc><a:spcPct val="100000"/></a:lnSpc><a:spcBef><a:spcPts val="0"/></a:spcBef><a:spcAft><a:spcPts val="0"/></a:spcAft><a:buClrTx/><a:buSzTx/><a:buFontTx/><a:buNone/><a:tabLst/><a:defRPr/></a:pPr><a:r><a:rPr lang="en-US" sz="1300" b="1" dirty="0"><a:solidFill><a:srgbClr val="FFFFFF"/></a:solidFill></a:rPr><a:t>Primary RCA Driver (AP)</a:t></a:r><a:endParaRPr lang="en-US" sz="1300" dirty="0"/></a:p><a:p><a:pPr marL="0" indent="0" algn="ctr"><a:buNone/></a:pP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extLst><a:ext uri="{0D108BD9-81ED-4DB2-BD59-A6C34878D82A}"><a16:rowId xmlns:a16="http://schemas.microsoft.com/office/drawing/2014/main" val="10000"/></a:ext></a:extLst></a:tr><a:tr h="467360"><a:t>BANGALORE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182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99.09%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25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extLst><a:ext uri="{0D108BD9-81ED-4DB2-BD59-A6C34878D82A}"><a16:rowId xmlns:a16="http://schemas.microsoft.com/office/drawing/2014/main" val="10001"/></a:ext></a:extLst></a:tr><a:tr h="467360"><a:t>GUWAHATI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5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99.05%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2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extLst><a:ext uri="{0D108BD9-81ED-4DB2-BD59-A6C34878D82A}"><a16:rowId xmlns:a16="http://schemas.microsoft.com/office/drawing/2014/main" val="10002"/></a:ext></a:extLst></a:tr><a:tr h="467360"><a:t>GREATER NOIDA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119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99.19%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57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New Configuration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extLst><a:ext uri="{0D108BD9-81ED-4DB2-BD59-A6C34878D82A}"><a16:rowId xmlns:a16="http://schemas.microsoft.com/office/drawing/2014/main" val="10003"/></a:ext></a:extLst></a:tr><a:tr h="467360"><a:t>NOIDA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82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100.00%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1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New Configuration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extLst><a:ext uri="{0D108BD9-81ED-4DB2-BD59-A6C34878D82A}"><a16:rowId xmlns:a16="http://schemas.microsoft.com/office/drawing/2014/main" val="10004"/></a:ext></a:extLst></a:tr><a:tr h="467360"><a:t>MUMBAI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8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100.00%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0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extLst><a:ext uri="{0D108BD9-81ED-4DB2-BD59-A6C34878D82A}"><a16:rowId xmlns:a16="http://schemas.microsoft.com/office/drawing/2014/main" val="10005"/></a:ext></a:extLst></a:tr><a:tr h="467360"><a:t>HYDERABAD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16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100.00%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0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extLst><a:ext uri="{0D108BD9-81ED-4DB2-BD59-A6C34878D82A}"><a16:rowId xmlns:a16="http://schemas.microsoft.com/office/drawing/2014/main" val="10006"/></a:ext></a:extLst></a:tr><a:tr h="467360"><a:t>MOHALI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19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98.35%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13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extLst><a:ext uri="{0D108BD9-81ED-4DB2-BD59-A6C34878D82A}"><a16:rowId xmlns:a16="http://schemas.microsoft.com/office/drawing/2014/main" val="10007"/></a:ext></a:extLst></a:tr><a:tr h="467360"><a:t>NAGPUR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10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98.23%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4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Third Party Device issue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Client Side Activity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extLst><a:ext uri="{0D108BD9-81ED-4DB2-BD59-A6C34878D82A}"><a16:rowId xmlns:a16="http://schemas.microsoft.com/office/drawing/2014/main" val="10008"/></a:ext></a:extLst></a:tr></a:tbl></a:graphicData></a:graphic></p:graphicFrame><p:sp><p:nvSpPr><p:cNvPr id="6" name="Text 3"/><p:cNvSpPr/><p:nvPr/></p:nvSpPr><p:spPr><a:xfrm><a:off x="502920" y="5806440"/><a:ext cx="11183112" cy="548640"/></a:xfrm><a:prstGeom prst="rect"><a:avLst/></a:prstGeom><a:noFill/><a:ln/></p:spPr><p:txBody><a:bodyPr wrap="square" rtlCol="0" anchor="ctr"/><a:lstStyle/><a:p><a:pPr marL="0" indent="0"><a:buNone/></a:pPr><a:r><a:rPr lang="en-US" sz="1150" i="1" dirty="0"><a:solidFill><a:srgbClr val="5B6B7C"/></a:solidFill><a:latin typeface="Arial" pitchFamily="34" charset="0"/><a:ea typeface="Arial" pitchFamily="34" charset="-122"/><a:cs typeface="Arial" pitchFamily="34" charset="-120"/></a:rPr><a:t>This review consolidates SLA performance, rack and switch uptime, and access-point incident RCA for all eight monitored JFL sites for the period 7 April 2026 – 6 July 2026.</a:t></a:r><a:endParaRPr lang="en-US" sz="1150" dirty="0"/></a:p></p:txBody></p:sp><p:sp><p:nvSpPr><p:cNvPr id="7" name="Text 4"/><p:cNvSpPr/><p:nvPr/></p:nvSpPr><p:spPr><a:xfrm><a:off x="457200" y="6510528"/><a:ext cx="5486400" cy="274320"/></a:xfrm><a:prstGeom prst="rect"><a:avLst/></a:prstGeom><a:noFill/><a:ln/></p:spPr><p:txBody><a:bodyPr wrap="square" rtlCol="0" anchor="ctr"/><a:lstStyle/><a:p><a:pPr marL="0" indent="0" algn="l"><a:buNone/></a:pPr><a:r><a:rPr lang="en-US" sz="900" dirty="0"><a:solidFill><a:srgbClr val="5B6B7C"/></a:solidFill><a:latin typeface="Arial" pitchFamily="34" charset="0"/><a:ea typeface="Arial" pitchFamily="34" charset="-122"/><a:cs typeface="Arial" pitchFamily="34" charset="-120"/></a:rPr><a:t>JFL – Proactive Quarterly Review</a:t></a:r><a:endParaRPr lang="en-US" sz="900" dirty="0"/></a:p></p:txBody></p:sp><p:sp><p:nvSpPr><p:cNvPr id="8" name="Text 5"/><p:cNvSpPr/><p:nvPr/></p:nvSpPr><p:spPr><a:xfrm><a:off x="8991295" y="6510528"/><a:ext cx="2743200" cy="274320"/></a:xfrm><a:prstGeom prst="rect"><a:avLst/></a:prstGeom><a:noFill/><a:ln/></p:spPr><p:txBody><a:bodyPr wrap="square" rtlCol="0" anchor="ctr"/><a:lstStyle/><a:p><a:pPr marL="0" indent="0" algn="r"><a:buNone/></a:pPr><a:r><a:rPr lang="en-US" sz="900" dirty="0"><a:solidFill><a:srgbClr val="5B6B7C"/></a:solidFill><a:latin typeface="Arial" pitchFamily="34" charset="0"/><a:ea typeface="Arial" pitchFamily="34" charset="-122"/><a:cs typeface="Arial" pitchFamily="34" charset="-120"/></a:rPr><a:t>2</a:t></a:r><a:endParaRPr lang="en-US" sz="900" dirty="0"/></a:p></p:txBody></p:sp></p:spTree></p:cSld><p:clrMapOvr><a:masterClrMapping/></p:clrMapOvr>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1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96.89%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99.58%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1F-R1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SIDE-PLANT1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99.86%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2F-R4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99.91%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96.42%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MZ-R2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96.66%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MZ-R1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GF-ETP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99.20%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1F-R4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99.07%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1F-R5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99.66%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99.50%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2F-R5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99.94%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1F-R3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99.07%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1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CORE-1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Q2DW-EM6A-8GPL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CORE-2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Q2DW-FPMF-3AL6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93.78%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GF-R1-SW3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Q2EW-3S9C-VJRW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1F-R1-SW4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Q2EW-5R5B-HEY9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1F-R1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c4:8b:a3:39:16:e0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Q2EW-68N6-HTZ7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Q2EW-78HY-BNUV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Q2EW-78HY-BNUV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Q2MW-CC67-WVEU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Q2MW-CC67-WVEU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SIDE-PLANT2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Q2MW-CRVX-WJD3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Q2MW-DSWB-43BC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Q2MW-DSWB-43BC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SIDE-PLANT1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Q2MW-DT66-3HKL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SIDE-PLANT1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99.86%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2F-R4-SW2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Q2QW-ARKH-HCRT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2F-R4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99.96%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2F-R4-SW1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Q2QW-ATN2-HDQK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2F-R4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1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Q2QW-CAJU-QVKD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Q2QW-CAJU-QVKD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New Configuration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Q2QW-FCH3-EMVG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Q2QW-FCH3-EMVG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Q2QW-FCJL-LJS8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Q2QW-FCJL-LJS8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Q3AC-9EFV-95CH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Q3AC-9EFV-95CH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Q3AC-C4P4-JNC9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Q3AC-C4P4-JNC9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Q3AC-PGZ6-YM5F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Q3AC-PGZ6-YM5F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Q2QW-EXXK-QDZ3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Q2QW-EXXK-QDZ3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Q5AE-KNH9-5GV8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Q5AE-KNH9-5GV8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Q3AC-RQJS-FY3M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Q3AC-RQJS-FY3M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Q3AC-E8LA-PVD4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Q3AC-E8LA-PVD4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Q2QW-CTFM-KEQZ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Q2QW-CTFM-KEQZ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Q2QW-CTFE-E2WF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Q2QW-CTFE-E2WF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0098D8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assets/cisc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286000"/>
            <a:ext cx="2286000" cy="8412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91440" y="36322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Data Systems   ·   www.proactive.co.in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2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Guwahati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99.05%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2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Guwahati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JFL-Guwahati-CORE-02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Q5JG-AQNW-P9FB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98.98%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JFL-Guwahati-CORE-01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Q5JG-ECTW-5MN7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99.12%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2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Guwahati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Q5AA-RM28-C2R8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Q5AA-RM28-C2R8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Q3KG-ZJZJ-WWH5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Q3KG-ZJZJ-WWH5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Q5JG-ECTW-5MN7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Q5JG-ECTW-5MN7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Q5JG-AQNW-P9FB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Q5JG-AQNW-P9FB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3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Greater Noida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97.86%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JFL-GNSC-TR-AC-SW-01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JFL-GNSC-BP-AC-SW-01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96.59%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JFL-GNSC-LT-AC-SW-01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JFL-GNSC-PO-AC-SW-01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JFL-GNSC-RE-AC-SW-01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JFL-GNSC-NCK-AC-SW-02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JFL-GNSC-GF-AC-SW-03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JFL-GNSC-DA-AC-SW-03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JFL-GNSC-CLC-SW-03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JFL-GNSC-RO-SW01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JFL-GNMC-2F-AC-ST-01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JFL-GNMC-TR-AV-SW-01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JFL-GNMC-3F-AC-ST-01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JFL-GNMC-1F-LB-AC-SW-01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JFL-GNMC-GF-AC-ST-01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97.10%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3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Greater Noida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JFL-GNSC-CORE-SW-ST-01 [2]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Q5TN-DGC5-M8QZ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97.54%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JFL-GNSC-CORE-SW-ST-01 [1]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Q5TN-NF5F-N32X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98.19%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JFL-GNSC-TR-AC-SW-01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FJC29021TWN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JFL-GNSC-TR-AC-SW-01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JFL-GNSC-BP-AC-SW-01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FJC290222AL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JFL-GNSC-BP-AC-SW-01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FJC290222SV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96.59%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JFL-GNSC-LT-AC-SW-01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FJC29021TTW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JFL-GNSC-LT-AC-SW-01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JFL-GNSC-PO-AC-SW-01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FJC29021TPQ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JFL-GNSC-PO-AC-SW-01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JFL-GNSC-RE-AC-SW-01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FJC29021TNP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JFL-GNSC-RE-AC-SW-01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JFL-GNSC-NCK-AC-SW-02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FVH2914L0JY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JFL-GNSC-NCK-AC-SW-02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JFL-GNSC-GF-AC-SW-03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FVH2914L0BV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JFL-GNSC-GF-AC-SW-03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JFL-GNSC-DA-AC-SW-03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FVH2914L0QD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JFL-GNSC-DA-AC-SW-03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JFL-GNSC-CLC-SW-03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FVH2913LEGS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JFL-GNSC-CLC-SW-03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3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Greater Noida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Q3KG-JH9T-FL7Z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Q3KG-JH9T-FL7Z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Q3KG-Y2PU-4DWW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Q3KG-Y2PU-4DWW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Q3KG-GWW5-CHJC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Q3KG-GWW5-CHJC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Q5AA-XGDL-V7JB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Q5AA-XGDL-V7JB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Q5AA-FRBE-94N5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Q5AA-FRBE-94N5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Q5AA-LCK3-FDNW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Q5AA-LCK3-FDNW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Q5AA-GHXM-TRTK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Q5AA-GHXM-TRTK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Q5AA-EZ6A-S56Y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Q5AA-EZ6A-S56Y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Q5AR-527V-Z8YR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Q5AR-527V-Z8YR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Q3KG-XSEX-EG6A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Q3KG-XSEX-EG6A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Q5AA-ASYH-AKEA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Q5AA-ASYH-AKEA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Q3KG-8U94-FMUC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Q3KG-8U94-FMUC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4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Noida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97.86%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JFL-GNSC-TR-AC-SW-01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JFL-GNSC-BP-AC-SW-01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96.59%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JFL-GNSC-LT-AC-SW-01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JFL-GNSC-PO-AC-SW-01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JFL-GNSC-RE-AC-SW-01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JFL-GNSC-NCK-AC-SW-02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JFL-GNSC-GF-AC-SW-03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JFL-GNSC-DA-AC-SW-03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JFL-GNSC-CLC-SW-03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JFL-GNSC-RO-SW01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JFL-GNMC-2F-AC-ST-01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JFL-GNMC-TR-AV-SW-01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JFL-GNMC-3F-AC-ST-01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JFL-GNMC-1F-LB-AC-SW-01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JFL-GNMC-GF-AC-ST-01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97.10%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4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Noida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JFL-GNSC-CORE-SW-ST-01 [2]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Q5TN-DGC5-M8QZ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97.54%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JFL-GNSC-CORE-SW-ST-01 [1]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Q5TN-NF5F-N32X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98.19%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JFL-GNSC-TR-AC-SW-01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FJC29021TWN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JFL-GNSC-TR-AC-SW-01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JFL-GNSC-BP-AC-SW-01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FJC290222AL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JFL-GNSC-BP-AC-SW-01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FJC290222SV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96.59%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JFL-GNSC-LT-AC-SW-01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FJC29021TTW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JFL-GNSC-LT-AC-SW-01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JFL-GNSC-PO-AC-SW-01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FJC29021TPQ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JFL-GNSC-PO-AC-SW-01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JFL-GNSC-RE-AC-SW-01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FJC29021TNP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JFL-GNSC-RE-AC-SW-01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JFL-GNSC-NCK-AC-SW-02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FVH2914L0JY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JFL-GNSC-NCK-AC-SW-02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JFL-GNSC-GF-AC-SW-03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FVH2914L0BV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JFL-GNSC-GF-AC-SW-03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JFL-GNSC-DA-AC-SW-03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FVH2914L0QD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JFL-GNSC-DA-AC-SW-03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JFL-GNSC-CLC-SW-03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FVH2913LEGS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JFL-GNSC-CLC-SW-03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4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Noida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Q3KG-JH9T-FL7Z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Q3KG-JH9T-FL7Z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Q3KG-Y2PU-4DWW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Q3KG-Y2PU-4DWW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Q3KG-GWW5-CHJC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Q3KG-GWW5-CHJC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Q5AA-XGDL-V7JB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Q5AA-XGDL-V7JB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Q5AA-FRBE-94N5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Q5AA-FRBE-94N5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Q5AA-LCK3-FDNW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Q5AA-LCK3-FDNW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Q5AA-GHXM-TRTK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Q5AA-GHXM-TRTK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Q5AA-EZ6A-S56Y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Q5AA-EZ6A-S56Y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Q5AR-527V-Z8YR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Q5AR-527V-Z8YR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Q3KG-XSEX-EG6A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Q3KG-XSEX-EG6A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Q5AA-ASYH-AKEA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Q5AA-ASYH-AKEA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Q3KG-8U94-FMUC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Q3KG-8U94-FMUC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5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Mumbai-DC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Default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5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Mumbai-DC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FCW2302L13B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FCW2302L13B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FCW2302G0TL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FCW2302G0TL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FCW2302D0ZJ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FCW2302D0ZJ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FCW2302D0Z7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FCW2302D0Z7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FCW2302AHDZ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FCW2302AHDZ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FCW2302DHGQ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FCW2302DHGQ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FOC2302U0WY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FOC2302U0WY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FCW2302DHTU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FCW2302DHTU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5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Mumbai-DC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6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Hyderabad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6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Hyderabad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JFL-HYD-CORE-2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Q5JJ-GEWQ-X3MG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JFL-HYD-CORE-1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Q5JJ-Q88T-6XC7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6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Hyderabad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7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Mohali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WAREHOUSE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98.87%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TRANSPORT ROOM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95.87%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99.32%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7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Mohali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JFL-MOHALI-ACC-SW-02(Warehouse)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Q3LM-TGAF-Q97P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WAREHOUSE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98.87%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JFL-MOHALI-ACC-SW-01(Transport Room)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Q3LP-2PSJ-6DLB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TRANSPORT ROOM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95.87%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JFL-MOHALI-CORE-02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Q5JG-NJW9-ABBQ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98.65%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JFL-MOHALI-CORE-01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Q5JJ-3TZH-2HV5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7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Mohali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Q3LP-2PSJ-6DLB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Q3LP-2PSJ-6DLB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Q5AR-A7VQ-MZJM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Q5AR-A7VQ-MZJM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Q3KG-9RDD-U5HG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Q3KG-9RDD-U5HG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Q3LM-TGAF-Q97P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Q3LM-TGAF-Q97P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Q5AA-S8HG-F6YT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Q5AA-S8HG-F6YT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Q5JJ-3TZH-2HV5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Q5JJ-3TZH-2HV5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New Configuration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Q5JG-NJW9-ABBQ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Q5JG-NJW9-ABBQ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Q5AA-MHPW-2YA8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Q5AA-MHPW-2YA8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Q5AA-E8FN-53RX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Q5AA-E8FN-53RX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Q5AA-8PQC-7V98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Q5AA-8PQC-7V98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Q5AA-V3D8-DKEG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Q5AA-V3D8-DKEG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Q5AA-GMN6-UE62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Q5AA-GMN6-UE62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New Configuration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8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Nagpur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RACK 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98.45%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RACK 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99.99%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RACK 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96.04%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8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Nagpur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JFL-NAG-SSC-SW04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Q5JG-SL55-CZ9Z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RACK 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99.99%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JFL-NAG-SSC-SW03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Q5JG-STQ9-EUPF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RACK 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99.99%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JFL-NAG-SSC-SW02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Q5JG-TM9S-PLFP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RACK 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96.91%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JFL-NAG-SSC-SW01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Q5JJ-68KZ-MXAS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RACK 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96.04%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8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Nagpur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Q5JJ-68KZ-MXAS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Q5JJ-68KZ-MXAS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Third Party Device issue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Q5JG-TM9S-PLFP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Q5JG-TM9S-PLFP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Q3KG-FBVZ-2RBN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Q3KG-FBVZ-2RBN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Q5JG-SL55-CZ9Z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Q5JG-SL55-CZ9Z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Q5JG-STQ9-EUPF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Q5JG-STQ9-EUPF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Q3KG-P7GS-UMEQ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Q3KG-P7GS-UMEQ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Q3KG-MBCN-DSBC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Q3KG-MBCN-DSBC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Q5AR-4FGW-G4PW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Q5AR-4FGW-G4PW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Q2GW-KK6C-3U9A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Q2GW-KK6C-3U9A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New Configuration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FVH2903L6L7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FVH2903L6L7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230</Words>
  <Application>Microsoft Office PowerPoint</Application>
  <PresentationFormat>Widescreen</PresentationFormat>
  <Paragraphs>73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Ankit Mathuria</cp:lastModifiedBy>
  <cp:revision>4</cp:revision>
  <dcterms:created xsi:type="dcterms:W3CDTF">2026-07-16T06:49:37Z</dcterms:created>
  <dcterms:modified xsi:type="dcterms:W3CDTF">2026-07-21T09:05:57Z</dcterms:modified>
</cp:coreProperties>
</file>