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Bangalore</c:v>
                  </c:pt>
                  <c:pt idx="1">
                    <c:v>Greater No</c:v>
                  </c:pt>
                  <c:pt idx="2">
                    <c:v>Guwahati</c:v>
                  </c:pt>
                  <c:pt idx="3">
                    <c:v>Hyderabad</c:v>
                  </c:pt>
                  <c:pt idx="4">
                    <c:v>Mohali</c:v>
                  </c:pt>
                  <c:pt idx="5">
                    <c:v>Mumbai</c:v>
                  </c:pt>
                  <c:pt idx="6">
                    <c:v>Nagpur</c:v>
                  </c:pt>
                  <c:pt idx="7">
                    <c:v>Noida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70</c:v>
                </c:pt>
                <c:pt idx="1">
                  <c:v>185</c:v>
                </c:pt>
                <c:pt idx="2">
                  <c:v>15</c:v>
                </c:pt>
                <c:pt idx="3">
                  <c:v>0</c:v>
                </c:pt>
                <c:pt idx="4">
                  <c:v>45</c:v>
                </c:pt>
                <c:pt idx="5">
                  <c:v>0</c:v>
                </c:pt>
                <c:pt idx="6">
                  <c:v>42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Priority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F172A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P1 Critical</c:v>
                </c:pt>
                <c:pt idx="1">
                  <c:v>P2 Major</c:v>
                </c:pt>
                <c:pt idx="2">
                  <c:v>P3/P4 Standard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0.001</c:v>
                </c:pt>
                <c:pt idx="1">
                  <c:v>0.001</c:v>
                </c:pt>
                <c:pt idx="2">
                  <c:v>357</c:v>
                </c:pt>
              </c:numCache>
            </c:numRef>
          </c:val>
        </c:ser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SLA Gauge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bubble3D val="0"/>
            <c:spPr>
              <a:solidFill>
                <a:srgbClr val="E2E8F0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SLA Achieved</c:v>
                </c:pt>
                <c:pt idx="1">
                  <c:v>Margin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93.55</c:v>
                </c:pt>
                <c:pt idx="1">
                  <c:v>6.450000000000003</c:v>
                </c:pt>
              </c:numCache>
            </c:numRef>
          </c:val>
        </c:ser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11480"/>
            <a:ext cx="2377440" cy="7498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63040"/>
            <a:ext cx="6035040" cy="4480560"/>
          </a:xfrm>
          <a:prstGeom prst="roundRect">
            <a:avLst>
              <a:gd name="adj" fmla="val 2041"/>
            </a:avLst>
          </a:prstGeom>
          <a:solidFill>
            <a:srgbClr val="33415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182880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Jubilant Foodworks Ltd (JFL)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2B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Monthly Business Review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68680" y="3200400"/>
            <a:ext cx="54864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333756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Period: Monthly Report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Proactive Data Systems Pvt. Ltd.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11480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44805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Generated: 1 October 2026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63040"/>
            <a:ext cx="4690872" cy="44805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www.proactive.co.in  |  Proactive Data Systems Pvt. Ltd.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 — ALL SITES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Consolidated SLA Performance &amp; RCA Driver Summary Across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  <a:gridCol w="1645920"/>
                <a:gridCol w="1645920"/>
                <a:gridCol w="2011680"/>
                <a:gridCol w="1463040"/>
                <a:gridCol w="18562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of 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(Switches)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Incidents (Unique)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 Driver (AP)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96.60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/ 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175 / 56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 / 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 / 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57.02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/ 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/ 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411480" y="5120640"/>
            <a:ext cx="113659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Insights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11480" y="5376672"/>
            <a:ext cx="11365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 sites by JFL Switch Uptime: Hyderabad (100.00%), Mumbai (100.00%), Noida (100.00%).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Bottom sites by JFL Switch Uptime: Nagpur (57.02% BREACH), Guwahati (93.41% BREACH), Mohali (96.08% BREACH).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Largest RCA driver across all sites: Device Power Issues (191 incidents).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AP incident density: Mohali (2.21 incidents per device).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 with the most On Hold tickets: Greater Noida (1 tickets).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Sites with Proactive and JFL Switch Uptime variance &gt; 5%: Guwahati (Proactive: 99.94%, JFL: 93.41%); Nagpur (Proactive: 99.67%, JFL: 57.02%).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11480" y="6263640"/>
            <a:ext cx="11365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review consolidates SLA performance, rack and switch uptime, and access-point incident RCA for all 8 monitored JFL sites for the period Monthly Report.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Jubilant Foodworks Ltd (JFL)  ·  Monthly Report  ·  Quarterly Business Review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Sites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182112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27832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227832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52744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98464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151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98464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Switches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8723376" y="96012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769096" y="103327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277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8769096" y="157459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95.71%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457200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182112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227832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3227832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952744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98464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8723376" y="219456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69096" y="2267712"/>
            <a:ext cx="2606040" cy="5266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93.55%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8769096" y="2809037"/>
            <a:ext cx="2606040" cy="4169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383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20040" y="3383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502920" y="3438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Executive Summary — Monthly Report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920" y="3712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network uptime was 95.71%, marginally below the 99.9% SLA target, requiring corrective action.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 total of 357 incidents were recorded, with Greater Noida contributing the highest volume (185 incidents), primarily driven by Device Power Issues.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502920" y="4114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achieved the strongest health score while Nagpur reported the lowest at 57.62.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320040" y="4892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2" name="Text 39"/>
          <p:cNvSpPr/>
          <p:nvPr/>
        </p:nvSpPr>
        <p:spPr>
          <a:xfrm>
            <a:off x="502920" y="4928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ROOT CAUSE ANALYSIS DRIVERS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11480" y="52852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3977640" y="5321808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Shape 42"/>
          <p:cNvSpPr/>
          <p:nvPr/>
        </p:nvSpPr>
        <p:spPr>
          <a:xfrm>
            <a:off x="3977640" y="5321808"/>
            <a:ext cx="391363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6" name="Text 43"/>
          <p:cNvSpPr/>
          <p:nvPr/>
        </p:nvSpPr>
        <p:spPr>
          <a:xfrm>
            <a:off x="11338560" y="52852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53.5% (191)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11480" y="55778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3977640" y="5614416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Shape 46"/>
          <p:cNvSpPr/>
          <p:nvPr/>
        </p:nvSpPr>
        <p:spPr>
          <a:xfrm>
            <a:off x="3977640" y="5614416"/>
            <a:ext cx="2231136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0" name="Text 47"/>
          <p:cNvSpPr/>
          <p:nvPr/>
        </p:nvSpPr>
        <p:spPr>
          <a:xfrm>
            <a:off x="11338560" y="5577840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30.5% (109)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1480" y="5870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3977640" y="5907024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Shape 50"/>
          <p:cNvSpPr/>
          <p:nvPr/>
        </p:nvSpPr>
        <p:spPr>
          <a:xfrm>
            <a:off x="3977640" y="5907024"/>
            <a:ext cx="453542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4" name="Text 51"/>
          <p:cNvSpPr/>
          <p:nvPr/>
        </p:nvSpPr>
        <p:spPr>
          <a:xfrm>
            <a:off x="11338560" y="5870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6.2% (22)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61630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 issue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3977640" y="6199632"/>
            <a:ext cx="73152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3977640" y="6199632"/>
            <a:ext cx="263347" cy="182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8" name="Text 55"/>
          <p:cNvSpPr/>
          <p:nvPr/>
        </p:nvSpPr>
        <p:spPr>
          <a:xfrm>
            <a:off x="11338560" y="6163056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(13)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NETWORK HEALTH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 Health Assessment Across All Monitored Sites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097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13898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02920" y="1691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84.0</a:t>
            </a:r>
            <a:endParaRPr lang="en-US" sz="4600" dirty="0"/>
          </a:p>
        </p:txBody>
      </p:sp>
      <p:sp>
        <p:nvSpPr>
          <p:cNvPr id="15" name="Text 12"/>
          <p:cNvSpPr/>
          <p:nvPr/>
        </p:nvSpPr>
        <p:spPr>
          <a:xfrm>
            <a:off x="502920" y="24871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977640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23360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95.71%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4023360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936992" y="96012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82712" y="103327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982712" y="163604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977640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23360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93.55%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4023360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Compliance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7936992" y="2286000"/>
            <a:ext cx="3794760" cy="1207008"/>
          </a:xfrm>
          <a:prstGeom prst="roundRect">
            <a:avLst>
              <a:gd name="adj" fmla="val 606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82712" y="2359152"/>
            <a:ext cx="3703320" cy="5793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982712" y="2961924"/>
            <a:ext cx="3703320" cy="4586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320040" y="374904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78561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11480" y="40965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88920" y="413308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2788920" y="4133088"/>
            <a:ext cx="6807068" cy="1828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0"/>
          <p:cNvSpPr/>
          <p:nvPr/>
        </p:nvSpPr>
        <p:spPr>
          <a:xfrm>
            <a:off x="1065276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87.6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11430000" y="409651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11480" y="43891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788920" y="442569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Shape 34"/>
          <p:cNvSpPr/>
          <p:nvPr/>
        </p:nvSpPr>
        <p:spPr>
          <a:xfrm>
            <a:off x="2788920" y="4425696"/>
            <a:ext cx="5505191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5"/>
          <p:cNvSpPr/>
          <p:nvPr/>
        </p:nvSpPr>
        <p:spPr>
          <a:xfrm>
            <a:off x="106527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143000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2788920" y="471830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Shape 39"/>
          <p:cNvSpPr/>
          <p:nvPr/>
        </p:nvSpPr>
        <p:spPr>
          <a:xfrm>
            <a:off x="2788920" y="4718304"/>
            <a:ext cx="5020970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1065276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64.6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11430000" y="46817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11480" y="49743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7" name="Shape 44"/>
          <p:cNvSpPr/>
          <p:nvPr/>
        </p:nvSpPr>
        <p:spPr>
          <a:xfrm>
            <a:off x="2788920" y="5010912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5"/>
          <p:cNvSpPr/>
          <p:nvPr/>
        </p:nvSpPr>
        <p:spPr>
          <a:xfrm>
            <a:off x="1065276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1430000" y="4974336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11480" y="5266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2788920" y="5303520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2" name="Shape 49"/>
          <p:cNvSpPr/>
          <p:nvPr/>
        </p:nvSpPr>
        <p:spPr>
          <a:xfrm>
            <a:off x="2788920" y="5303520"/>
            <a:ext cx="4510324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3" name="Text 50"/>
          <p:cNvSpPr/>
          <p:nvPr/>
        </p:nvSpPr>
        <p:spPr>
          <a:xfrm>
            <a:off x="1065276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58.0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11430000" y="526694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55" name="Text 52"/>
          <p:cNvSpPr/>
          <p:nvPr/>
        </p:nvSpPr>
        <p:spPr>
          <a:xfrm>
            <a:off x="411480" y="55595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4"/>
          <p:cNvSpPr/>
          <p:nvPr/>
        </p:nvSpPr>
        <p:spPr>
          <a:xfrm>
            <a:off x="2788920" y="5596128"/>
            <a:ext cx="7772400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58" name="Text 55"/>
          <p:cNvSpPr/>
          <p:nvPr/>
        </p:nvSpPr>
        <p:spPr>
          <a:xfrm>
            <a:off x="1065276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11430000" y="5559552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  <p:sp>
        <p:nvSpPr>
          <p:cNvPr id="60" name="Text 57"/>
          <p:cNvSpPr/>
          <p:nvPr/>
        </p:nvSpPr>
        <p:spPr>
          <a:xfrm>
            <a:off x="411480" y="58521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2788920" y="5888736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2" name="Shape 59"/>
          <p:cNvSpPr/>
          <p:nvPr/>
        </p:nvSpPr>
        <p:spPr>
          <a:xfrm>
            <a:off x="2788920" y="5888736"/>
            <a:ext cx="4478457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3" name="Text 60"/>
          <p:cNvSpPr/>
          <p:nvPr/>
        </p:nvSpPr>
        <p:spPr>
          <a:xfrm>
            <a:off x="1065276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11430000" y="5852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850" dirty="0"/>
          </a:p>
        </p:txBody>
      </p:sp>
      <p:sp>
        <p:nvSpPr>
          <p:cNvPr id="65" name="Text 62"/>
          <p:cNvSpPr/>
          <p:nvPr/>
        </p:nvSpPr>
        <p:spPr>
          <a:xfrm>
            <a:off x="411480" y="61447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66" name="Shape 63"/>
          <p:cNvSpPr/>
          <p:nvPr/>
        </p:nvSpPr>
        <p:spPr>
          <a:xfrm>
            <a:off x="2788920" y="6181344"/>
            <a:ext cx="7772400" cy="1828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Shape 64"/>
          <p:cNvSpPr/>
          <p:nvPr/>
        </p:nvSpPr>
        <p:spPr>
          <a:xfrm>
            <a:off x="2788920" y="6181344"/>
            <a:ext cx="7770068" cy="1828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8" name="Text 65"/>
          <p:cNvSpPr/>
          <p:nvPr/>
        </p:nvSpPr>
        <p:spPr>
          <a:xfrm>
            <a:off x="1065276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100.0</a:t>
            </a:r>
            <a:endParaRPr lang="en-US" sz="850" dirty="0"/>
          </a:p>
        </p:txBody>
      </p:sp>
      <p:sp>
        <p:nvSpPr>
          <p:cNvPr id="69" name="Text 66"/>
          <p:cNvSpPr/>
          <p:nvPr/>
        </p:nvSpPr>
        <p:spPr>
          <a:xfrm>
            <a:off x="11430000" y="614476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SUMMARY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Production Devices vs. Stock Inventory — SLA Exclusion Analysis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434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401568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(In-SLA)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345936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(Excl. SLA)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5047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290304" y="1548994"/>
            <a:ext cx="2697480" cy="3995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Coverage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17627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21284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INVENTORY BY SITE — EXCLUDED FROM SLA CALCULATIONS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11480" y="2651760"/>
            <a:ext cx="113659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inventory devices registered in this reporting period.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20040" y="603504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20040" y="603504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5"/>
          <p:cNvSpPr/>
          <p:nvPr/>
        </p:nvSpPr>
        <p:spPr>
          <a:xfrm>
            <a:off x="502920" y="608990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Inventory Insight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920" y="636422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Total monitored device estate: 434 devices across 8 sites.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656539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434 devices (100.0%) are production-active and subject to SLA accountability.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2920" y="67665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0 stock/spare devices are excluded from SLA penalty calculations per operational specification.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 Volume, Site Distribution &amp; Category Breakdown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Closed/Resolved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SITE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411480" y="237744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INCIDENTS BY PRIORITY BREAKDOWN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7498080" y="2377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Shape 24"/>
          <p:cNvSpPr/>
          <p:nvPr/>
        </p:nvSpPr>
        <p:spPr>
          <a:xfrm>
            <a:off x="320040" y="555955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320040" y="555955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6"/>
          <p:cNvSpPr/>
          <p:nvPr/>
        </p:nvSpPr>
        <p:spPr>
          <a:xfrm>
            <a:off x="502920" y="561441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Overview — Key Findings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502920" y="588873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total incidents were recorded during the reporting period.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02920" y="60899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contributed the highest incident volume with 185 incidents.</a:t>
            </a:r>
            <a:endParaRPr lang="en-US" sz="850" dirty="0"/>
          </a:p>
        </p:txBody>
      </p:sp>
      <p:sp>
        <p:nvSpPr>
          <p:cNvPr id="34" name="Text 29"/>
          <p:cNvSpPr/>
          <p:nvPr/>
        </p:nvSpPr>
        <p:spPr>
          <a:xfrm>
            <a:off x="502920" y="62910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355 incidents (99.4%) were resolved and closed.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 ANALYSIS — PARETO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Drivers by Frequency &amp; Cumulative Percentage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11480" y="960120"/>
          <a:ext cx="7132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7680960" y="960120"/>
            <a:ext cx="44622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0" y="996696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FREQUENCY TABLE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325880"/>
          <a:ext cx="446227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7772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30.5%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Boot Issues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Hardware Component Failures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0"/>
          <p:cNvSpPr/>
          <p:nvPr/>
        </p:nvSpPr>
        <p:spPr>
          <a:xfrm>
            <a:off x="320040" y="47731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1"/>
          <p:cNvSpPr/>
          <p:nvPr/>
        </p:nvSpPr>
        <p:spPr>
          <a:xfrm>
            <a:off x="502920" y="48097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REMEDIATION RECOMMENDATIONS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11480" y="5138928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1480" y="5138928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411480" y="5193792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188720" y="5193792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Issues: Inspect and replace faulty UPS/power infrastructure. Schedule preventive power audits.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10515600" y="5193792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411480" y="5522976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11480" y="5522976"/>
            <a:ext cx="685800" cy="32918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19"/>
          <p:cNvSpPr/>
          <p:nvPr/>
        </p:nvSpPr>
        <p:spPr>
          <a:xfrm>
            <a:off x="411480" y="5577840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188720" y="5577840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Activity: High-frequency RCA (30.5%). Conduct root cause workshop with operations team.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10515600" y="5577840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411480" y="5907024"/>
            <a:ext cx="11365992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11480" y="5907024"/>
            <a:ext cx="68580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4"/>
          <p:cNvSpPr/>
          <p:nvPr/>
        </p:nvSpPr>
        <p:spPr>
          <a:xfrm>
            <a:off x="411480" y="5961888"/>
            <a:ext cx="685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1188720" y="5961888"/>
            <a:ext cx="9235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Configuration: Deploy firmware updates. Enforce change management for configuration changes.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10515600" y="5961888"/>
            <a:ext cx="121615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RCA INCIDENT HEATMAP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vs. Root Cause Category — Incident Frequency Matrix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031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21488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Power Issue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79476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1"/>
          <p:cNvSpPr/>
          <p:nvPr/>
        </p:nvSpPr>
        <p:spPr>
          <a:xfrm>
            <a:off x="384048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Side Activi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48640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3"/>
          <p:cNvSpPr/>
          <p:nvPr/>
        </p:nvSpPr>
        <p:spPr>
          <a:xfrm>
            <a:off x="553212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Configuration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717804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Device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86968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7"/>
          <p:cNvSpPr/>
          <p:nvPr/>
        </p:nvSpPr>
        <p:spPr>
          <a:xfrm>
            <a:off x="891540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Boot Issues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10561320" y="1005840"/>
            <a:ext cx="16459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19"/>
          <p:cNvSpPr/>
          <p:nvPr/>
        </p:nvSpPr>
        <p:spPr>
          <a:xfrm>
            <a:off x="10607040" y="1060704"/>
            <a:ext cx="1581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274320" y="1435608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0040" y="154533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103120" y="1435608"/>
            <a:ext cx="164592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488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79476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3212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717804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0" y="143560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561320" y="1435608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07040" y="1545336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274320" y="1911096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0040" y="20208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210312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14884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794760" y="1911096"/>
            <a:ext cx="1645920" cy="43891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84048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548640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53212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717804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869680" y="191109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15400" y="202082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0561320" y="1911096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74320" y="2386584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20040" y="2496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Guwahati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2103120" y="2386584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14884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3794760" y="2386584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40480" y="2496312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548640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17804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886968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561320" y="238658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74320" y="2862072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29718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21031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379476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48640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17804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86968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10561320" y="2862072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274320" y="3337560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20040" y="3447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Mohali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2103120" y="3337560"/>
            <a:ext cx="164592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1488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69" name="Shape 66"/>
          <p:cNvSpPr/>
          <p:nvPr/>
        </p:nvSpPr>
        <p:spPr>
          <a:xfrm>
            <a:off x="3794760" y="3337560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84048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1" name="Shape 68"/>
          <p:cNvSpPr/>
          <p:nvPr/>
        </p:nvSpPr>
        <p:spPr>
          <a:xfrm>
            <a:off x="548640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717804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8869680" y="3337560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10561320" y="3337560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607040" y="3447288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274320" y="3813048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320040" y="392277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900" dirty="0"/>
          </a:p>
        </p:txBody>
      </p:sp>
      <p:sp>
        <p:nvSpPr>
          <p:cNvPr id="78" name="Shape 75"/>
          <p:cNvSpPr/>
          <p:nvPr/>
        </p:nvSpPr>
        <p:spPr>
          <a:xfrm>
            <a:off x="21031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79476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48640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17804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86968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561320" y="3813048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274320" y="4288536"/>
            <a:ext cx="178308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20040" y="439826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900" dirty="0"/>
          </a:p>
        </p:txBody>
      </p:sp>
      <p:sp>
        <p:nvSpPr>
          <p:cNvPr id="86" name="Shape 83"/>
          <p:cNvSpPr/>
          <p:nvPr/>
        </p:nvSpPr>
        <p:spPr>
          <a:xfrm>
            <a:off x="21031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21488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8" name="Shape 85"/>
          <p:cNvSpPr/>
          <p:nvPr/>
        </p:nvSpPr>
        <p:spPr>
          <a:xfrm>
            <a:off x="379476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384048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90" name="Shape 87"/>
          <p:cNvSpPr/>
          <p:nvPr/>
        </p:nvSpPr>
        <p:spPr>
          <a:xfrm>
            <a:off x="548640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53212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92" name="Shape 89"/>
          <p:cNvSpPr/>
          <p:nvPr/>
        </p:nvSpPr>
        <p:spPr>
          <a:xfrm>
            <a:off x="7178040" y="4288536"/>
            <a:ext cx="1645920" cy="43891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22376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94" name="Shape 91"/>
          <p:cNvSpPr/>
          <p:nvPr/>
        </p:nvSpPr>
        <p:spPr>
          <a:xfrm>
            <a:off x="886968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891540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6" name="Shape 93"/>
          <p:cNvSpPr/>
          <p:nvPr/>
        </p:nvSpPr>
        <p:spPr>
          <a:xfrm>
            <a:off x="10561320" y="4288536"/>
            <a:ext cx="1645920" cy="43891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10607040" y="4398264"/>
            <a:ext cx="1581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8" name="Shape 95"/>
          <p:cNvSpPr/>
          <p:nvPr/>
        </p:nvSpPr>
        <p:spPr>
          <a:xfrm>
            <a:off x="274320" y="4764024"/>
            <a:ext cx="1783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20040" y="48737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Noida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21031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379476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548640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17804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886968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10561320" y="4764024"/>
            <a:ext cx="1645920" cy="438912"/>
          </a:xfrm>
          <a:prstGeom prst="rect">
            <a:avLst/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3"/>
          <p:cNvSpPr/>
          <p:nvPr/>
        </p:nvSpPr>
        <p:spPr>
          <a:xfrm>
            <a:off x="274320" y="537667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Intensity:</a:t>
            </a:r>
            <a:endParaRPr lang="en-US" sz="850" dirty="0"/>
          </a:p>
        </p:txBody>
      </p:sp>
      <p:sp>
        <p:nvSpPr>
          <p:cNvPr id="107" name="Shape 104"/>
          <p:cNvSpPr/>
          <p:nvPr/>
        </p:nvSpPr>
        <p:spPr>
          <a:xfrm>
            <a:off x="1143000" y="5404104"/>
            <a:ext cx="201168" cy="164592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5"/>
          <p:cNvSpPr/>
          <p:nvPr/>
        </p:nvSpPr>
        <p:spPr>
          <a:xfrm>
            <a:off x="137160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(1-2)</a:t>
            </a:r>
            <a:endParaRPr lang="en-US" sz="850" dirty="0"/>
          </a:p>
        </p:txBody>
      </p:sp>
      <p:sp>
        <p:nvSpPr>
          <p:cNvPr id="109" name="Shape 106"/>
          <p:cNvSpPr/>
          <p:nvPr/>
        </p:nvSpPr>
        <p:spPr>
          <a:xfrm>
            <a:off x="3063240" y="5404104"/>
            <a:ext cx="201168" cy="164592"/>
          </a:xfrm>
          <a:prstGeom prst="rect">
            <a:avLst/>
          </a:prstGeom>
          <a:solidFill>
            <a:srgbClr val="FDE68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Text 107"/>
          <p:cNvSpPr/>
          <p:nvPr/>
        </p:nvSpPr>
        <p:spPr>
          <a:xfrm>
            <a:off x="329184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50" dirty="0"/>
          </a:p>
        </p:txBody>
      </p:sp>
      <p:sp>
        <p:nvSpPr>
          <p:cNvPr id="111" name="Shape 108"/>
          <p:cNvSpPr/>
          <p:nvPr/>
        </p:nvSpPr>
        <p:spPr>
          <a:xfrm>
            <a:off x="4983480" y="5404104"/>
            <a:ext cx="201168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521208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13" name="Shape 110"/>
          <p:cNvSpPr/>
          <p:nvPr/>
        </p:nvSpPr>
        <p:spPr>
          <a:xfrm>
            <a:off x="6903720" y="5404104"/>
            <a:ext cx="201168" cy="164592"/>
          </a:xfrm>
          <a:prstGeom prst="rect">
            <a:avLst/>
          </a:prstGeom>
          <a:solidFill>
            <a:srgbClr val="DC262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713232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8823960" y="5404104"/>
            <a:ext cx="201168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9052560" y="5376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Target: 99.9%  ·  Monthly Report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926080" cy="265176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 w="12700">
            <a:solidFill>
              <a:srgbClr val="DC2626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502920" y="1005840"/>
          <a:ext cx="27432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 9"/>
          <p:cNvSpPr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93.55%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50292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🚨 SLA BREACH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2044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6616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95.71%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56616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Uptime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35508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0080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66.36%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40080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89720" y="960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235440" y="1033272"/>
            <a:ext cx="2606040" cy="59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235440" y="1651406"/>
            <a:ext cx="2606040" cy="4690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Target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320040" y="23317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1"/>
          <p:cNvSpPr/>
          <p:nvPr/>
        </p:nvSpPr>
        <p:spPr>
          <a:xfrm>
            <a:off x="502920" y="23682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SITE-WISE SLA COMPLIANCE OVERVIEW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697480"/>
          <a:ext cx="113659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920240"/>
                <a:gridCol w="1920240"/>
                <a:gridCol w="1645920"/>
                <a:gridCol w="16733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Proactive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 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SLA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99.45%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99.52%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97.13%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98.03%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57.02%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BREACH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 MET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7" name="Shape 22"/>
          <p:cNvSpPr/>
          <p:nvPr/>
        </p:nvSpPr>
        <p:spPr>
          <a:xfrm>
            <a:off x="320040" y="6199632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320040" y="6199632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4"/>
          <p:cNvSpPr/>
          <p:nvPr/>
        </p:nvSpPr>
        <p:spPr>
          <a:xfrm>
            <a:off x="502920" y="6254496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Performance Insight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502920" y="6528816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Overall SLA compliance: 93.55% against a 99.9% target.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502920" y="67299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SLA compliance is below target. Immediate remediation is recommended.</a:t>
            </a:r>
            <a:endParaRPr lang="en-US" sz="850" dirty="0"/>
          </a:p>
        </p:txBody>
      </p:sp>
      <p:sp>
        <p:nvSpPr>
          <p:cNvPr id="32" name="Text 27"/>
          <p:cNvSpPr/>
          <p:nvPr/>
        </p:nvSpPr>
        <p:spPr>
          <a:xfrm>
            <a:off x="502920" y="6931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Network uptime averaged 95.71% across all monitored infrastructure.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Ticket Volume, Priority Distribution &amp; Resolution Performance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357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608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97787"/>
            <a:ext cx="2697480" cy="3648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2029968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66544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INCIDENT TICKETS BY PRIORITY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95728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645920"/>
                <a:gridCol w="1371600"/>
                <a:gridCol w="1188720"/>
                <a:gridCol w="3044952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6144768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20040" y="6144768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4"/>
          <p:cNvSpPr/>
          <p:nvPr/>
        </p:nvSpPr>
        <p:spPr>
          <a:xfrm>
            <a:off x="502920" y="619963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Analytics Insight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357 incident tickets were processed during the reporting period.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Resolution rate: 99.4% — 355 tickets resolved, 2 pending closure.</a:t>
            </a:r>
            <a:endParaRPr lang="en-US" sz="850" dirty="0"/>
          </a:p>
        </p:txBody>
      </p:sp>
      <p:sp>
        <p:nvSpPr>
          <p:cNvPr id="31" name="Text 27"/>
          <p:cNvSpPr/>
          <p:nvPr/>
        </p:nvSpPr>
        <p:spPr>
          <a:xfrm>
            <a:off x="502920" y="687628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 critical (P1) tickets recorded — excellent incident prioritization.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Sites Ranked from Healthiest to Most Critical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011680"/>
                <a:gridCol w="1463040"/>
                <a:gridCol w="1463040"/>
                <a:gridCol w="1463040"/>
                <a:gridCol w="1737360"/>
                <a:gridCol w="24505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Rank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 Uptime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Incident-Free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Incident Count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🥇 1st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🟢 TOP PERFORMER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🥈 2nd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🥉 3rd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 (Excellent)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96.60%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 (Good)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97.13%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41.59%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 (Fair)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93.41%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10.53%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57.02%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🚨 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6692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6692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7241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Ranking — Key Findings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59984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leads the network with the highest health score of 100.00 — strong operational performance.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1996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reported the lowest health score of 57.62 and requires priority intervention.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4008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out of 8 sites are in excellent or good health.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Site-Level Risk Classification with Prioritized Remediation Recommendations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280160"/>
                <a:gridCol w="2286000"/>
                <a:gridCol w="45994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Site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 Score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 Level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Recommendation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57.6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Client Side Activity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Mohali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URGENT: Escalate Device Power Issues failures. Deploy incident response team within 48 hours.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Greater 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70.8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ELEVATED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PRIORITY: Investigate Device Power Issues incidents. Schedule site visit within 2 weeks.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87.6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MODERATE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MONITOR: Review Device Power Issues trends. Consider preventive maintenance scheduling.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Noida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Hyderabad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Mumbai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 / 100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(No Incidents)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Continue standard monitoring. No immediate action required.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11480" y="5715000"/>
            <a:ext cx="201168" cy="16459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9"/>
          <p:cNvSpPr/>
          <p:nvPr/>
        </p:nvSpPr>
        <p:spPr>
          <a:xfrm>
            <a:off x="65836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(Score &gt;= 95)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337560" y="5715000"/>
            <a:ext cx="201168" cy="16459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1"/>
          <p:cNvSpPr/>
          <p:nvPr/>
        </p:nvSpPr>
        <p:spPr>
          <a:xfrm>
            <a:off x="358444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(85-94)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6263640" y="5715000"/>
            <a:ext cx="201168" cy="16459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3"/>
          <p:cNvSpPr/>
          <p:nvPr/>
        </p:nvSpPr>
        <p:spPr>
          <a:xfrm>
            <a:off x="651052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(70-84)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9189720" y="5715000"/>
            <a:ext cx="201168" cy="16459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9436608" y="568756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(Score &lt; 70)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320040" y="594360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0040" y="594360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8"/>
          <p:cNvSpPr/>
          <p:nvPr/>
        </p:nvSpPr>
        <p:spPr>
          <a:xfrm>
            <a:off x="502920" y="599846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Assessment — Executive Summary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02920" y="627278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site(s) require immediate high-risk remediation.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502920" y="64739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systemic risk driver across the estate: Device Power Issues.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502920" y="667512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Proactive intervention at elevated-risk sites will prevent escalation to high-risk status.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96.60%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71.98%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87.58 (Good)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96.60%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72.0%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 of 87.58 indicates moderate risk requiring attention.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Bangalore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Bangalore operates 182 active devices (60 switches, 122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96.60% | Proactive Switch Uptime: 99.45%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96.60%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Q2DW-EM6A-8GPL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Q2DW-FPMF-3AL6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Q2EW-3S9C-VJRW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Q2EW-5R5B-HEY9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Q2EW-68N6-HTZ7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Q2EW-78HY-BNUV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Q2MW-CC67-WVEU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Bangalore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1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BANGALORE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PRO/INC/41597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97.13%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41.59%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70.83 (Fair)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total incidents logged; primary driver: New Configuration.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97.13%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41.6%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70.83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Greater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Greater Noida operates 113 active devices (38 switches, 75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97.13% | Proactive Switch Uptime: 99.52%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[New Configuration]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97.13%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Q5TN-DGC5-M8QZ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Q5TN-NF5F-N32X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FJC29021TWN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FJC290222SV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FJC29021TTW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FJC29021TPQ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New Configuration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2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GREATER NOIDA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PRO/INC/42157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PRO/INC/42933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PRO/INC/44555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JFL-GNSC-AP30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PRO/INC/44719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PRO/INC/44988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JFL-GNSC-CORE-SW-ST-01 [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PRO/INC/45327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JFL-GNSC-AP48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(43.2%). Conduct root cause workshop with operations team.  [Timeline: 14 days]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93.41%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64.60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total incidents logged; primary driver: Device Power Issues.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93.41%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64.60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Guwahati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Guwahati operates 5 active devices (2 switches, 3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93.41% | Proactive Switch Uptime: 99.94%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[Device Power Issues]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93.41%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Q5JG-AQNW-P9FB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99.96%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Q5JG-ECTW-5MN7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Device Power Issues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Guwahati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3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GUWAHATI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PRO/INC/41621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PRO/INC/42634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PRO/INC/45632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PRO/INC/47431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Firmware or Software Bugs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firmware updates. Enforce change management for configuration changes.  [Timeline: 30 days]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Hyderabad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Hyderabad operates 16 active devices (2 switches, 14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Q5JJ-GEWQ-X3MG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Q5JJ-Q88T-6XC7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4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HYDERABAD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Hyderabad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Hyderabad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Hyderabad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96.08%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10.53%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58.03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total incidents logged; primary driver: Client Side Activity.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96.08%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10.5%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58.03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Mohali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Mohali operates 19 active devices (2 switches, 17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96.08% | Proactive Switch Uptime: 98.03%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[Client Side Activity] | APs [Device Power Issues].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96.08%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Q5JG-NJW9-ABBQ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99.98%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Q5JJ-3TZH-2HV5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96.07%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Client Side Activity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Device Power Issues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Mohali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5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MOHALI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PRO/INC/41803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Others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PRO/INC/43076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PRO/INC/45099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PRO/INC/45952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JFL-Mohali-SCC-AP13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JFL-MOHALI-CORE-02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PRO/INC/46728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JFL-MOHALI-ACC-SW-01(Tra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and replace faulty UPS/power infrastructure. Schedule preventive power audits.  [Timeline: 30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Investigate and mitigate Client Side Activity failures.  [Timeline: Q2 FY2026]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100.00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Mumbai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Mumbai operates 8 active devices (8 switches, 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FCW2302L13B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FCW2302G0TL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FCW2302D0ZJ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FCW2302D0Z7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FCW2302AHDZ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FCW2302DHGQ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FOC2302U0WY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6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MUMBAI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Mumbai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Mumbai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Mumbai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57.02%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57.62 (Poor)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BREACH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 total incidents logged; primary driver: Third Party Device issue.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1" name="Text 38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0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Text 43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57.02% — below SLA target of 99.9%.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806440" y="4014216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06440" y="4014216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989320" y="4041648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20.0% of devices are incident-free — investigate recurring failures.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806440" y="4416552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4416552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4443984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health score of 57.62 — immediate intervention recommended.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Nagpur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Nagpur operates 10 active devices (4 switches, 6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57.02% | Proactive Switch Uptime: 99.67% — below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[Third Party Device issue] | APs [Client Side Activity].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57.02%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Q5JG-SL55-CZ9Z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99.92%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Q5JG-STQ9-EUPF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99.94%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Q5JG-TM9S-PLFP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99.61%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99.19%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Operational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Third Party Device issue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Client Side Activity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Nagpur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7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INCIDENT TICKETS — NAGPUR</a:t>
            </a:r>
            <a:endParaRPr lang="en-US" sz="9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359152"/>
          <a:ext cx="113659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560320"/>
                <a:gridCol w="1463040"/>
                <a:gridCol w="1097280"/>
                <a:gridCol w="1097280"/>
                <a:gridCol w="3502152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Ticket #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/ Host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 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PRO/INC/41635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PRO/INC/41715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PRO/INC/44676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PRO/INC/44824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PRO/INC/45528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PRO/INC/45966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PRO/INC/46268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JFL-NAG-SSC-SW02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P4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PRO/INC/46310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NON-CORE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89788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93445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ACTIONS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6236208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11480" y="6236208"/>
            <a:ext cx="59436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11480" y="6272784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1097280" y="6272784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High-frequency RCA (35.7%). Conduct root cause workshop with operations team.  [Timeline: 14 days]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411480" y="6528816"/>
            <a:ext cx="11365992" cy="256032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11480" y="6528816"/>
            <a:ext cx="594360" cy="2560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0"/>
          <p:cNvSpPr/>
          <p:nvPr/>
        </p:nvSpPr>
        <p:spPr>
          <a:xfrm>
            <a:off x="411480" y="656539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097280" y="6565392"/>
            <a:ext cx="10607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hardware audit. Identify end-of-life devices for replacement.  [Timeline: 60 days]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SITE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Operational KPIs, Health Assessment &amp; AI Insights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Devices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Points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523390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JFL Uptime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11480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57200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Incident-Free %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355848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01568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99.97 (Excellent)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401568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Score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00216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45936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345936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 Status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9244584" y="2121408"/>
            <a:ext cx="278892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290304" y="2194560"/>
            <a:ext cx="2697480" cy="482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9290304" y="2684678"/>
            <a:ext cx="2697480" cy="3822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6" name="Text 33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11480" y="3611880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11480" y="3611880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6"/>
          <p:cNvSpPr/>
          <p:nvPr/>
        </p:nvSpPr>
        <p:spPr>
          <a:xfrm>
            <a:off x="594360" y="3639312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uptime at 100.00% — exceeding SLA threshold of 99.9%.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11480" y="4014216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1480" y="4014216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/>
          <p:nvPr/>
        </p:nvSpPr>
        <p:spPr>
          <a:xfrm>
            <a:off x="594360" y="4041648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100.0% of devices remained incident-free.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411480" y="4416552"/>
            <a:ext cx="5120640" cy="347472"/>
          </a:xfrm>
          <a:prstGeom prst="roundRect">
            <a:avLst>
              <a:gd name="adj" fmla="val 13158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11480" y="4416552"/>
            <a:ext cx="73152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5" name="Text 42"/>
          <p:cNvSpPr/>
          <p:nvPr/>
        </p:nvSpPr>
        <p:spPr>
          <a:xfrm>
            <a:off x="594360" y="4443984"/>
            <a:ext cx="484632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health score of 99.97 indicates strong operational stability.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320040" y="3246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7" name="Text 44"/>
          <p:cNvSpPr/>
          <p:nvPr/>
        </p:nvSpPr>
        <p:spPr>
          <a:xfrm>
            <a:off x="502920" y="3282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806440" y="3246120"/>
            <a:ext cx="597103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9" name="Text 46"/>
          <p:cNvSpPr/>
          <p:nvPr/>
        </p:nvSpPr>
        <p:spPr>
          <a:xfrm>
            <a:off x="5897880" y="3282696"/>
            <a:ext cx="5760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RISKS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5806440" y="3611880"/>
            <a:ext cx="5971032" cy="347472"/>
          </a:xfrm>
          <a:prstGeom prst="roundRect">
            <a:avLst>
              <a:gd name="adj" fmla="val 13158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806440" y="3611880"/>
            <a:ext cx="73152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49"/>
          <p:cNvSpPr/>
          <p:nvPr/>
        </p:nvSpPr>
        <p:spPr>
          <a:xfrm>
            <a:off x="5989320" y="3639312"/>
            <a:ext cx="5715000" cy="29260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1D1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critical risks identified. Continue standard monitoring protocols.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320040" y="493776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320040" y="493776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2"/>
          <p:cNvSpPr/>
          <p:nvPr/>
        </p:nvSpPr>
        <p:spPr>
          <a:xfrm>
            <a:off x="502920" y="499262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Site Summary — Noida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02920" y="526694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Noida operates 81 active devices (41 switches, 40 APs).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54681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JFL Switch Uptime: 100.00% | Proactive Switch Uptime: 100.00% — within the 99.9% SLA threshold.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502920" y="56692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Primary RCA Drivers: Switches [Stable Operations (No Incidents)] | APs [Stable Operations (No Incidents)].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OPERATIONAL ANALYTICS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Expanded Switch Uptime Summary &amp; RCA Drivers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100.00%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Switch Uptime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Switches @ 100%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APs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Incidents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EXPANDED RACK-WISE SWITCH UPTIME SUMMARY</a:t>
            </a:r>
            <a:endParaRPr lang="en-US" sz="9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86000"/>
          <a:ext cx="1136599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377440"/>
                <a:gridCol w="3108960"/>
                <a:gridCol w="2011680"/>
                <a:gridCol w="304495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S.No.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RACK NUMBER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SERIAL NUMBER(S)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UPTIME %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OPERATING 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FOC2635Y89T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FOC2647Y151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FOC2646YCRH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FOC2704Y1N8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FOC2704Y3AY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Main Rack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FOC2708YFGS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100.00%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Stable Operations (100% Uptime)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2"/>
          <p:cNvSpPr/>
          <p:nvPr/>
        </p:nvSpPr>
        <p:spPr>
          <a:xfrm>
            <a:off x="320040" y="5486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3"/>
          <p:cNvSpPr/>
          <p:nvPr/>
        </p:nvSpPr>
        <p:spPr>
          <a:xfrm>
            <a:off x="502920" y="5522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11480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(Switches): Stable Operations (No Incidents)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291072" y="5852160"/>
            <a:ext cx="5486400" cy="347472"/>
          </a:xfrm>
          <a:prstGeom prst="roundRect">
            <a:avLst>
              <a:gd name="adj" fmla="val 105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382512" y="59070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(APs): Stable Operations (No Incidents)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 —  INCIDENT &amp; TICKET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Site Review 8 of 8  ·  Top Tickets, RCA Breakdown &amp; Recommended Actions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11480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Tickets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355848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01568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401568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300216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45936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45936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9244584" y="96012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290304" y="103327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90304" y="1472184"/>
            <a:ext cx="2697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(P1)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1993392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2029968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INCIDENT &amp; RCA REVIEW — NOIDA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11480" y="2423160"/>
            <a:ext cx="11365992" cy="1280160"/>
          </a:xfrm>
          <a:prstGeom prst="roundRect">
            <a:avLst>
              <a:gd name="adj" fmla="val 57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256032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INCIDENTS RECORDED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02920" y="297180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Noida achieved 100% operational SLA compliance with zero incident tickets recorded during this reporting period.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39319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39684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ROOT CAUSE DRIVER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11480" y="4343400"/>
            <a:ext cx="1136599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4360" y="4526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RCA Status: Stable Operations (No Incidents)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20040" y="5303520"/>
            <a:ext cx="11548872" cy="813816"/>
          </a:xfrm>
          <a:prstGeom prst="roundRect">
            <a:avLst>
              <a:gd name="adj" fmla="val 674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20040" y="5303520"/>
            <a:ext cx="73152" cy="813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535838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Insight — Noida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920" y="563270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incident tickets recorded for Noida in this reporting period.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920" y="583387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Infrastructure health remains optimal. Continuous proactive monitoring is active.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RECOMMENDATIONS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Remediation Plan Generated from Incident &amp; Health Analytics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96012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" y="99669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 — IMMEDIATE ACTION REQUIRED (0-30 DAYS)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1480" y="1298448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1480" y="1298448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411480" y="13898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051560" y="1353312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Nagpur (Score: 57.62). Conduct on-site audit and deploy rapid response team.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11480" y="1737360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1480" y="1737360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6"/>
          <p:cNvSpPr/>
          <p:nvPr/>
        </p:nvSpPr>
        <p:spPr>
          <a:xfrm>
            <a:off x="411480" y="182880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1051560" y="179222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Mohali (Score: 58.03). Conduct on-site audit and deploy rapid response team.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11480" y="2176272"/>
            <a:ext cx="11365992" cy="384048"/>
          </a:xfrm>
          <a:prstGeom prst="roundRect">
            <a:avLst>
              <a:gd name="adj" fmla="val 11905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1480" y="2176272"/>
            <a:ext cx="548640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411480" y="22677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1051560" y="2231136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health degradation at Guwahati (Score: 64.60). Conduct on-site audit and deploy rapid response team.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0040" y="27432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27797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 — ACTION REQUIRED (30-60 DAYS)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" y="3090672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1480" y="3090672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6"/>
          <p:cNvSpPr/>
          <p:nvPr/>
        </p:nvSpPr>
        <p:spPr>
          <a:xfrm>
            <a:off x="411480" y="316382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1097280" y="3136392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firmware updates. Enforce change management for configuration changes.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11480" y="3493008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" y="3493008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0"/>
          <p:cNvSpPr/>
          <p:nvPr/>
        </p:nvSpPr>
        <p:spPr>
          <a:xfrm>
            <a:off x="411480" y="35661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1097280" y="353872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11480" y="3895344"/>
            <a:ext cx="11365992" cy="347472"/>
          </a:xfrm>
          <a:prstGeom prst="roundRect">
            <a:avLst>
              <a:gd name="adj" fmla="val 1315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11480" y="3895344"/>
            <a:ext cx="594360" cy="34747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4"/>
          <p:cNvSpPr/>
          <p:nvPr/>
        </p:nvSpPr>
        <p:spPr>
          <a:xfrm>
            <a:off x="411480" y="396849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1097280" y="3941064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hardware audit. Identify end-of-life devices for replacement.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320040" y="4343400"/>
            <a:ext cx="11548872" cy="29260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0" name="Text 37"/>
          <p:cNvSpPr/>
          <p:nvPr/>
        </p:nvSpPr>
        <p:spPr>
          <a:xfrm>
            <a:off x="502920" y="4379976"/>
            <a:ext cx="10972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PRIORITY — STANDARD PRACTICE (60-90 DAYS)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11480" y="468172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11480" y="468172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3" name="Text 40"/>
          <p:cNvSpPr/>
          <p:nvPr/>
        </p:nvSpPr>
        <p:spPr>
          <a:xfrm>
            <a:off x="411480" y="473659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1051560" y="471830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network topology documentation for all 8 sites including current device serial inventories.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11480" y="504748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11480" y="504748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7" name="Text 44"/>
          <p:cNvSpPr/>
          <p:nvPr/>
        </p:nvSpPr>
        <p:spPr>
          <a:xfrm>
            <a:off x="411480" y="51023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1051560" y="508406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quarterly stakeholder review meetings with JFL IT leadership to align on operational priorities.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11480" y="5413248"/>
            <a:ext cx="11365992" cy="310896"/>
          </a:xfrm>
          <a:prstGeom prst="roundRect">
            <a:avLst>
              <a:gd name="adj" fmla="val 1176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11480" y="5413248"/>
            <a:ext cx="548640" cy="3108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Text 48"/>
          <p:cNvSpPr/>
          <p:nvPr/>
        </p:nvSpPr>
        <p:spPr>
          <a:xfrm>
            <a:off x="411480" y="54681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52" name="Text 49"/>
          <p:cNvSpPr/>
          <p:nvPr/>
        </p:nvSpPr>
        <p:spPr>
          <a:xfrm>
            <a:off x="1051560" y="54498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proactive monitoring alert threshold tuning to reduce noise and improve incident detection accuracy.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TRACKER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Prioritized Action Items with Ownership, Timeline &amp; Status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11365992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931920"/>
                <a:gridCol w="1828800"/>
                <a:gridCol w="1280160"/>
                <a:gridCol w="1371600"/>
                <a:gridCol w="194767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Owner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Timeline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Impact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Nagpur (Score: 57.62)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Mohali (Score: 58.03)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Critical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Remediate health degradation at Guwahati (Score: 64.60)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Operations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"Device Power Issues" (191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"Client Side Activity" (109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Root cause elimination for "New Configuration" (22 occurrences across all sites)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Infrastructure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Progress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Quarterly firmware update across all network switches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Ops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 FY2026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 placement review at sites with &gt;30% AP incident rate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Wireless Team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D97706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 update — network topology diagrams for all 8 sites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Documentation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 days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948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proactive health check cadence review with JFL stakeholders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 Manager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Ongoing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</a:t>
                      </a:r>
                      <a:endParaRPr lang="en-US" sz="8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320040" y="5897880"/>
            <a:ext cx="11548872" cy="1014984"/>
          </a:xfrm>
          <a:prstGeom prst="roundRect">
            <a:avLst>
              <a:gd name="adj" fmla="val 540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0040" y="5897880"/>
            <a:ext cx="73152" cy="10149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0"/>
          <p:cNvSpPr/>
          <p:nvPr/>
        </p:nvSpPr>
        <p:spPr>
          <a:xfrm>
            <a:off x="502920" y="5952744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 Plan — Executive Note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02920" y="6227064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6 high-priority actions require completion within 30-45 days to prevent SLA degradation.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502920" y="6428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Action ownership has been assigned to respective operational teams. Regular follow-up recommended.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502920" y="662940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This action plan should be reviewed and updated monthly with JFL IT leadership.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1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Q2MW-DT66-3HKL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SIDE-PLANT1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to Enable VLan 9 - GF-ETP-SW1-Port 45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Q2QW-CAJU-QVKD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GF-ETP-SW1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Configuration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Guwahati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Q5AA-RM28-C2R8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JFL-Guwahati-SSC-AP-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Side Activity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Q2QW-CTCG-QKDE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Q2QW-CTMF-ZXMF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2F-R5-SW2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Q3AC-JN66-PSGV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2F-AP04-R4-SW3-24P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Q3AC-9EFV-95CH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2F-AP20-R4-SW2-45P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switches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Q2QW-ARKH-HCRT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2F-R4-SW2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Activity — Change Requests, Maintenance &amp; Non-Hardware Tickets (Page 2 of 2)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51560"/>
          <a:ext cx="1136599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280160"/>
                <a:gridCol w="914400"/>
                <a:gridCol w="1371600"/>
                <a:gridCol w="914400"/>
                <a:gridCol w="176479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 Category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Serial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Type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Hostname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RCA</a:t>
                      </a:r>
                      <a:endParaRPr lang="en-US" sz="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Q3AC-PGZ6-YM5F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2F-AP12-R5-SW2-4P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aps went down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Bangalore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Q3AC-C4P4-JNC9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2F-AP18-R4-SW2-8P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Device Power Issues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dhcp server detected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Meraki Managed Service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Nagpur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563E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Q5JJ-68KZ-MXAS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SW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JFL-NAG-SSC-SW01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Closed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Third Party Device issue</a:t>
                      </a:r>
                      <a:endParaRPr lang="en-US" sz="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54864"/>
            <a:ext cx="8686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— MASTER DATA REFERENCE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D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Governance &amp; Accompanying Audit Logs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0" y="91440"/>
            <a:ext cx="1828800" cy="594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6492240"/>
            <a:ext cx="115488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65379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Proactive Data Systems Pvt. Ltd.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44000" y="6537960"/>
            <a:ext cx="2724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178040" y="653796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Oct 2026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371600" y="1828800"/>
            <a:ext cx="9445752" cy="32004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371600" y="1828800"/>
            <a:ext cx="9445752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1645920" y="1938528"/>
            <a:ext cx="8869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DATA NOTICE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645920" y="2606040"/>
            <a:ext cx="8869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raw device logs, switch inventories, AP breakdowns, and full incident history tables are available in the accompanying Excel/CSV data files.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QBR PPT presentation contains only executive summaries, site-by-site reviews, and strategic action plans to maintain high executive readability.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8304" y="1097280"/>
            <a:ext cx="274320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2B1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Proactive Data Systems   ·   www.proactive.co.in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200400" y="3886200"/>
            <a:ext cx="5788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11480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 Period: Monthly Report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46227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890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Customer: Jubilant Foodworks Ltd (JFL)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809744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Generated: 1 October 2026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603504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5A6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 — This document is intended for authorized recipients only.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2026-09-30T21:41:51Z</dcterms:created>
  <dcterms:modified xsi:type="dcterms:W3CDTF">2026-09-30T21:41:51Z</dcterms:modified>
</cp:coreProperties>
</file>