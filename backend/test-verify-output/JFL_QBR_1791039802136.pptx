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98</c:v>
                </c:pt>
                <c:pt idx="2">
                  <c:v>50</c:v>
                </c:pt>
                <c:pt idx="3">
                  <c:v>55</c:v>
                </c:pt>
                <c:pt idx="4">
                  <c:v>21</c:v>
                </c:pt>
                <c:pt idx="5">
                  <c:v>0</c:v>
                </c:pt>
                <c:pt idx="6">
                  <c:v>16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P1 Critical</c:v>
                </c:pt>
                <c:pt idx="1">
                  <c:v>P2 Major</c:v>
                </c:pt>
                <c:pt idx="2">
                  <c:v>P3/P4 Standard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0.001</c:v>
                </c:pt>
                <c:pt idx="1">
                  <c:v>2</c:v>
                </c:pt>
                <c:pt idx="2">
                  <c:v>248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 Gauge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SLA Achieved</c:v>
                </c:pt>
                <c:pt idx="1">
                  <c:v>Margin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86.25</c:v>
                </c:pt>
                <c:pt idx="1">
                  <c:v>13.75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3341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1 September 2026 – 30 September 2026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3 October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SLA Performance &amp; RCA Driver Summary Across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of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(Switches)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Incidents (Unique)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(AP)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/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92 / 48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67.28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 /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95.58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 / 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98.35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 / 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Planned Upgrade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87.57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74.88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 / 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512064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5376672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sites by JFL Switch Uptime: Mumbai-DC (100.00%), Noida (100.00%), Bangalore (99.76%).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 sites by JFL Switch Uptime: Greater Noida (65.11% BREACH), Guwahati (67.28% BREACH), Nagpur (74.88% BREACH).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RCA driver across all sites: Device Power Issues (123 incidents).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AP incident density: Guwahati (7.00 incidents per device).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with the most On Hold tickets: Greater Noida (8 tickets).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Sites with Proactive and JFL Switch Uptime variance &gt; 5%: Greater Noida (Proactive: 99.86%, JFL: 65.11%); Guwahati (Proactive: 99.60%, JFL: 67.28%); Nagpur (Proactive: 87.57%, JFL: 74.88%).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626364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8 monitored JFL sites for the period 1 September 2026 – 30 September 2026.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Jubilant Foodworks Ltd (JFL)  ·  1 September 2026 – 30 September 2026  ·  Quarterly Business Review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141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96.31%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73.85%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86.25%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Executive Summary — 1 September 2026 – 30 September 2026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network uptime was 96.31%, marginally below the 99.9%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total of 250 incidents were recorded, with Greater Noida contributing the highest volume (98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achieved the strongest health score while Guwahati reported the lowest at 40.62.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2"/>
          <p:cNvSpPr/>
          <p:nvPr/>
        </p:nvSpPr>
        <p:spPr>
          <a:xfrm>
            <a:off x="3977640" y="5321808"/>
            <a:ext cx="3599078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49.2% (123)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Software Bugs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6"/>
          <p:cNvSpPr/>
          <p:nvPr/>
        </p:nvSpPr>
        <p:spPr>
          <a:xfrm>
            <a:off x="3977640" y="5614416"/>
            <a:ext cx="1755648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7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24.0% (60)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0"/>
          <p:cNvSpPr/>
          <p:nvPr/>
        </p:nvSpPr>
        <p:spPr>
          <a:xfrm>
            <a:off x="3977640" y="5907024"/>
            <a:ext cx="790042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10.8% (27)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 (PM) or Planned Upgrade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3977640" y="6199632"/>
            <a:ext cx="585216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8.0% (20)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NETWORK HEALTH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Health Assessment Across All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77640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96.31%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23360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36992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73.85%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982712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77640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0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86.25%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023360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36992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2712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982712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3749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785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1148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88920" y="413308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2788920" y="4133088"/>
            <a:ext cx="7639492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0"/>
          <p:cNvSpPr/>
          <p:nvPr/>
        </p:nvSpPr>
        <p:spPr>
          <a:xfrm>
            <a:off x="1065276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88920" y="442569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2788920" y="4425696"/>
            <a:ext cx="5952881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5"/>
          <p:cNvSpPr/>
          <p:nvPr/>
        </p:nvSpPr>
        <p:spPr>
          <a:xfrm>
            <a:off x="106527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88920" y="471830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2788920" y="4718304"/>
            <a:ext cx="3157149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1065276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40.6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43000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4"/>
          <p:cNvSpPr/>
          <p:nvPr/>
        </p:nvSpPr>
        <p:spPr>
          <a:xfrm>
            <a:off x="2788920" y="5010912"/>
            <a:ext cx="5180305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8" name="Text 45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11480" y="5266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788920" y="5303520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9"/>
          <p:cNvSpPr/>
          <p:nvPr/>
        </p:nvSpPr>
        <p:spPr>
          <a:xfrm>
            <a:off x="2788920" y="5303520"/>
            <a:ext cx="5463220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3" name="Text 50"/>
          <p:cNvSpPr/>
          <p:nvPr/>
        </p:nvSpPr>
        <p:spPr>
          <a:xfrm>
            <a:off x="1065276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70.3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143000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5559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8" name="Text 55"/>
          <p:cNvSpPr/>
          <p:nvPr/>
        </p:nvSpPr>
        <p:spPr>
          <a:xfrm>
            <a:off x="1065276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1143000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411480" y="5852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788920" y="588873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59"/>
          <p:cNvSpPr/>
          <p:nvPr/>
        </p:nvSpPr>
        <p:spPr>
          <a:xfrm>
            <a:off x="2788920" y="5888736"/>
            <a:ext cx="4496333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3" name="Text 60"/>
          <p:cNvSpPr/>
          <p:nvPr/>
        </p:nvSpPr>
        <p:spPr>
          <a:xfrm>
            <a:off x="1065276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57.9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1143000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411480" y="6144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4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8" name="Text 65"/>
          <p:cNvSpPr/>
          <p:nvPr/>
        </p:nvSpPr>
        <p:spPr>
          <a:xfrm>
            <a:off x="1065276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1143000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Production Devices vs. Stock Inventory — SLA Exclusion Analysis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371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83.6%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42032"/>
          <a:ext cx="1136599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496519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Excluded from SLA calculations per business specification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03504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03504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monitored device estate: 444 devices across 8 sites.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371 devices (83.6%) are production-active and subject to SLA accountability.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73 stock/spare devices are excluded from SLA penalty calculations per operational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 Volume, Site Distribution &amp; Category Breakdown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PRIORITY BREAKDOWN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7498080" y="2377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Shape 24"/>
          <p:cNvSpPr/>
          <p:nvPr/>
        </p:nvSpPr>
        <p:spPr>
          <a:xfrm>
            <a:off x="320040" y="555955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555955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250 total incidents were recorded during the reporting period.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contributed the highest incident volume with 98 incidents.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240 incidents (96.0%) were resolved and closed.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 — PARETO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Drivers by Frequency &amp; Cumulative Percentage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960120"/>
            <a:ext cx="44622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99669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Software Bugs: Deploy firmware updates. Enforce change management for configuration changes.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Investigate and mitigate Client Side Activity failures.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INCIDENT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vs. Root Cause Category — Incident Frequency Matrix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or Softwa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91540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14884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84048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53212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223760" y="2971800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4" name="Shape 61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22376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Mumbai-DC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21488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9" name="Shape 86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1" name="Shape 88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891540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8" name="Shape 95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100" name="Shape 97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3" name="Shape 110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5" name="Shape 112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Target: 99.9%  ·  1 September 2026 – 30 September 2026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502920" y="100584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86.25%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SLA BREACH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96.31%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73.85%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40080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3544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23544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920240"/>
                <a:gridCol w="19202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96.06%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65.11%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55.26%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67.28%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95.58%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18.75%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98.35%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26.32%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87.57%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74.88%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20040" y="619963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0040" y="619963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SLA compliance: 86.25% against a 99.9% target.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uptime averaged 96.31%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Ticket Volume, Priority Distribution &amp; Resolution Performance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PRO/INC/64100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PRO/INC/58420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PRO/INC/60166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PRO/INC/60765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PRO/INC/61244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JFL-GNSC-TP-AC-SW-01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PRO/INC/61938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PRO/INC/61942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PRO/INC/62646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250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rate: 96.0% — 240 tickets resolved, 10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Sites Ranked from Healthiest to Most Critical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11680"/>
                <a:gridCol w="1463040"/>
                <a:gridCol w="1463040"/>
                <a:gridCol w="1463040"/>
                <a:gridCol w="173736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🥇 1st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TOP PERFORMER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🥈 2nd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🥉 3rd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96.06%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76.6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65.11%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55.26%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98.35%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26.32%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66.7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95.58%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18.75%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57.9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74.88%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67.28%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reported the lowest health score of 40.62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Site-Level Risk Classification with Prioritized Remediation Recommendations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57.9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Firmware or Software Bugs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66.7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Planned Upgrade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Preventive Maintenance (PM) or Planned Upgrade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76.6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Firmware or Software Bugs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98.3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Mumbai-DC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site(s) require immediate high-risk remediation.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99.76%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96.06%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98.29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99.76%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96.1%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98.29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operates 182 active devices (49 switches, 78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99.76% | Proactive Switch Uptime: 100.00%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[Configuration Errors].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99.76%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Q2EW-5R5B-HEY9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Q2ZP-AP5E-Z83L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Q2ZP-D2D2-VFQK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Q2ZP-D47G-NGKY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Q2QW-EXJY-SE64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Q2QW-CTFE-E2WF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1F-R3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Q2QW-CTFW-5KJ6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Configuration Errors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BANGALORE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PRO/INC/62741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PRO/INC/62978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PRO/INC/63077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PRO/INC/63078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PRO/INC/63079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Z1-SIDE PLANT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PRO/INC/63093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Z1-SIDE PLANT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PRO/INC/63094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PRO/INC/63975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GF-AP45-R03-SW03-30P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Unknown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65.11%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55.26%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76.59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 total incidents logged; primary driver: Client Side Activity.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65.11%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55.3%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 of 76.59 indicates moderate risk requiring attention.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operates 122 active devices (42 switches, 72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65.11% | Proactive Switch Uptime: 99.86%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[Client Side Activity] | APs [Firmware or Software Bugs].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65.11%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Q5TN-NF5F-N32X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JFL-GNMC-1F-LB-AC-SW-01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FCW2110B28C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FCW2110B27F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JFL-GNMC-2F-AC-ST-01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FOC2113V20F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JFL-GNMC-3F-AC-ST-01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FOC2113S2MD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Client Side Activity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Firmware or Software Bugs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PRO/INC/58420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PRO/INC/60166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PRO/INC/60765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PRO/INC/60880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PRO/INC/61244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JFL-GNSC-TP-AC-SW-01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PRO/INC/61938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JFL-GNSC-AP63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PRO/INC/61942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67.28%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40.62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total incidents logged; primary driver: Device Power Issues.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4" name="Text 41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67.28% — below SLA target of 99.9%.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40.62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5" name="Text 52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Recurring Device Power Issues incidents require infrastructure investigation.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operates 5 active devices (2 switches, 3 APs).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67.28% | Proactive Switch Uptime: 99.60% — below the 99.9% SLA threshold.</a:t>
            </a:r>
            <a:endParaRPr lang="en-US" sz="850" dirty="0"/>
          </a:p>
        </p:txBody>
      </p:sp>
      <p:sp>
        <p:nvSpPr>
          <p:cNvPr id="61" name="Text 58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67.28%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Q5JG-AQNW-P9FB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PRO/INC/62646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PRO/INC/62654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PRO/INC/62797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PRO/INC/63345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PRO/INC/63367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95.58%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18.75%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66.65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95.58%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18.8%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66.65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operates 16 active devices (2 switches, 14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95.58% | Proactive Switch Uptime: 99.81%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95.58%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Q5JJ-GEWQ-X3MG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99.87%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Q5JJ-Q88T-6XC7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99.74%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HYDERABAD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PRO/INC/62988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JFL-HYD-CORE-2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PRO/INC/62989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JFL-HYD-CORE-1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JFL-HYD-SCC-AP14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PRO/INC/63053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JFL-HYD-SCC-AP07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Client Side Activity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98.35%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26.32%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70.29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total incidents logged; primary driver: Configuration Errors.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98.35%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26.3%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70.29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Mohali operates 19 active devices (4 switches, 15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98.35% | Proactive Switch Uptime: 100.00%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[Configuration Errors] | APs [Preventive Maintenance (PM) or Planned Upgrade].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98.35%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Q5JG-NJW9-ABBQ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Q5JJ-3TZH-2HV5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TRANSPORT ROOM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Q3LP-2PSJ-6DLB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WAREHOUSE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Q3LM-TGAF-Q97P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Configuration Errors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Preventive Maintenance (PM) or Planned Upgrade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Configuration Errors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PRO/INC/63538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PRO/INC/63610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PRO/INC/63611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PRO/INC/63612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PRO/INC/64201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PRO/INC/64203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PRO/INC/64206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Preventive Maintenance (PM) or Plan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(61.9%).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Mumbai-DC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Mumbai-DC operates 8 active devices (4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MUMBAI-DC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Mumbai-DC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Mumbai-DC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Mumbai-DC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74.88%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57.85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total incidents logged; primary driver: Third Party Device issue.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74.88%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10.0%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57.85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operates 10 active devices (4 switches, 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74.88% | Proactive Switch Uptime: 87.57%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[Third Party Device issue] | APs [Firmware or Software Bugs].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74.88%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75.09%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Q5JG-SL55-CZ9Z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Q5JG-TM9S-PLFP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75.21%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Q5JG-STQ9-EUPF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Third Party Device issue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Firmware or Software Bugs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NAGPUR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PRO/INC/62666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PRO/INC/62790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PRO/INC/62979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PRO/INC/63080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PRO/INC/63507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PRO/INC/63820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PRO/INC/63837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JFL-NAG-SSC-AP02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PRO/INC/63839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JFL-NAG-SCC-AP01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Noida operates 82 active devices (40 switches, 36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FVH2903LAA9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JFL-15F-AP-Switch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FOC2710Y261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FOC2714Z681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FOC2716YN3W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FOC2716YLLY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FOC2716YLM7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JFL-15F-L2-Stack1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FOC2714Z5B8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NOIDA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Noida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Noida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Priority-Based Remediation Plan Generated from Incident &amp; Health Analytics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5331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40.62). Conduct on-site audit and deploy rapid response team.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79222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Nagpur (Score: 57.85). Conduct on-site audit and deploy rapid response team.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31136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Hyderabad (Score: 66.65). Conduct on-site audit and deploy rapid response team.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363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387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Client Side Activity failures.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41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mitigate Preventive Maintenance (PM) or Planned Upgrade failures.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1830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8406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498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accuracy.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TRACKER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Prioritized Action Items with Ownership, Timeline &amp; Status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828800"/>
                <a:gridCol w="1280160"/>
                <a:gridCol w="137160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Guwahati (Score: 40.62)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Nagpur (Score: 57.85)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Hyderabad (Score: 66.65)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"Device Power Issues" (123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"Firmware or Software Bugs" (60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"Client Side Activity" (27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 firmware update across all network switches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 FY2026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placement review at sites with &gt;30% AP incident rate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Wireless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update — network topology diagrams for all 8 sites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proactive health check cadence review with JFL stakeholders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Manager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Boundary wall and Security block Splicing Work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MASTER DATA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Governance &amp; Accompanying Audit Logs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1828800"/>
            <a:ext cx="94457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193852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DATA NOTICE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45920" y="260604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raw device logs, switch inventories, AP breakdowns, and full incident history tables are available in the accompanying Excel/CSV data files.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QBR PPT presentation contains only executive summaries, site-by-site reviews, and strategic action plans to maintain high executive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Period: 1 September 2026 – 30 September 2026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Generated: 3 October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2026-10-03T15:03:23Z</dcterms:created>
  <dcterms:modified xsi:type="dcterms:W3CDTF">2026-10-03T15:03:23Z</dcterms:modified>
</cp:coreProperties>
</file>