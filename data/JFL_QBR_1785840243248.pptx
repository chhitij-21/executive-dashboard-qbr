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2979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</c:v>
                </c:pt>
                <c:pt idx="1">
                  <c:v>230</c:v>
                </c:pt>
                <c:pt idx="2">
                  <c:v>11</c:v>
                </c:pt>
                <c:pt idx="3">
                  <c:v>5</c:v>
                </c:pt>
                <c:pt idx="4">
                  <c:v>55</c:v>
                </c:pt>
                <c:pt idx="5">
                  <c:v>0</c:v>
                </c:pt>
                <c:pt idx="6">
                  <c:v>50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1C3B60"/>
          </a:solidFill>
          <a:ln w="12700">
            <a:solidFill>
              <a:srgbClr val="2979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C3B60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QBR Report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100584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0584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17043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1078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137160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overall health, and AI-generated executive narrative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0" y="12070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175564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5564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92024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1828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Overview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21214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health, device inventory, and per-site infrastructure breakdown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058400" y="195681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4–6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50545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250545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267004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2578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RCA Analysis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88720" y="287121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trends, root cause Pareto analysis, and site-RCA heatmap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27066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7–9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1480" y="3255264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3255264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341985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88720" y="33284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Ticket Analytics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88720" y="36210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compliance, MTTR, and ticket management summary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58400" y="345643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10–11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4005072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4005072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1696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188720" y="40782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&amp; Risk Assessment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88720" y="43708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and traffic-light risk assessment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058400" y="420624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12–13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475488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75488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91947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188720" y="4828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Reviews (8 Sites)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88720" y="512064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per-site operational review, analytics, and incident tickets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58400" y="495604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14–37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550468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1480" y="550468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9" name="Text 46"/>
          <p:cNvSpPr/>
          <p:nvPr/>
        </p:nvSpPr>
        <p:spPr>
          <a:xfrm>
            <a:off x="411480" y="56692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188720" y="55778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Action Plan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88720" y="587044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 and prioritized action tracker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058400" y="57058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38–39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11480" y="625449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1480" y="625449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55" name="Text 52"/>
          <p:cNvSpPr/>
          <p:nvPr/>
        </p:nvSpPr>
        <p:spPr>
          <a:xfrm>
            <a:off x="411480" y="641908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188720" y="63276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Raw Data Logs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188720" y="662025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device inventories, switch/AP logs, and master incident audit trail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058400" y="64556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40–44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 ·  1 July 2026 – 31 July 2026  ·  Quarterly Business Review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481328"/>
          </a:xfrm>
          <a:prstGeom prst="roundRect">
            <a:avLst>
              <a:gd name="adj" fmla="val 3704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481328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Executive Summary — 1 July 2026 – 31 July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network uptime was 95.42%,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total of 423 incidents were recorded, with Greater Noida contributing the highest volume (230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achieved the strongest health score while Nagpur reported the lowest at 55.62.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02920" y="431596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stood at 71.85%; targeted remediation is recommended to meet contractual obligations.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02920" y="45171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61.7% of all monitored devices remained incident-free throughout the reporting period.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7" name="Shape 44"/>
          <p:cNvSpPr/>
          <p:nvPr/>
        </p:nvSpPr>
        <p:spPr>
          <a:xfrm>
            <a:off x="3977640" y="5321808"/>
            <a:ext cx="384048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8" name="Text 45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 (222)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1" name="Shape 48"/>
          <p:cNvSpPr/>
          <p:nvPr/>
        </p:nvSpPr>
        <p:spPr>
          <a:xfrm>
            <a:off x="3977640" y="5614416"/>
            <a:ext cx="2231136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2" name="Text 49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(129)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3977640" y="5907024"/>
            <a:ext cx="38039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6" name="Text 53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 (22)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77640" y="6199632"/>
            <a:ext cx="226771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60" name="Text 57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NETWORK HEALTH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Health Assessment Across All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0F4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81.9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" y="36576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6941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40416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88920" y="407822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0" name="Shape 17"/>
          <p:cNvSpPr/>
          <p:nvPr/>
        </p:nvSpPr>
        <p:spPr>
          <a:xfrm>
            <a:off x="2788920" y="4078224"/>
            <a:ext cx="6633743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1" name="Text 18"/>
          <p:cNvSpPr/>
          <p:nvPr/>
        </p:nvSpPr>
        <p:spPr>
          <a:xfrm>
            <a:off x="1065276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3000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4352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88920" y="438912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5" name="Shape 22"/>
          <p:cNvSpPr/>
          <p:nvPr/>
        </p:nvSpPr>
        <p:spPr>
          <a:xfrm>
            <a:off x="2788920" y="4389120"/>
            <a:ext cx="559846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1065276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88920" y="470001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7"/>
          <p:cNvSpPr/>
          <p:nvPr/>
        </p:nvSpPr>
        <p:spPr>
          <a:xfrm>
            <a:off x="2788920" y="4700016"/>
            <a:ext cx="505439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1065276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3000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788920" y="5010912"/>
            <a:ext cx="6667942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6" name="Text 33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11480" y="5285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88920" y="5321808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0" name="Shape 37"/>
          <p:cNvSpPr/>
          <p:nvPr/>
        </p:nvSpPr>
        <p:spPr>
          <a:xfrm>
            <a:off x="2788920" y="5321808"/>
            <a:ext cx="454452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8"/>
          <p:cNvSpPr/>
          <p:nvPr/>
        </p:nvSpPr>
        <p:spPr>
          <a:xfrm>
            <a:off x="1065276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3000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5596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5" name="Shape 42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3"/>
          <p:cNvSpPr/>
          <p:nvPr/>
        </p:nvSpPr>
        <p:spPr>
          <a:xfrm>
            <a:off x="1065276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143000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11480" y="5907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788920" y="594360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0" name="Shape 47"/>
          <p:cNvSpPr/>
          <p:nvPr/>
        </p:nvSpPr>
        <p:spPr>
          <a:xfrm>
            <a:off x="2788920" y="5943600"/>
            <a:ext cx="4323009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8"/>
          <p:cNvSpPr/>
          <p:nvPr/>
        </p:nvSpPr>
        <p:spPr>
          <a:xfrm>
            <a:off x="1065276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1143000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6217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788920" y="625449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2788920" y="6254496"/>
            <a:ext cx="7724211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Text 53"/>
          <p:cNvSpPr/>
          <p:nvPr/>
        </p:nvSpPr>
        <p:spPr>
          <a:xfrm>
            <a:off x="1065276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43000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114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72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572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33832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4290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34290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3550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008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4008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93268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3726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93726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ALL SITES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SLA Performance &amp; RCA Driver Summary Across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(Switches)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Incidents (Unique)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 / 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/ 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03504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eight monitored JFL sites for the period 1 July 2026 – 31 July 2026.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 Devices vs. Stock Inventory — SLA Exclusion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monitored device estate: 445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373 devices (83.8%)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72 stock/spare devices are excluded from SLA penalty calculations per operational specification.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96772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devices represent spare/replacement capacity. Utilization should be reviewed quarterly.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 Volume, Site Distribution &amp; Category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312664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34924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PRIORITY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406640" y="5687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464040" y="5724144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6"/>
          <p:cNvSpPr/>
          <p:nvPr/>
        </p:nvSpPr>
        <p:spPr>
          <a:xfrm>
            <a:off x="9464040" y="5724144"/>
            <a:ext cx="335604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7"/>
          <p:cNvSpPr/>
          <p:nvPr/>
        </p:nvSpPr>
        <p:spPr>
          <a:xfrm>
            <a:off x="11795760" y="5687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406640" y="5980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464040" y="6016752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4" name="Shape 30"/>
          <p:cNvSpPr/>
          <p:nvPr/>
        </p:nvSpPr>
        <p:spPr>
          <a:xfrm>
            <a:off x="9464040" y="6016752"/>
            <a:ext cx="48638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1"/>
          <p:cNvSpPr/>
          <p:nvPr/>
        </p:nvSpPr>
        <p:spPr>
          <a:xfrm>
            <a:off x="11795760" y="5980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406640" y="6272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64040" y="6309360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8" name="Shape 34"/>
          <p:cNvSpPr/>
          <p:nvPr/>
        </p:nvSpPr>
        <p:spPr>
          <a:xfrm>
            <a:off x="9464040" y="6309360"/>
            <a:ext cx="19455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5"/>
          <p:cNvSpPr/>
          <p:nvPr/>
        </p:nvSpPr>
        <p:spPr>
          <a:xfrm>
            <a:off x="11795760" y="62727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406640" y="6565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9464040" y="6601968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2" name="Shape 38"/>
          <p:cNvSpPr/>
          <p:nvPr/>
        </p:nvSpPr>
        <p:spPr>
          <a:xfrm>
            <a:off x="9464040" y="6601968"/>
            <a:ext cx="7782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39"/>
          <p:cNvSpPr/>
          <p:nvPr/>
        </p:nvSpPr>
        <p:spPr>
          <a:xfrm>
            <a:off x="11795760" y="6565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20040" y="5559552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20040" y="5559552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6" name="Text 42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total incidents were recorded during the reporting period.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contributed the highest incident volume with 230 incidents.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412 incidents (97.4%) were resolved and closed.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P1 incidents were recorded — commendable operational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PARETO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 Drivers by Frequency &amp; Cumulative Percentage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Boot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(30.5%).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INCIDENT HEATMAP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vs. Root Cause Category — Incident Frequency Matrix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6070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53212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9" name="Shape 96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Target: 99.3%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0F4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029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99.3%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56616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23544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737360"/>
                <a:gridCol w="1737360"/>
                <a:gridCol w="23774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20040" y="6199632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0040" y="6199632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SLA compliance: 71.85% against a 99.3% target.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uptime averaged 95.42%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 Volume, Priority Distribution &amp; Resolution Performance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rate: 97.4% — 412 tickets resolved, 11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Ranked from Healthiest to Most Critical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554480"/>
                <a:gridCol w="1554480"/>
                <a:gridCol w="1554480"/>
                <a:gridCol w="2011680"/>
                <a:gridCol w="2084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reported the lowest health score of 55.62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Risk Classification with Prioritized Remediation Recommendations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Client Side Activity failures. Deploy incident response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66.41%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85.35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97.93%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66.4%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85.35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Bangalore operates 182 active devices (49 switches, 79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97.93%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60 (92.3%)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(3.1%)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1 (1.5%)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(1.5%)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72.03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total incidents logged; primary driver: New Configuration.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98.94%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43.0%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72.03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operates 122 active devices (42 switches, 72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98.94%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230 incidents recorded; primary root cause: New Configuration.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110 (47.8%)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98 (42.6%)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7 (3.0%)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6 (2.6%)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(42.6%).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65.03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93.97%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65.03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Guwahati operates 5 active devices (2 switches, 3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93.97%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7 (63.6%)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Softwa: 4 (36.4%)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PRO/INC/49450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65.03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65.03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Guwahati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Guwahati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85.79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87.44%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85.79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Hyderabad operates 16 active devices (2 switches, 14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87.44%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5 (100.0%)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58.47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78.94%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10.5%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58.47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operates 19 active devices (4 switches, 15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78.94%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39 (70.9%)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12 (21.8%)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(3.6%)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Component: 1 (1.8%)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58.47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58.47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Mohali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Mohali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6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switches and 0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Mumbai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is a top-performing healthy site with an operational health score of 100.00.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55.62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total incidents logged; primary driver: Client Side Activity.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57.02%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55.62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operates 10 active devices (4 switches, 6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57.02%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incidents recorded; primary root cause: Client Side Activity.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17 (34.0%)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Device: 13 (26.0%)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9 (18.0%)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4 (8.0%)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NAGPUR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PRO/INC/45528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PRO/INC/46268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PRO/INC/46310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PRO/INC/47076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PRO/INC/47240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Errors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PRO/INC/47575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(34.0%).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55.62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55.62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Client Side Activity.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Nagpur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Nagpur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8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99.38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41 switches and 36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Noida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Noida is a top-performing healthy site with an operational health score of 99.38.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Remediation Plan Generated from Incident &amp; Health Analytics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716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55.62). Conduct on-site audit and deploy rapid response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81051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58.47). Conduct on-site audit and deploy rapid response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494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65.03). Conduct on-site audit and deploy rapid respon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45536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4787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50208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2744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9320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589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TRACKER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Items with Ownership, Timeline &amp; Status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2011680"/>
                <a:gridCol w="1371600"/>
                <a:gridCol w="146304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Nagpur (Score: 55.62)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Mohali (Score: 58.47)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Guwahati (Score: 65.03)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"Device Power Issues" (222 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"Client Side Activity" (129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"New Configuration" (22 occu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firmware update across all network switches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FY2026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placement review at sites with &gt;30% AP incident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 — network topology diagrams for 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proactive health check cadence review with JFL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0"/>
            <a:ext cx="10817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Inventory Logs &amp; Raw Incident Records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490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materials supporting Executive QBR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DEVICE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Monitored Active &amp; Stock Device List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286000"/>
                <a:gridCol w="2286000"/>
                <a:gridCol w="182880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445 total monitored devices across all sites. Full dataset available in Excel export.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SWITCH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Inventory &amp; Effective Uptime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210312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/ Device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142 total active switches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ACCESS POINT (AP)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 Estate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2286000"/>
                <a:gridCol w="2286000"/>
                <a:gridCol w="28620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/ Controller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225 total wireless access points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RAW INCIDENT RECORDS LOG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Master Incident Ticket Audit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  <a:gridCol w="1371600"/>
                <a:gridCol w="13716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Analysis (RCA)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423 raw incident records logged during the reporting period. Full audit trail saved in dashboard_data.json.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2026-08-04T10:44:03Z</dcterms:created>
  <dcterms:modified xsi:type="dcterms:W3CDTF">2026-08-04T10:44:03Z</dcterms:modified>
</cp:coreProperties>
</file>