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Incidents</c:v>
                </c:pt>
              </c:strCache>
            </c:strRef>
          </c:tx>
          <c:spPr>
            <a:solidFill>
              <a:srgbClr val="2979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F1C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Bangalore</c:v>
                  </c:pt>
                  <c:pt idx="1">
                    <c:v>Greater No</c:v>
                  </c:pt>
                  <c:pt idx="2">
                    <c:v>Guwahati</c:v>
                  </c:pt>
                  <c:pt idx="3">
                    <c:v>Hyderabad</c:v>
                  </c:pt>
                  <c:pt idx="4">
                    <c:v>Mohali</c:v>
                  </c:pt>
                  <c:pt idx="5">
                    <c:v>Mumbai</c:v>
                  </c:pt>
                  <c:pt idx="6">
                    <c:v>Nagpur</c:v>
                  </c:pt>
                  <c:pt idx="7">
                    <c:v>Noida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65</c:v>
                </c:pt>
                <c:pt idx="1">
                  <c:v>230</c:v>
                </c:pt>
                <c:pt idx="2">
                  <c:v>11</c:v>
                </c:pt>
                <c:pt idx="3">
                  <c:v>5</c:v>
                </c:pt>
                <c:pt idx="4">
                  <c:v>55</c:v>
                </c:pt>
                <c:pt idx="5">
                  <c:v>0</c:v>
                </c:pt>
                <c:pt idx="6">
                  <c:v>50</c:v>
                </c:pt>
                <c:pt idx="7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F1C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F1C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D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F1C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D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411480"/>
            <a:ext cx="2377440" cy="74980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94360" y="1463040"/>
            <a:ext cx="6035040" cy="4480560"/>
          </a:xfrm>
          <a:prstGeom prst="roundRect">
            <a:avLst>
              <a:gd name="adj" fmla="val 2041"/>
            </a:avLst>
          </a:prstGeom>
          <a:solidFill>
            <a:srgbClr val="1C3B60"/>
          </a:solidFill>
          <a:ln w="12700">
            <a:solidFill>
              <a:srgbClr val="2979D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68680" y="1828800"/>
            <a:ext cx="5577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Jubilant Foodworks Ltd (JFL)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868680" y="2606040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2B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Monthly Business Review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868680" y="3200400"/>
            <a:ext cx="548640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333756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Period: 1 July 2026 – 31 July 2026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8680" y="374904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Proactive Data Systems Pvt. Ltd.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8680" y="4114800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CONFIDENTIAL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68680" y="4480560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Generated: 4 August 2026</a:t>
            </a:r>
            <a:endParaRPr lang="en-US" sz="10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463040"/>
            <a:ext cx="4690872" cy="448056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C3B60"/>
          </a:solidFill>
          <a:ln/>
        </p:spPr>
      </p:sp>
      <p:sp>
        <p:nvSpPr>
          <p:cNvPr id="14" name="Text 1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www.proactive.co.in  |  Proactive Data Systems Pvt. Ltd.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Jubilant Foodworks Ltd (JFL) QBR Report  ·  1 July 2026 – 31 July 2026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1005840"/>
            <a:ext cx="11365992" cy="658368"/>
          </a:xfrm>
          <a:prstGeom prst="roundRect">
            <a:avLst>
              <a:gd name="adj" fmla="val 833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11480" y="1005840"/>
            <a:ext cx="658368" cy="65836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13" name="Text 10"/>
          <p:cNvSpPr/>
          <p:nvPr/>
        </p:nvSpPr>
        <p:spPr>
          <a:xfrm>
            <a:off x="411480" y="1170432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188720" y="107899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88720" y="1371600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overall health, and AI-generated executive narrative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058400" y="120700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11480" y="1755648"/>
            <a:ext cx="1136599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11480" y="1755648"/>
            <a:ext cx="658368" cy="65836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19" name="Text 16"/>
          <p:cNvSpPr/>
          <p:nvPr/>
        </p:nvSpPr>
        <p:spPr>
          <a:xfrm>
            <a:off x="411480" y="1920240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188720" y="182880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Overview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188720" y="2121408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health, device inventory, and per-site infrastructure breakdown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0058400" y="195681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4–6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11480" y="2505456"/>
            <a:ext cx="11365992" cy="658368"/>
          </a:xfrm>
          <a:prstGeom prst="roundRect">
            <a:avLst>
              <a:gd name="adj" fmla="val 833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11480" y="2505456"/>
            <a:ext cx="658368" cy="65836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25" name="Text 22"/>
          <p:cNvSpPr/>
          <p:nvPr/>
        </p:nvSpPr>
        <p:spPr>
          <a:xfrm>
            <a:off x="411480" y="2670048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1188720" y="257860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&amp; RCA Analysis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1188720" y="2871216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trends, root cause Pareto analysis, and site-RCA heatmap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058400" y="27066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7–9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11480" y="3255264"/>
            <a:ext cx="1136599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11480" y="3255264"/>
            <a:ext cx="658368" cy="65836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1" name="Text 28"/>
          <p:cNvSpPr/>
          <p:nvPr/>
        </p:nvSpPr>
        <p:spPr>
          <a:xfrm>
            <a:off x="411480" y="3419856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1188720" y="3328416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&amp; Ticket Analytics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1188720" y="3621024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compliance, MTTR, and ticket management summary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0058400" y="3456432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10–11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11480" y="4005072"/>
            <a:ext cx="11365992" cy="658368"/>
          </a:xfrm>
          <a:prstGeom prst="roundRect">
            <a:avLst>
              <a:gd name="adj" fmla="val 833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11480" y="4005072"/>
            <a:ext cx="658368" cy="65836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7" name="Text 34"/>
          <p:cNvSpPr/>
          <p:nvPr/>
        </p:nvSpPr>
        <p:spPr>
          <a:xfrm>
            <a:off x="411480" y="4169664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1188720" y="4078224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Health &amp; Risk Assessment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1188720" y="4370832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health ranking and traffic-light risk assessment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10058400" y="4206240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12–13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11480" y="4754880"/>
            <a:ext cx="1136599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11480" y="4754880"/>
            <a:ext cx="658368" cy="65836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43" name="Text 40"/>
          <p:cNvSpPr/>
          <p:nvPr/>
        </p:nvSpPr>
        <p:spPr>
          <a:xfrm>
            <a:off x="411480" y="4919472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44" name="Text 41"/>
          <p:cNvSpPr/>
          <p:nvPr/>
        </p:nvSpPr>
        <p:spPr>
          <a:xfrm>
            <a:off x="1188720" y="482803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Reviews (8 Sites)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1188720" y="5120640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per-site operational review, analytics, and incident tickets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10058400" y="495604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14–37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411480" y="5504688"/>
            <a:ext cx="11365992" cy="658368"/>
          </a:xfrm>
          <a:prstGeom prst="roundRect">
            <a:avLst>
              <a:gd name="adj" fmla="val 833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411480" y="5504688"/>
            <a:ext cx="658368" cy="65836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49" name="Text 46"/>
          <p:cNvSpPr/>
          <p:nvPr/>
        </p:nvSpPr>
        <p:spPr>
          <a:xfrm>
            <a:off x="411480" y="5669280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50" name="Text 47"/>
          <p:cNvSpPr/>
          <p:nvPr/>
        </p:nvSpPr>
        <p:spPr>
          <a:xfrm>
            <a:off x="1188720" y="557784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Action Plan</a:t>
            </a:r>
            <a:endParaRPr lang="en-US" sz="1200" dirty="0"/>
          </a:p>
        </p:txBody>
      </p:sp>
      <p:sp>
        <p:nvSpPr>
          <p:cNvPr id="51" name="Text 48"/>
          <p:cNvSpPr/>
          <p:nvPr/>
        </p:nvSpPr>
        <p:spPr>
          <a:xfrm>
            <a:off x="1188720" y="5870448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recommendations and prioritized action tracker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10058400" y="570585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38–39</a:t>
            </a:r>
            <a:endParaRPr lang="en-US" sz="1000" dirty="0"/>
          </a:p>
        </p:txBody>
      </p:sp>
      <p:sp>
        <p:nvSpPr>
          <p:cNvPr id="53" name="Shape 50"/>
          <p:cNvSpPr/>
          <p:nvPr/>
        </p:nvSpPr>
        <p:spPr>
          <a:xfrm>
            <a:off x="411480" y="6254496"/>
            <a:ext cx="1136599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411480" y="6254496"/>
            <a:ext cx="658368" cy="65836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55" name="Text 52"/>
          <p:cNvSpPr/>
          <p:nvPr/>
        </p:nvSpPr>
        <p:spPr>
          <a:xfrm>
            <a:off x="411480" y="6419088"/>
            <a:ext cx="658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56" name="Text 53"/>
          <p:cNvSpPr/>
          <p:nvPr/>
        </p:nvSpPr>
        <p:spPr>
          <a:xfrm>
            <a:off x="1188720" y="632764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&amp; Raw Data Logs</a:t>
            </a:r>
            <a:endParaRPr lang="en-US" sz="1200" dirty="0"/>
          </a:p>
        </p:txBody>
      </p:sp>
      <p:sp>
        <p:nvSpPr>
          <p:cNvPr id="57" name="Text 54"/>
          <p:cNvSpPr/>
          <p:nvPr/>
        </p:nvSpPr>
        <p:spPr>
          <a:xfrm>
            <a:off x="1188720" y="6620256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device inventories, switch/AP logs, and master incident audit trail</a:t>
            </a:r>
            <a:endParaRPr lang="en-US" sz="900" dirty="0"/>
          </a:p>
        </p:txBody>
      </p:sp>
      <p:sp>
        <p:nvSpPr>
          <p:cNvPr id="58" name="Text 55"/>
          <p:cNvSpPr/>
          <p:nvPr/>
        </p:nvSpPr>
        <p:spPr>
          <a:xfrm>
            <a:off x="10058400" y="64556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40–44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Jubilant Foodworks Ltd (JFL)  ·  1 July 2026 – 31 July 2026  ·  Quarterly Business Review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06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57200" y="1640434"/>
            <a:ext cx="2606040" cy="351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Sites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182112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27832" y="1069848"/>
            <a:ext cx="2606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373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227832" y="1640434"/>
            <a:ext cx="2606040" cy="351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952744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98464" y="1069848"/>
            <a:ext cx="2606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148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5998464" y="1640434"/>
            <a:ext cx="2606040" cy="351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Switches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8723376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769096" y="1069848"/>
            <a:ext cx="2606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225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8769096" y="1640434"/>
            <a:ext cx="2606040" cy="351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304288"/>
            <a:ext cx="2606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95.42%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457200" y="2874874"/>
            <a:ext cx="2606040" cy="351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Uptime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182112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227832" y="2304288"/>
            <a:ext cx="2606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423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3227832" y="2874874"/>
            <a:ext cx="2606040" cy="351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5952744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998464" y="2304288"/>
            <a:ext cx="2606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61.66%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5998464" y="2874874"/>
            <a:ext cx="2606040" cy="351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8723376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769096" y="2304288"/>
            <a:ext cx="2606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71.85%</a:t>
            </a:r>
            <a:endParaRPr lang="en-US" sz="2000" dirty="0"/>
          </a:p>
        </p:txBody>
      </p:sp>
      <p:sp>
        <p:nvSpPr>
          <p:cNvPr id="34" name="Text 31"/>
          <p:cNvSpPr/>
          <p:nvPr/>
        </p:nvSpPr>
        <p:spPr>
          <a:xfrm>
            <a:off x="8769096" y="2874874"/>
            <a:ext cx="2606040" cy="351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383280"/>
            <a:ext cx="11548872" cy="1481328"/>
          </a:xfrm>
          <a:prstGeom prst="roundRect">
            <a:avLst>
              <a:gd name="adj" fmla="val 3704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320040" y="3383280"/>
            <a:ext cx="73152" cy="1481328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37" name="Text 34"/>
          <p:cNvSpPr/>
          <p:nvPr/>
        </p:nvSpPr>
        <p:spPr>
          <a:xfrm>
            <a:off x="502920" y="34381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Executive Summary — 1 July 2026 – 31 July 2026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502920" y="37124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Overall network uptime was 95.42%, marginally below the 99.3% SLA target, requiring corrective action.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502920" y="39136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total of 423 incidents were recorded, with Greater Noida contributing the highest volume (230 incidents), primarily driven by Device Power Issues.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502920" y="41148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Mumbai achieved the strongest health score while Nagpur reported the lowest at 55.62.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502920" y="4315968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SLA compliance stood at 71.85%; targeted remediation is recommended to meet contractual obligations.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502920" y="4517136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61.7% of all monitored devices remained incident-free throughout the reporting period.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320040" y="489204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44" name="Text 41"/>
          <p:cNvSpPr/>
          <p:nvPr/>
        </p:nvSpPr>
        <p:spPr>
          <a:xfrm>
            <a:off x="502920" y="492861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ROOT CAUSE ANALYSIS DRIVERS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411480" y="528523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Issues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3977640" y="5321808"/>
            <a:ext cx="73152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47" name="Shape 44"/>
          <p:cNvSpPr/>
          <p:nvPr/>
        </p:nvSpPr>
        <p:spPr>
          <a:xfrm>
            <a:off x="3977640" y="5321808"/>
            <a:ext cx="3840480" cy="182880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48" name="Text 45"/>
          <p:cNvSpPr/>
          <p:nvPr/>
        </p:nvSpPr>
        <p:spPr>
          <a:xfrm>
            <a:off x="11338560" y="528523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52.5% (222)</a:t>
            </a:r>
            <a:endParaRPr lang="en-US" sz="850" dirty="0"/>
          </a:p>
        </p:txBody>
      </p:sp>
      <p:sp>
        <p:nvSpPr>
          <p:cNvPr id="49" name="Text 46"/>
          <p:cNvSpPr/>
          <p:nvPr/>
        </p:nvSpPr>
        <p:spPr>
          <a:xfrm>
            <a:off x="411480" y="55778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Activity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3977640" y="5614416"/>
            <a:ext cx="73152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51" name="Shape 48"/>
          <p:cNvSpPr/>
          <p:nvPr/>
        </p:nvSpPr>
        <p:spPr>
          <a:xfrm>
            <a:off x="3977640" y="5614416"/>
            <a:ext cx="2231136" cy="182880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52" name="Text 49"/>
          <p:cNvSpPr/>
          <p:nvPr/>
        </p:nvSpPr>
        <p:spPr>
          <a:xfrm>
            <a:off x="11338560" y="55778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30.5% (129)</a:t>
            </a:r>
            <a:endParaRPr lang="en-US" sz="850" dirty="0"/>
          </a:p>
        </p:txBody>
      </p:sp>
      <p:sp>
        <p:nvSpPr>
          <p:cNvPr id="53" name="Text 50"/>
          <p:cNvSpPr/>
          <p:nvPr/>
        </p:nvSpPr>
        <p:spPr>
          <a:xfrm>
            <a:off x="411480" y="587044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Configuration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3977640" y="5907024"/>
            <a:ext cx="73152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55" name="Shape 52"/>
          <p:cNvSpPr/>
          <p:nvPr/>
        </p:nvSpPr>
        <p:spPr>
          <a:xfrm>
            <a:off x="3977640" y="5907024"/>
            <a:ext cx="380390" cy="182880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56" name="Text 53"/>
          <p:cNvSpPr/>
          <p:nvPr/>
        </p:nvSpPr>
        <p:spPr>
          <a:xfrm>
            <a:off x="11338560" y="587044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5.2% (22)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411480" y="616305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Party Device issue</a:t>
            </a:r>
            <a:endParaRPr lang="en-US" sz="900" dirty="0"/>
          </a:p>
        </p:txBody>
      </p:sp>
      <p:sp>
        <p:nvSpPr>
          <p:cNvPr id="58" name="Shape 55"/>
          <p:cNvSpPr/>
          <p:nvPr/>
        </p:nvSpPr>
        <p:spPr>
          <a:xfrm>
            <a:off x="3977640" y="6199632"/>
            <a:ext cx="73152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59" name="Shape 56"/>
          <p:cNvSpPr/>
          <p:nvPr/>
        </p:nvSpPr>
        <p:spPr>
          <a:xfrm>
            <a:off x="3977640" y="6199632"/>
            <a:ext cx="226771" cy="182880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60" name="Text 57"/>
          <p:cNvSpPr/>
          <p:nvPr/>
        </p:nvSpPr>
        <p:spPr>
          <a:xfrm>
            <a:off x="11338560" y="616305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3.1% (13)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NETWORK HEALTH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Health Assessment Across All Monitored Sites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3200400" cy="2560320"/>
          </a:xfrm>
          <a:prstGeom prst="roundRect">
            <a:avLst>
              <a:gd name="adj" fmla="val 4286"/>
            </a:avLst>
          </a:prstGeom>
          <a:solidFill>
            <a:srgbClr val="F0F4F9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10972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02920" y="138988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02920" y="169164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81.9</a:t>
            </a:r>
            <a:endParaRPr lang="en-US" sz="4600" dirty="0"/>
          </a:p>
        </p:txBody>
      </p:sp>
      <p:sp>
        <p:nvSpPr>
          <p:cNvPr id="15" name="Text 12"/>
          <p:cNvSpPr/>
          <p:nvPr/>
        </p:nvSpPr>
        <p:spPr>
          <a:xfrm>
            <a:off x="502920" y="248716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320040" y="365760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" y="36941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HEALTH SCORES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11480" y="404164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2788920" y="4078224"/>
            <a:ext cx="77724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20" name="Shape 17"/>
          <p:cNvSpPr/>
          <p:nvPr/>
        </p:nvSpPr>
        <p:spPr>
          <a:xfrm>
            <a:off x="2788920" y="4078224"/>
            <a:ext cx="6633743" cy="182880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21" name="Text 18"/>
          <p:cNvSpPr/>
          <p:nvPr/>
        </p:nvSpPr>
        <p:spPr>
          <a:xfrm>
            <a:off x="10652760" y="404164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85.3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11430000" y="404164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411480" y="43525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2788920" y="4389120"/>
            <a:ext cx="77724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25" name="Shape 22"/>
          <p:cNvSpPr/>
          <p:nvPr/>
        </p:nvSpPr>
        <p:spPr>
          <a:xfrm>
            <a:off x="2788920" y="4389120"/>
            <a:ext cx="5598460" cy="182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6" name="Text 23"/>
          <p:cNvSpPr/>
          <p:nvPr/>
        </p:nvSpPr>
        <p:spPr>
          <a:xfrm>
            <a:off x="10652760" y="435254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72.0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11430000" y="435254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411480" y="46634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Guwahati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2788920" y="4700016"/>
            <a:ext cx="77724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30" name="Shape 27"/>
          <p:cNvSpPr/>
          <p:nvPr/>
        </p:nvSpPr>
        <p:spPr>
          <a:xfrm>
            <a:off x="2788920" y="4700016"/>
            <a:ext cx="5054392" cy="182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1" name="Text 28"/>
          <p:cNvSpPr/>
          <p:nvPr/>
        </p:nvSpPr>
        <p:spPr>
          <a:xfrm>
            <a:off x="10652760" y="466344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65.0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11430000" y="466344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411480" y="497433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2788920" y="5010912"/>
            <a:ext cx="77724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35" name="Shape 32"/>
          <p:cNvSpPr/>
          <p:nvPr/>
        </p:nvSpPr>
        <p:spPr>
          <a:xfrm>
            <a:off x="2788920" y="5010912"/>
            <a:ext cx="6667942" cy="182880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36" name="Text 33"/>
          <p:cNvSpPr/>
          <p:nvPr/>
        </p:nvSpPr>
        <p:spPr>
          <a:xfrm>
            <a:off x="10652760" y="497433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85.8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11430000" y="497433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411480" y="52852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Mohali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2788920" y="5321808"/>
            <a:ext cx="77724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40" name="Shape 37"/>
          <p:cNvSpPr/>
          <p:nvPr/>
        </p:nvSpPr>
        <p:spPr>
          <a:xfrm>
            <a:off x="2788920" y="5321808"/>
            <a:ext cx="4544522" cy="182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1" name="Text 38"/>
          <p:cNvSpPr/>
          <p:nvPr/>
        </p:nvSpPr>
        <p:spPr>
          <a:xfrm>
            <a:off x="10652760" y="528523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58.5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11430000" y="528523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50" dirty="0"/>
          </a:p>
        </p:txBody>
      </p:sp>
      <p:sp>
        <p:nvSpPr>
          <p:cNvPr id="43" name="Text 40"/>
          <p:cNvSpPr/>
          <p:nvPr/>
        </p:nvSpPr>
        <p:spPr>
          <a:xfrm>
            <a:off x="411480" y="55961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2788920" y="5632704"/>
            <a:ext cx="77724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45" name="Shape 42"/>
          <p:cNvSpPr/>
          <p:nvPr/>
        </p:nvSpPr>
        <p:spPr>
          <a:xfrm>
            <a:off x="2788920" y="5632704"/>
            <a:ext cx="7772400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6" name="Text 43"/>
          <p:cNvSpPr/>
          <p:nvPr/>
        </p:nvSpPr>
        <p:spPr>
          <a:xfrm>
            <a:off x="10652760" y="559612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11430000" y="559612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50" dirty="0"/>
          </a:p>
        </p:txBody>
      </p:sp>
      <p:sp>
        <p:nvSpPr>
          <p:cNvPr id="48" name="Text 45"/>
          <p:cNvSpPr/>
          <p:nvPr/>
        </p:nvSpPr>
        <p:spPr>
          <a:xfrm>
            <a:off x="411480" y="590702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2788920" y="5943600"/>
            <a:ext cx="77724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50" name="Shape 47"/>
          <p:cNvSpPr/>
          <p:nvPr/>
        </p:nvSpPr>
        <p:spPr>
          <a:xfrm>
            <a:off x="2788920" y="5943600"/>
            <a:ext cx="4323009" cy="182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1" name="Text 48"/>
          <p:cNvSpPr/>
          <p:nvPr/>
        </p:nvSpPr>
        <p:spPr>
          <a:xfrm>
            <a:off x="10652760" y="590702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55.6</a:t>
            </a:r>
            <a:endParaRPr lang="en-US" sz="850" dirty="0"/>
          </a:p>
        </p:txBody>
      </p:sp>
      <p:sp>
        <p:nvSpPr>
          <p:cNvPr id="52" name="Text 49"/>
          <p:cNvSpPr/>
          <p:nvPr/>
        </p:nvSpPr>
        <p:spPr>
          <a:xfrm>
            <a:off x="11430000" y="590702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50" dirty="0"/>
          </a:p>
        </p:txBody>
      </p:sp>
      <p:sp>
        <p:nvSpPr>
          <p:cNvPr id="53" name="Text 50"/>
          <p:cNvSpPr/>
          <p:nvPr/>
        </p:nvSpPr>
        <p:spPr>
          <a:xfrm>
            <a:off x="411480" y="62179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Noida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2788920" y="6254496"/>
            <a:ext cx="77724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55" name="Shape 52"/>
          <p:cNvSpPr/>
          <p:nvPr/>
        </p:nvSpPr>
        <p:spPr>
          <a:xfrm>
            <a:off x="2788920" y="6254496"/>
            <a:ext cx="7724211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6" name="Text 53"/>
          <p:cNvSpPr/>
          <p:nvPr/>
        </p:nvSpPr>
        <p:spPr>
          <a:xfrm>
            <a:off x="10652760" y="62179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99.4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11430000" y="62179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50" dirty="0"/>
          </a:p>
        </p:txBody>
      </p:sp>
      <p:sp>
        <p:nvSpPr>
          <p:cNvPr id="58" name="Shape 55"/>
          <p:cNvSpPr/>
          <p:nvPr/>
        </p:nvSpPr>
        <p:spPr>
          <a:xfrm>
            <a:off x="411480" y="3703320"/>
            <a:ext cx="2743200" cy="822960"/>
          </a:xfrm>
          <a:prstGeom prst="roundRect">
            <a:avLst>
              <a:gd name="adj" fmla="val 888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457200" y="3813048"/>
            <a:ext cx="2651760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95.42%</a:t>
            </a:r>
            <a:endParaRPr lang="en-US" sz="1600" dirty="0"/>
          </a:p>
        </p:txBody>
      </p:sp>
      <p:sp>
        <p:nvSpPr>
          <p:cNvPr id="60" name="Text 57"/>
          <p:cNvSpPr/>
          <p:nvPr/>
        </p:nvSpPr>
        <p:spPr>
          <a:xfrm>
            <a:off x="457200" y="4213555"/>
            <a:ext cx="2651760" cy="2633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61" name="Shape 58"/>
          <p:cNvSpPr/>
          <p:nvPr/>
        </p:nvSpPr>
        <p:spPr>
          <a:xfrm>
            <a:off x="3383280" y="3703320"/>
            <a:ext cx="2743200" cy="822960"/>
          </a:xfrm>
          <a:prstGeom prst="roundRect">
            <a:avLst>
              <a:gd name="adj" fmla="val 888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3429000" y="3813048"/>
            <a:ext cx="2651760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61.66%</a:t>
            </a:r>
            <a:endParaRPr lang="en-US" sz="1600" dirty="0"/>
          </a:p>
        </p:txBody>
      </p:sp>
      <p:sp>
        <p:nvSpPr>
          <p:cNvPr id="63" name="Text 60"/>
          <p:cNvSpPr/>
          <p:nvPr/>
        </p:nvSpPr>
        <p:spPr>
          <a:xfrm>
            <a:off x="3429000" y="4213555"/>
            <a:ext cx="2651760" cy="2633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64" name="Shape 61"/>
          <p:cNvSpPr/>
          <p:nvPr/>
        </p:nvSpPr>
        <p:spPr>
          <a:xfrm>
            <a:off x="6355080" y="3703320"/>
            <a:ext cx="2743200" cy="822960"/>
          </a:xfrm>
          <a:prstGeom prst="roundRect">
            <a:avLst>
              <a:gd name="adj" fmla="val 888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6400800" y="3813048"/>
            <a:ext cx="2651760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71.85%</a:t>
            </a:r>
            <a:endParaRPr lang="en-US" sz="1600" dirty="0"/>
          </a:p>
        </p:txBody>
      </p:sp>
      <p:sp>
        <p:nvSpPr>
          <p:cNvPr id="66" name="Text 63"/>
          <p:cNvSpPr/>
          <p:nvPr/>
        </p:nvSpPr>
        <p:spPr>
          <a:xfrm>
            <a:off x="6400800" y="4213555"/>
            <a:ext cx="2651760" cy="2633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</a:t>
            </a:r>
            <a:endParaRPr lang="en-US" sz="850" dirty="0"/>
          </a:p>
        </p:txBody>
      </p:sp>
      <p:sp>
        <p:nvSpPr>
          <p:cNvPr id="67" name="Shape 64"/>
          <p:cNvSpPr/>
          <p:nvPr/>
        </p:nvSpPr>
        <p:spPr>
          <a:xfrm>
            <a:off x="9326880" y="3703320"/>
            <a:ext cx="2743200" cy="822960"/>
          </a:xfrm>
          <a:prstGeom prst="roundRect">
            <a:avLst>
              <a:gd name="adj" fmla="val 888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9372600" y="3813048"/>
            <a:ext cx="2651760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423</a:t>
            </a:r>
            <a:endParaRPr lang="en-US" sz="1600" dirty="0"/>
          </a:p>
        </p:txBody>
      </p:sp>
      <p:sp>
        <p:nvSpPr>
          <p:cNvPr id="69" name="Text 66"/>
          <p:cNvSpPr/>
          <p:nvPr/>
        </p:nvSpPr>
        <p:spPr>
          <a:xfrm>
            <a:off x="9372600" y="4213555"/>
            <a:ext cx="2651760" cy="2633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— ALL SITES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SLA Performance &amp; RCA Driver Summary Across Monitored Sites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34440"/>
          <a:ext cx="1136599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188720"/>
                <a:gridCol w="1645920"/>
                <a:gridCol w="1645920"/>
                <a:gridCol w="2011680"/>
                <a:gridCol w="1463040"/>
                <a:gridCol w="1856232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of devices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Proactive Switch Uptime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 Switch Uptime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RCA Driver (Switches)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 Incidents (Unique)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RCA Driver (AP)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97.93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/ 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98.94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Configuration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219 / 60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93.97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/ 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Hyderabad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87.44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/ 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78.94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 / 14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 Operations (No Incidents)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 Operations (No Incidents)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Nagpur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99.59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Side Activity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/ 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Side Activity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 Operations (No Incidents)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/ 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 Component Failures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411480" y="6035040"/>
            <a:ext cx="11365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review consolidates SLA performance, rack and switch uptime, and access-point incident RCA for all eight monitored JFL sites for the period 1 July 2026 – 31 July 2026.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SUMMARY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Production Devices vs. Stock Inventory — SLA Exclusion Analysis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445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57200" y="1612087"/>
            <a:ext cx="2697480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373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401568" y="1612087"/>
            <a:ext cx="2697480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(In-SLA)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345936" y="1612087"/>
            <a:ext cx="2697480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(Excl. SLA)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83.8%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9290304" y="1612087"/>
            <a:ext cx="2697480" cy="336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Coverage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176272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21284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INVENTORY BY SITE — EXCLUDED FROM SLA CALCULATIONS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542032"/>
          <a:ext cx="11365992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2286000"/>
                <a:gridCol w="4965192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 Devices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Excluded from SLA calculations per business specification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Excluded from SLA calculations per business specification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Excluded from SLA calculations per business specification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Excluded from SLA calculations per business specification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035040"/>
            <a:ext cx="11548872" cy="1280160"/>
          </a:xfrm>
          <a:prstGeom prst="roundRect">
            <a:avLst>
              <a:gd name="adj" fmla="val 4286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320040" y="6035040"/>
            <a:ext cx="73152" cy="1280160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28" name="Text 24"/>
          <p:cNvSpPr/>
          <p:nvPr/>
        </p:nvSpPr>
        <p:spPr>
          <a:xfrm>
            <a:off x="502920" y="608990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Insight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502920" y="636422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Total monitored device estate: 445 devices across 8 sites.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502920" y="656539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373 devices (83.8%) are production-active and subject to SLA accountability.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502920" y="676656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72 stock/spare devices are excluded from SLA penalty calculations per operational specification.</a:t>
            </a:r>
            <a:endParaRPr lang="en-US" sz="850" dirty="0"/>
          </a:p>
        </p:txBody>
      </p:sp>
      <p:sp>
        <p:nvSpPr>
          <p:cNvPr id="32" name="Text 28"/>
          <p:cNvSpPr/>
          <p:nvPr/>
        </p:nvSpPr>
        <p:spPr>
          <a:xfrm>
            <a:off x="502920" y="6967728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Stock devices represent spare/replacement capacity. Utilization should be reviewed quarterly.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OVERVIEW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 Volume, Site Distribution &amp; Category Breakdown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423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55394"/>
            <a:ext cx="2697480" cy="3072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55394"/>
            <a:ext cx="2697480" cy="3072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55394"/>
            <a:ext cx="2697480" cy="3072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Closed/Resolved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55394"/>
            <a:ext cx="2697480" cy="3072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029968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665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BY SITE</a:t>
            </a:r>
            <a:endParaRPr lang="en-US" sz="9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411480" y="2377440"/>
          <a:ext cx="68580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312664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349240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BY PRIORITY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7406640" y="568756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Non-Core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9464040" y="5724144"/>
            <a:ext cx="41148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30" name="Shape 26"/>
          <p:cNvSpPr/>
          <p:nvPr/>
        </p:nvSpPr>
        <p:spPr>
          <a:xfrm>
            <a:off x="9464040" y="5724144"/>
            <a:ext cx="3356043" cy="182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1" name="Text 27"/>
          <p:cNvSpPr/>
          <p:nvPr/>
        </p:nvSpPr>
        <p:spPr>
          <a:xfrm>
            <a:off x="11795760" y="56875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81.6%</a:t>
            </a:r>
            <a:endParaRPr lang="en-US" sz="850" dirty="0"/>
          </a:p>
        </p:txBody>
      </p:sp>
      <p:sp>
        <p:nvSpPr>
          <p:cNvPr id="32" name="Text 28"/>
          <p:cNvSpPr/>
          <p:nvPr/>
        </p:nvSpPr>
        <p:spPr>
          <a:xfrm>
            <a:off x="7406640" y="598017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9464040" y="6016752"/>
            <a:ext cx="41148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34" name="Shape 30"/>
          <p:cNvSpPr/>
          <p:nvPr/>
        </p:nvSpPr>
        <p:spPr>
          <a:xfrm>
            <a:off x="9464040" y="6016752"/>
            <a:ext cx="486383" cy="182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5" name="Text 31"/>
          <p:cNvSpPr/>
          <p:nvPr/>
        </p:nvSpPr>
        <p:spPr>
          <a:xfrm>
            <a:off x="11795760" y="5980176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11.8%</a:t>
            </a:r>
            <a:endParaRPr lang="en-US" sz="850" dirty="0"/>
          </a:p>
        </p:txBody>
      </p:sp>
      <p:sp>
        <p:nvSpPr>
          <p:cNvPr id="36" name="Text 32"/>
          <p:cNvSpPr/>
          <p:nvPr/>
        </p:nvSpPr>
        <p:spPr>
          <a:xfrm>
            <a:off x="7406640" y="627278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9464040" y="6309360"/>
            <a:ext cx="41148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38" name="Shape 34"/>
          <p:cNvSpPr/>
          <p:nvPr/>
        </p:nvSpPr>
        <p:spPr>
          <a:xfrm>
            <a:off x="9464040" y="6309360"/>
            <a:ext cx="194553" cy="182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9" name="Text 35"/>
          <p:cNvSpPr/>
          <p:nvPr/>
        </p:nvSpPr>
        <p:spPr>
          <a:xfrm>
            <a:off x="11795760" y="6272784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4.7%</a:t>
            </a:r>
            <a:endParaRPr lang="en-US" sz="850" dirty="0"/>
          </a:p>
        </p:txBody>
      </p:sp>
      <p:sp>
        <p:nvSpPr>
          <p:cNvPr id="40" name="Text 36"/>
          <p:cNvSpPr/>
          <p:nvPr/>
        </p:nvSpPr>
        <p:spPr>
          <a:xfrm>
            <a:off x="7406640" y="656539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900" dirty="0"/>
          </a:p>
        </p:txBody>
      </p:sp>
      <p:sp>
        <p:nvSpPr>
          <p:cNvPr id="41" name="Shape 37"/>
          <p:cNvSpPr/>
          <p:nvPr/>
        </p:nvSpPr>
        <p:spPr>
          <a:xfrm>
            <a:off x="9464040" y="6601968"/>
            <a:ext cx="4114800" cy="182880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42" name="Shape 38"/>
          <p:cNvSpPr/>
          <p:nvPr/>
        </p:nvSpPr>
        <p:spPr>
          <a:xfrm>
            <a:off x="9464040" y="6601968"/>
            <a:ext cx="77821" cy="182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3" name="Text 39"/>
          <p:cNvSpPr/>
          <p:nvPr/>
        </p:nvSpPr>
        <p:spPr>
          <a:xfrm>
            <a:off x="11795760" y="656539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1.9%</a:t>
            </a:r>
            <a:endParaRPr lang="en-US" sz="850" dirty="0"/>
          </a:p>
        </p:txBody>
      </p:sp>
      <p:sp>
        <p:nvSpPr>
          <p:cNvPr id="44" name="Shape 40"/>
          <p:cNvSpPr/>
          <p:nvPr/>
        </p:nvSpPr>
        <p:spPr>
          <a:xfrm>
            <a:off x="320040" y="5559552"/>
            <a:ext cx="11548872" cy="1280160"/>
          </a:xfrm>
          <a:prstGeom prst="roundRect">
            <a:avLst>
              <a:gd name="adj" fmla="val 4286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320040" y="5559552"/>
            <a:ext cx="73152" cy="1280160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46" name="Text 42"/>
          <p:cNvSpPr/>
          <p:nvPr/>
        </p:nvSpPr>
        <p:spPr>
          <a:xfrm>
            <a:off x="502920" y="5614416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Overview — Key Findings</a:t>
            </a:r>
            <a:endParaRPr lang="en-US" sz="900" dirty="0"/>
          </a:p>
        </p:txBody>
      </p:sp>
      <p:sp>
        <p:nvSpPr>
          <p:cNvPr id="47" name="Text 43"/>
          <p:cNvSpPr/>
          <p:nvPr/>
        </p:nvSpPr>
        <p:spPr>
          <a:xfrm>
            <a:off x="502920" y="5888736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423 total incidents were recorded during the reporting period.</a:t>
            </a:r>
            <a:endParaRPr lang="en-US" sz="850" dirty="0"/>
          </a:p>
        </p:txBody>
      </p:sp>
      <p:sp>
        <p:nvSpPr>
          <p:cNvPr id="48" name="Text 44"/>
          <p:cNvSpPr/>
          <p:nvPr/>
        </p:nvSpPr>
        <p:spPr>
          <a:xfrm>
            <a:off x="502920" y="608990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Greater Noida contributed the highest incident volume with 230 incidents.</a:t>
            </a:r>
            <a:endParaRPr lang="en-US" sz="850" dirty="0"/>
          </a:p>
        </p:txBody>
      </p:sp>
      <p:sp>
        <p:nvSpPr>
          <p:cNvPr id="49" name="Text 45"/>
          <p:cNvSpPr/>
          <p:nvPr/>
        </p:nvSpPr>
        <p:spPr>
          <a:xfrm>
            <a:off x="502920" y="629107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412 incidents (97.4%) were resolved and closed.</a:t>
            </a:r>
            <a:endParaRPr lang="en-US" sz="850" dirty="0"/>
          </a:p>
        </p:txBody>
      </p:sp>
      <p:sp>
        <p:nvSpPr>
          <p:cNvPr id="50" name="Text 46"/>
          <p:cNvSpPr/>
          <p:nvPr/>
        </p:nvSpPr>
        <p:spPr>
          <a:xfrm>
            <a:off x="502920" y="649224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critical P1 incidents were recorded — commendable operational performance.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ANALYSIS — PARETO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Incident Drivers by Frequency &amp; Cumulative Percentage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411480" y="960120"/>
          <a:ext cx="71323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Shape 8"/>
          <p:cNvSpPr/>
          <p:nvPr/>
        </p:nvSpPr>
        <p:spPr>
          <a:xfrm>
            <a:off x="320040" y="960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13" name="Text 9"/>
          <p:cNvSpPr/>
          <p:nvPr/>
        </p:nvSpPr>
        <p:spPr>
          <a:xfrm>
            <a:off x="502920" y="996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RCA FREQUENCY TABLE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1325880"/>
          <a:ext cx="446227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914400"/>
                <a:gridCol w="77724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Side Activity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Configuration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 Party Device issue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Unknown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Boot Issues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Firmware or Software Bugs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15" name="Shape 10"/>
          <p:cNvSpPr/>
          <p:nvPr/>
        </p:nvSpPr>
        <p:spPr>
          <a:xfrm>
            <a:off x="320040" y="4773168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16" name="Text 11"/>
          <p:cNvSpPr/>
          <p:nvPr/>
        </p:nvSpPr>
        <p:spPr>
          <a:xfrm>
            <a:off x="502920" y="48097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RECOMMENDATIONS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411480" y="5138928"/>
            <a:ext cx="11365992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411480" y="5138928"/>
            <a:ext cx="685800" cy="32918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4"/>
          <p:cNvSpPr/>
          <p:nvPr/>
        </p:nvSpPr>
        <p:spPr>
          <a:xfrm>
            <a:off x="411480" y="5193792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1188720" y="5193792"/>
            <a:ext cx="9235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Issues: Inspect and replace faulty UPS/power infrastructure. Schedule preventive power audits.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10515600" y="5193792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411480" y="5522976"/>
            <a:ext cx="11365992" cy="329184"/>
          </a:xfrm>
          <a:prstGeom prst="roundRect">
            <a:avLst>
              <a:gd name="adj" fmla="val 11111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11480" y="5522976"/>
            <a:ext cx="685800" cy="32918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4" name="Text 19"/>
          <p:cNvSpPr/>
          <p:nvPr/>
        </p:nvSpPr>
        <p:spPr>
          <a:xfrm>
            <a:off x="411480" y="5577840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1188720" y="5577840"/>
            <a:ext cx="9235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Activity: High-frequency RCA (30.5%). Conduct root cause workshop with operations team.</a:t>
            </a:r>
            <a:endParaRPr lang="en-US" sz="850" dirty="0"/>
          </a:p>
        </p:txBody>
      </p:sp>
      <p:sp>
        <p:nvSpPr>
          <p:cNvPr id="26" name="Text 21"/>
          <p:cNvSpPr/>
          <p:nvPr/>
        </p:nvSpPr>
        <p:spPr>
          <a:xfrm>
            <a:off x="10515600" y="5577840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days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411480" y="5907024"/>
            <a:ext cx="11365992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411480" y="5907024"/>
            <a:ext cx="685800" cy="32918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4"/>
          <p:cNvSpPr/>
          <p:nvPr/>
        </p:nvSpPr>
        <p:spPr>
          <a:xfrm>
            <a:off x="411480" y="5961888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1188720" y="5961888"/>
            <a:ext cx="9235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Configuration: Deploy firmware updates. Enforce change management for configuration changes.</a:t>
            </a:r>
            <a:endParaRPr lang="en-US" sz="850" dirty="0"/>
          </a:p>
        </p:txBody>
      </p:sp>
      <p:sp>
        <p:nvSpPr>
          <p:cNvPr id="31" name="Text 26"/>
          <p:cNvSpPr/>
          <p:nvPr/>
        </p:nvSpPr>
        <p:spPr>
          <a:xfrm>
            <a:off x="10515600" y="5961888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RCA INCIDENT HEATMAP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vs. Root Cause Category — Incident Frequency Matrix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2103120" y="1005840"/>
            <a:ext cx="1645920" cy="38404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12" name="Text 9"/>
          <p:cNvSpPr/>
          <p:nvPr/>
        </p:nvSpPr>
        <p:spPr>
          <a:xfrm>
            <a:off x="214884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794760" y="1005840"/>
            <a:ext cx="1645920" cy="38404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14" name="Text 11"/>
          <p:cNvSpPr/>
          <p:nvPr/>
        </p:nvSpPr>
        <p:spPr>
          <a:xfrm>
            <a:off x="384048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5486400" y="1005840"/>
            <a:ext cx="1645920" cy="38404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16" name="Text 13"/>
          <p:cNvSpPr/>
          <p:nvPr/>
        </p:nvSpPr>
        <p:spPr>
          <a:xfrm>
            <a:off x="553212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Configuration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7178040" y="1005840"/>
            <a:ext cx="1645920" cy="38404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18" name="Text 15"/>
          <p:cNvSpPr/>
          <p:nvPr/>
        </p:nvSpPr>
        <p:spPr>
          <a:xfrm>
            <a:off x="722376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Party Device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8869680" y="1005840"/>
            <a:ext cx="1645920" cy="38404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20" name="Text 17"/>
          <p:cNvSpPr/>
          <p:nvPr/>
        </p:nvSpPr>
        <p:spPr>
          <a:xfrm>
            <a:off x="891540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10561320" y="1005840"/>
            <a:ext cx="1645920" cy="384048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22" name="Text 19"/>
          <p:cNvSpPr/>
          <p:nvPr/>
        </p:nvSpPr>
        <p:spPr>
          <a:xfrm>
            <a:off x="1060704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274320" y="1435608"/>
            <a:ext cx="1783080" cy="438912"/>
          </a:xfrm>
          <a:prstGeom prst="rect">
            <a:avLst/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20040" y="154533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2103120" y="1435608"/>
            <a:ext cx="1645920" cy="438912"/>
          </a:xfrm>
          <a:prstGeom prst="rect">
            <a:avLst/>
          </a:prstGeom>
          <a:solidFill>
            <a:srgbClr val="DC2626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14884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3794760" y="1435608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84048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486400" y="1435608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53212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7178040" y="143560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869680" y="1435608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91540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10561320" y="1435608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060704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274320" y="1911096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20040" y="202082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2103120" y="1911096"/>
            <a:ext cx="1645920" cy="438912"/>
          </a:xfrm>
          <a:prstGeom prst="rect">
            <a:avLst/>
          </a:prstGeom>
          <a:solidFill>
            <a:srgbClr val="B91C1C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214884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3794760" y="1911096"/>
            <a:ext cx="1645920" cy="438912"/>
          </a:xfrm>
          <a:prstGeom prst="rect">
            <a:avLst/>
          </a:prstGeom>
          <a:solidFill>
            <a:srgbClr val="B91C1C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384048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5486400" y="191109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53212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7178040" y="1911096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8869680" y="191109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891540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10561320" y="191109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60704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274320" y="2386584"/>
            <a:ext cx="1783080" cy="438912"/>
          </a:xfrm>
          <a:prstGeom prst="rect">
            <a:avLst/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320040" y="249631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Guwahati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2103120" y="2386584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2148840" y="2496312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379476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548640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717804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886968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1056132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274320" y="2862072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320040" y="297180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</a:t>
            </a:r>
            <a:endParaRPr lang="en-US" sz="900" dirty="0"/>
          </a:p>
        </p:txBody>
      </p:sp>
      <p:sp>
        <p:nvSpPr>
          <p:cNvPr id="60" name="Shape 57"/>
          <p:cNvSpPr/>
          <p:nvPr/>
        </p:nvSpPr>
        <p:spPr>
          <a:xfrm>
            <a:off x="2103120" y="2862072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2148840" y="2971800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62" name="Shape 59"/>
          <p:cNvSpPr/>
          <p:nvPr/>
        </p:nvSpPr>
        <p:spPr>
          <a:xfrm>
            <a:off x="379476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548640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717804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886968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1056132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274320" y="3337560"/>
            <a:ext cx="1783080" cy="438912"/>
          </a:xfrm>
          <a:prstGeom prst="rect">
            <a:avLst/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320040" y="344728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Mohali</a:t>
            </a:r>
            <a:endParaRPr lang="en-US" sz="900" dirty="0"/>
          </a:p>
        </p:txBody>
      </p:sp>
      <p:sp>
        <p:nvSpPr>
          <p:cNvPr id="69" name="Shape 66"/>
          <p:cNvSpPr/>
          <p:nvPr/>
        </p:nvSpPr>
        <p:spPr>
          <a:xfrm>
            <a:off x="2103120" y="3337560"/>
            <a:ext cx="1645920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2148840" y="344728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100" dirty="0"/>
          </a:p>
        </p:txBody>
      </p:sp>
      <p:sp>
        <p:nvSpPr>
          <p:cNvPr id="71" name="Shape 68"/>
          <p:cNvSpPr/>
          <p:nvPr/>
        </p:nvSpPr>
        <p:spPr>
          <a:xfrm>
            <a:off x="3794760" y="3337560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3840480" y="344728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73" name="Shape 70"/>
          <p:cNvSpPr/>
          <p:nvPr/>
        </p:nvSpPr>
        <p:spPr>
          <a:xfrm>
            <a:off x="5486400" y="3337560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5532120" y="344728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75" name="Shape 72"/>
          <p:cNvSpPr/>
          <p:nvPr/>
        </p:nvSpPr>
        <p:spPr>
          <a:xfrm>
            <a:off x="7178040" y="3337560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8869680" y="3337560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8915400" y="344728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8" name="Shape 75"/>
          <p:cNvSpPr/>
          <p:nvPr/>
        </p:nvSpPr>
        <p:spPr>
          <a:xfrm>
            <a:off x="10561320" y="3337560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274320" y="3813048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320040" y="392277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</a:t>
            </a:r>
            <a:endParaRPr lang="en-US" sz="900" dirty="0"/>
          </a:p>
        </p:txBody>
      </p:sp>
      <p:sp>
        <p:nvSpPr>
          <p:cNvPr id="81" name="Shape 78"/>
          <p:cNvSpPr/>
          <p:nvPr/>
        </p:nvSpPr>
        <p:spPr>
          <a:xfrm>
            <a:off x="210312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379476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548640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717804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886968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1056132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274320" y="4288536"/>
            <a:ext cx="1783080" cy="438912"/>
          </a:xfrm>
          <a:prstGeom prst="rect">
            <a:avLst/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88" name="Text 85"/>
          <p:cNvSpPr/>
          <p:nvPr/>
        </p:nvSpPr>
        <p:spPr>
          <a:xfrm>
            <a:off x="320040" y="439826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</a:t>
            </a:r>
            <a:endParaRPr lang="en-US" sz="900" dirty="0"/>
          </a:p>
        </p:txBody>
      </p:sp>
      <p:sp>
        <p:nvSpPr>
          <p:cNvPr id="89" name="Shape 86"/>
          <p:cNvSpPr/>
          <p:nvPr/>
        </p:nvSpPr>
        <p:spPr>
          <a:xfrm>
            <a:off x="2103120" y="428853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90" name="Text 87"/>
          <p:cNvSpPr/>
          <p:nvPr/>
        </p:nvSpPr>
        <p:spPr>
          <a:xfrm>
            <a:off x="214884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1" name="Shape 88"/>
          <p:cNvSpPr/>
          <p:nvPr/>
        </p:nvSpPr>
        <p:spPr>
          <a:xfrm>
            <a:off x="3794760" y="4288536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92" name="Text 89"/>
          <p:cNvSpPr/>
          <p:nvPr/>
        </p:nvSpPr>
        <p:spPr>
          <a:xfrm>
            <a:off x="384048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93" name="Shape 90"/>
          <p:cNvSpPr/>
          <p:nvPr/>
        </p:nvSpPr>
        <p:spPr>
          <a:xfrm>
            <a:off x="5486400" y="428853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94" name="Text 91"/>
          <p:cNvSpPr/>
          <p:nvPr/>
        </p:nvSpPr>
        <p:spPr>
          <a:xfrm>
            <a:off x="553212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95" name="Shape 92"/>
          <p:cNvSpPr/>
          <p:nvPr/>
        </p:nvSpPr>
        <p:spPr>
          <a:xfrm>
            <a:off x="7178040" y="4288536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96" name="Text 93"/>
          <p:cNvSpPr/>
          <p:nvPr/>
        </p:nvSpPr>
        <p:spPr>
          <a:xfrm>
            <a:off x="722376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97" name="Shape 94"/>
          <p:cNvSpPr/>
          <p:nvPr/>
        </p:nvSpPr>
        <p:spPr>
          <a:xfrm>
            <a:off x="8869680" y="428853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98" name="Text 95"/>
          <p:cNvSpPr/>
          <p:nvPr/>
        </p:nvSpPr>
        <p:spPr>
          <a:xfrm>
            <a:off x="891540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99" name="Shape 96"/>
          <p:cNvSpPr/>
          <p:nvPr/>
        </p:nvSpPr>
        <p:spPr>
          <a:xfrm>
            <a:off x="10561320" y="428853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00" name="Text 97"/>
          <p:cNvSpPr/>
          <p:nvPr/>
        </p:nvSpPr>
        <p:spPr>
          <a:xfrm>
            <a:off x="1060704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1" name="Shape 98"/>
          <p:cNvSpPr/>
          <p:nvPr/>
        </p:nvSpPr>
        <p:spPr>
          <a:xfrm>
            <a:off x="274320" y="4764024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02" name="Text 99"/>
          <p:cNvSpPr/>
          <p:nvPr/>
        </p:nvSpPr>
        <p:spPr>
          <a:xfrm>
            <a:off x="320040" y="487375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Noida</a:t>
            </a:r>
            <a:endParaRPr lang="en-US" sz="900" dirty="0"/>
          </a:p>
        </p:txBody>
      </p:sp>
      <p:sp>
        <p:nvSpPr>
          <p:cNvPr id="103" name="Shape 100"/>
          <p:cNvSpPr/>
          <p:nvPr/>
        </p:nvSpPr>
        <p:spPr>
          <a:xfrm>
            <a:off x="210312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379476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548640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06" name="Shape 103"/>
          <p:cNvSpPr/>
          <p:nvPr/>
        </p:nvSpPr>
        <p:spPr>
          <a:xfrm>
            <a:off x="717804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07" name="Shape 104"/>
          <p:cNvSpPr/>
          <p:nvPr/>
        </p:nvSpPr>
        <p:spPr>
          <a:xfrm>
            <a:off x="886968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>
            <a:off x="1056132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09" name="Text 106"/>
          <p:cNvSpPr/>
          <p:nvPr/>
        </p:nvSpPr>
        <p:spPr>
          <a:xfrm>
            <a:off x="274320" y="537667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Intensity:</a:t>
            </a:r>
            <a:endParaRPr lang="en-US" sz="850" dirty="0"/>
          </a:p>
        </p:txBody>
      </p:sp>
      <p:sp>
        <p:nvSpPr>
          <p:cNvPr id="110" name="Shape 107"/>
          <p:cNvSpPr/>
          <p:nvPr/>
        </p:nvSpPr>
        <p:spPr>
          <a:xfrm>
            <a:off x="1143000" y="5404104"/>
            <a:ext cx="201168" cy="164592"/>
          </a:xfrm>
          <a:prstGeom prst="rect">
            <a:avLst/>
          </a:prstGeom>
          <a:solidFill>
            <a:srgbClr val="D1FAE5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11" name="Text 108"/>
          <p:cNvSpPr/>
          <p:nvPr/>
        </p:nvSpPr>
        <p:spPr>
          <a:xfrm>
            <a:off x="137160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(1-2)</a:t>
            </a:r>
            <a:endParaRPr lang="en-US" sz="850" dirty="0"/>
          </a:p>
        </p:txBody>
      </p:sp>
      <p:sp>
        <p:nvSpPr>
          <p:cNvPr id="112" name="Shape 109"/>
          <p:cNvSpPr/>
          <p:nvPr/>
        </p:nvSpPr>
        <p:spPr>
          <a:xfrm>
            <a:off x="3063240" y="5404104"/>
            <a:ext cx="201168" cy="164592"/>
          </a:xfrm>
          <a:prstGeom prst="rect">
            <a:avLst/>
          </a:prstGeom>
          <a:solidFill>
            <a:srgbClr val="FDE68A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13" name="Text 110"/>
          <p:cNvSpPr/>
          <p:nvPr/>
        </p:nvSpPr>
        <p:spPr>
          <a:xfrm>
            <a:off x="329184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Low-Med</a:t>
            </a:r>
            <a:endParaRPr lang="en-US" sz="850" dirty="0"/>
          </a:p>
        </p:txBody>
      </p:sp>
      <p:sp>
        <p:nvSpPr>
          <p:cNvPr id="114" name="Shape 111"/>
          <p:cNvSpPr/>
          <p:nvPr/>
        </p:nvSpPr>
        <p:spPr>
          <a:xfrm>
            <a:off x="4983480" y="5404104"/>
            <a:ext cx="201168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15" name="Text 112"/>
          <p:cNvSpPr/>
          <p:nvPr/>
        </p:nvSpPr>
        <p:spPr>
          <a:xfrm>
            <a:off x="521208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116" name="Shape 113"/>
          <p:cNvSpPr/>
          <p:nvPr/>
        </p:nvSpPr>
        <p:spPr>
          <a:xfrm>
            <a:off x="6903720" y="5404104"/>
            <a:ext cx="201168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17" name="Text 114"/>
          <p:cNvSpPr/>
          <p:nvPr/>
        </p:nvSpPr>
        <p:spPr>
          <a:xfrm>
            <a:off x="713232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118" name="Shape 115"/>
          <p:cNvSpPr/>
          <p:nvPr/>
        </p:nvSpPr>
        <p:spPr>
          <a:xfrm>
            <a:off x="8823960" y="5404104"/>
            <a:ext cx="201168" cy="164592"/>
          </a:xfrm>
          <a:prstGeom prst="rect">
            <a:avLst/>
          </a:prstGeom>
          <a:solidFill>
            <a:srgbClr val="B91C1C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19" name="Text 116"/>
          <p:cNvSpPr/>
          <p:nvPr/>
        </p:nvSpPr>
        <p:spPr>
          <a:xfrm>
            <a:off x="905256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PERFORMANCE DASHBOARD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Target: 99.3%  ·  1 July 2026 – 31 July 2026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926080" cy="2651760"/>
          </a:xfrm>
          <a:prstGeom prst="roundRect">
            <a:avLst>
              <a:gd name="adj" fmla="val 4138"/>
            </a:avLst>
          </a:prstGeom>
          <a:solidFill>
            <a:srgbClr val="F0F4F9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1097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02920" y="146304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71.85%</a:t>
            </a:r>
            <a:endParaRPr lang="en-US" sz="3800" dirty="0"/>
          </a:p>
        </p:txBody>
      </p:sp>
      <p:sp>
        <p:nvSpPr>
          <p:cNvPr id="14" name="Text 11"/>
          <p:cNvSpPr/>
          <p:nvPr/>
        </p:nvSpPr>
        <p:spPr>
          <a:xfrm>
            <a:off x="502920" y="2286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99.3%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02920" y="2606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BREACH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520440" y="9601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566160" y="1069848"/>
            <a:ext cx="2606040" cy="6789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95.42%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3566160" y="1725473"/>
            <a:ext cx="2606040" cy="3950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Uptime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355080" y="9601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00800" y="1069848"/>
            <a:ext cx="2606040" cy="6789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61.66%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6400800" y="1725473"/>
            <a:ext cx="2606040" cy="3950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9189720" y="9601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235440" y="1069848"/>
            <a:ext cx="2606040" cy="6789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99.3%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9235440" y="1725473"/>
            <a:ext cx="2606040" cy="3950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Target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320040" y="23317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6" name="Text 23"/>
          <p:cNvSpPr/>
          <p:nvPr/>
        </p:nvSpPr>
        <p:spPr>
          <a:xfrm>
            <a:off x="502920" y="23682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SITE-WISE SLA COMPLIANCE OVERVIEW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697480"/>
          <a:ext cx="1136599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554480"/>
                <a:gridCol w="1737360"/>
                <a:gridCol w="1737360"/>
                <a:gridCol w="2377440"/>
                <a:gridCol w="185623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 Uptime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Incident-Free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Score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 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97.93%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66.41%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85.3 (Good)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98.94%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42.98%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72.0 (Fair)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93.97%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65.0 (Critical)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Hyderabad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87.44%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68.75%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85.8 (Good)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78.94%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10.53%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58.5 (Critical)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 (Excellent)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Nagpur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57.02%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55.6 (Critical)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98.70%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99.4 (Excellent)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8" name="Shape 24"/>
          <p:cNvSpPr/>
          <p:nvPr/>
        </p:nvSpPr>
        <p:spPr>
          <a:xfrm>
            <a:off x="320040" y="6199632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320040" y="6199632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30" name="Text 26"/>
          <p:cNvSpPr/>
          <p:nvPr/>
        </p:nvSpPr>
        <p:spPr>
          <a:xfrm>
            <a:off x="502920" y="6254496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Performance Insight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502920" y="6528816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Overall SLA compliance: 71.85% against a 99.3% target.</a:t>
            </a:r>
            <a:endParaRPr lang="en-US" sz="850" dirty="0"/>
          </a:p>
        </p:txBody>
      </p:sp>
      <p:sp>
        <p:nvSpPr>
          <p:cNvPr id="32" name="Text 28"/>
          <p:cNvSpPr/>
          <p:nvPr/>
        </p:nvSpPr>
        <p:spPr>
          <a:xfrm>
            <a:off x="502920" y="672998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SLA compliance is below target. Immediate remediation is recommended.</a:t>
            </a:r>
            <a:endParaRPr lang="en-US" sz="850" dirty="0"/>
          </a:p>
        </p:txBody>
      </p:sp>
      <p:sp>
        <p:nvSpPr>
          <p:cNvPr id="33" name="Text 29"/>
          <p:cNvSpPr/>
          <p:nvPr/>
        </p:nvSpPr>
        <p:spPr>
          <a:xfrm>
            <a:off x="502920" y="69311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Network uptime averaged 95.42% across all monitored infrastructure.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ANALYTICS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Ticket Volume, Priority Distribution &amp; Resolution Performance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423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55394"/>
            <a:ext cx="2697480" cy="3072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55394"/>
            <a:ext cx="2697480" cy="3072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55394"/>
            <a:ext cx="2697480" cy="3072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55394"/>
            <a:ext cx="2697480" cy="3072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029968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665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INCIDENT TICKETS BY PRIORITY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95728"/>
          <a:ext cx="1136599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1645920"/>
                <a:gridCol w="1371600"/>
                <a:gridCol w="1188720"/>
                <a:gridCol w="3044952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 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/ Host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RCA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PRO/INC/44676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 Party Device issue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PRO/INC/44719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JFL-GNSC-AP48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PRO/INC/44727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JFL-GNSC-AP48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PRO/INC/44814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GF-AP01-ETP-SW1-10P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PRO/INC/44815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GF-ETP-SW1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PRO/INC/44824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 Party Device issue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PRO/INC/44850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1F-AP26-R5-SW02-34P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PRO/INC/44851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1F-AP14-R04-SW02-11P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PRO/INC/44852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1F-AP10-R05-SW02-44P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PRO/INC/44853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1F-AP13-R04-SW02-13P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144768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320040" y="6144768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28" name="Text 24"/>
          <p:cNvSpPr/>
          <p:nvPr/>
        </p:nvSpPr>
        <p:spPr>
          <a:xfrm>
            <a:off x="502920" y="6199632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Analytics Insight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502920" y="64739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423 incident tickets were processed during the reporting period.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502920" y="667512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Resolution rate: 97.4% — 412 tickets resolved, 11 pending closure.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502920" y="6876288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critical (P1) tickets recorded — excellent incident prioritization.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HEALTH RANKING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Sites Ranked from Healthiest to Most Critical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011680"/>
                <a:gridCol w="1554480"/>
                <a:gridCol w="1554480"/>
                <a:gridCol w="1554480"/>
                <a:gridCol w="2011680"/>
                <a:gridCol w="208483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Score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 Uptime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Incident-Free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 Count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 (Excellent)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2nd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99.4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98.70%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 (Excellent)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3rd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Hyderabad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85.8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87.44%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68.75%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 (Good)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85.3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97.93%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66.41%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 (Good)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72.0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98.94%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42.98%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ELEVATED  (Fair)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65.0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93.97%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 (Critical)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58.5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78.94%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10.53%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 (Critical)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Nagpur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55.6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57.02%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 (Critical)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320040" y="566928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20040" y="566928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14" name="Text 10"/>
          <p:cNvSpPr/>
          <p:nvPr/>
        </p:nvSpPr>
        <p:spPr>
          <a:xfrm>
            <a:off x="502920" y="57241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Health Ranking — Key Findings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02920" y="59984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Mumbai leads the network with the highest health score of 100.00 — strong operational performance.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502920" y="61996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Nagpur reported the lowest health score of 55.62 and requires priority intervention.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502920" y="64008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 out of 8 sites are in excellent or good health.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Site-Level Risk Classification with Prioritized Remediation Recommendations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13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1280160"/>
                <a:gridCol w="2286000"/>
                <a:gridCol w="4599432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Score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Level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RCA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Nagpur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55.6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Side Activity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URGENT: Escalate Client Side Activity failures. Deploy incident response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58.5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URGENT: Escalate Device Power Issues failures. Deploy incident response 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65.0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URGENT: Escalate Device Power Issues failures. Deploy incident response 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72.0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ELEVATED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PRIORITY: Investigate Device Power Issues incidents. Schedule site visit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85.3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MONITOR: Review Device Power Issues trends. Consider preventive maintena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Hyderabad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85.8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MONITOR: Review Device Power Issues trends. Consider preventive maintena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99.4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 Component Fai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Continue standard monitoring. No immediate action required.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 / 100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 Operations (No 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Continue standard monitoring. No immediate action required.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411480" y="5715000"/>
            <a:ext cx="201168" cy="16459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Text 9"/>
          <p:cNvSpPr/>
          <p:nvPr/>
        </p:nvSpPr>
        <p:spPr>
          <a:xfrm>
            <a:off x="65836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(Score &gt;= 95)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3337560" y="5715000"/>
            <a:ext cx="201168" cy="164592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15" name="Text 11"/>
          <p:cNvSpPr/>
          <p:nvPr/>
        </p:nvSpPr>
        <p:spPr>
          <a:xfrm>
            <a:off x="358444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(85-94)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6263640" y="5715000"/>
            <a:ext cx="201168" cy="16459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3"/>
          <p:cNvSpPr/>
          <p:nvPr/>
        </p:nvSpPr>
        <p:spPr>
          <a:xfrm>
            <a:off x="651052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 (70-84)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9189720" y="5715000"/>
            <a:ext cx="201168" cy="1645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5"/>
          <p:cNvSpPr/>
          <p:nvPr/>
        </p:nvSpPr>
        <p:spPr>
          <a:xfrm>
            <a:off x="943660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(Score &lt; 70)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320040" y="594360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320040" y="594360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22" name="Text 18"/>
          <p:cNvSpPr/>
          <p:nvPr/>
        </p:nvSpPr>
        <p:spPr>
          <a:xfrm>
            <a:off x="502920" y="599846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 — Executive Summary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502920" y="627278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 site(s) require immediate high-risk remediation.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502920" y="64739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Primary systemic risk driver across the estate: Device Power Issues.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502920" y="667512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Proactive intervention at elevated-risk sites will prevent escalation to high-risk status.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  —  SITE OVERVIEW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1 of 8  ·  Operational KPIs, Health Assessment &amp; AI Insights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14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97.93%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66.41%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85.35 (Good)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394960" cy="310896"/>
          </a:xfrm>
          <a:prstGeom prst="roundRect">
            <a:avLst>
              <a:gd name="adj" fmla="val 11765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64008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66928" y="363931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total incidents logged; primary driver: Device Power Issues.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6080760" y="3246120"/>
            <a:ext cx="560527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6172200" y="3282696"/>
            <a:ext cx="5394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6080760" y="361188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080760" y="361188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6236208" y="363931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at 97.93% — below SLA target of 99.3%.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6080760" y="397764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080760" y="397764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6236208" y="400507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66.4% of devices are incident-free — investigate recurring failures.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6080760" y="434340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080760" y="434340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6236208" y="437083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 of 85.35 indicates moderate risk requiring attention.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320040" y="475488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75488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809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Site Summary — Bangalore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0840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Bangalore operates 182 active devices (49 switches, 79 APs) in the current reporting period.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2852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Switch uptime: 97.93% — below the 99.3%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486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65 incidents recorded; primary root cause: Device Power Issues.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  —  OPERATIONAL ANALYTICS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1 of 8  ·  Switch Uptime, AP Distribution &amp; Incident Analysis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15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97.93%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REPORT (TOP 12)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017520"/>
                <a:gridCol w="2560320"/>
                <a:gridCol w="1463040"/>
                <a:gridCol w="2240280"/>
                <a:gridCol w="135331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 No.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Uptime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CORE-1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CORE-1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CORE-2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CORE-2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81.94%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GF-R1-SW3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GF-R1-SW3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GF-R1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1F-R1-SW4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1F-R1-SW4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1F-R1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SIDE-PLANT1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SIDE-PLANT1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SIDE-PLANT1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2F-R4-SW2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2F-R4-SW2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2F-R4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2F-R4-SW1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2F-R4-SW1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2F-R4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2F-R4-SW3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2F-R4-SW3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2F-R4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GF-R5-SW3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GF-R5-SW3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GF-R5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68.85%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MZ-R2-SW1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MZ-R2-SW1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MZ-R2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MZ-R1-SW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MZ-R1-SW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MZ-R1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GF-R5-SW1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GF-R5-SW1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GF-R5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2179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6254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RCA DISTRIBUTION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411480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Issue: 60 (92.3%)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3355848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Configuration: 2 (3.1%)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6300216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Others: 1 (1.5%)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9244584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Activi: 1 (1.5%)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  —  SITE OVERVIEW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2 of 8  ·  Operational KPIs, Health Assessment &amp; AI Insights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16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98.94%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42.98%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72.03 (Fair)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394960" cy="310896"/>
          </a:xfrm>
          <a:prstGeom prst="roundRect">
            <a:avLst>
              <a:gd name="adj" fmla="val 11765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64008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66928" y="363931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 total incidents logged; primary driver: New Configuration.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6080760" y="3246120"/>
            <a:ext cx="560527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6172200" y="3282696"/>
            <a:ext cx="5394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6080760" y="361188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080760" y="361188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6236208" y="363931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at 98.94% — below SLA target of 99.3%.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6080760" y="397764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080760" y="397764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6236208" y="400507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43.0% of devices are incident-free — investigate recurring failures.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6080760" y="434340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080760" y="434340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6236208" y="437083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health score of 72.03 — immediate intervention recommended.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320040" y="475488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75488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809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Site Summary — Greater Noida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0840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Greater Noida operates 122 active devices (42 switches, 72 APs) in the current reporting period.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2852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Switch uptime: 98.94% — below the 99.3%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486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230 incidents recorded; primary root cause: New Configuration.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  —  OPERATIONAL ANALYTICS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2 of 8  ·  Switch Uptime, AP Distribution &amp; Incident Analysis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17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98.94%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REPORT (TOP 12)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017520"/>
                <a:gridCol w="2560320"/>
                <a:gridCol w="1463040"/>
                <a:gridCol w="2240280"/>
                <a:gridCol w="135331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 No.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Uptime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JFL-GNSC-CORE-SW-ST-01 [2]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JFL-GNSC-CORE-SW-ST-01 [2]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JFL-GNSC-CORE-SW-ST-01 [1]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JFL-GNSC-CORE-SW-ST-01 [1]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89.48%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Wi-Fi authenticate issue at GNSC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Wi-Fi authenticate issue at GNSC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JFL-GNSC-TR-AC-SW-01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96.91%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JFL-GNSC-BP-AC-SW-01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JFL-GNSC-BP-AC-SW-01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JFL-GNSC-BP-AC-SW-01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port security below the switch  - FJC290222SV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port security below the switch  - FJC290222SV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JFL-GNSC-TP-AC-SW-01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90.09%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JFL-GNSC-LT-AC-SW-01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JFL-GNSC-LT-AC-SW-01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JFL-GNSC-LT-AC-SW-01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JFL-GNSC-PO-AC-SW-01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JFL-GNSC-PO-AC-SW-01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JFL-GNSC-PO-AC-SW-01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JFL-GNSC-RE-AC-SW-01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JFL-GNSC-RE-AC-SW-01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JFL-GNSC-RE-AC-SW-01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JFL-GNSC-NCK-AC-SW-02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JFL-GNSC-NCK-AC-SW-02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JFL-GNSC-NCK-AC-SW-02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JFL-GNSC-GF-AC-SW-03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JFL-GNSC-GF-AC-SW-03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JFL-GNSC-GF-AC-SW-03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JFL-GNSC-DA-AC-SW-03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JFL-GNSC-DA-AC-SW-03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JFL-GNSC-DA-AC-SW-03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JFL-GNSC-CLC-SW-03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JFL-GNSC-CLC-SW-03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JFL-GNSC-CLC-SW-03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2179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6254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RCA DISTRIBUTION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411480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Issue: 110 (47.8%)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3355848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Activi: 98 (42.6%)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6300216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Configuration: 7 (3.0%)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9244584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Unknown: 6 (2.6%)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  —  INCIDENT &amp; TICKET REVIEW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2 of 8  ·  Top 10 Tickets, RCA Summary &amp; Recommended Actions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18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INCIDENT TICKETS — GREATER NOIDA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 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/ Host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RCA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PRO/INC/44719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JFL-GNSC-AP48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PRO/INC/44727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JFL-GNSC-AP48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PRO/INC/44988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JFL-GNSC-CORE-SW-ST-01 [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PRO/INC/45327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JFL-GNSC-AP48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PRO/INC/45359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JFL-GNSC-AP55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PRO/INC/45363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JFL-GNSC-AP52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PRO/INC/45367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JFL-GNSC-AP52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PRO/INC/45370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JFL-GNSC-AP52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PRO/INC/45373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JFL-GNSC-AP60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PRO/INC/45379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JFL-GNSC-AP56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7607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7972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108192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108192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1447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144768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41908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41908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45566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45566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RCA (42.6%). Conduct root cause workshop with operations team.  [Timeline: 14 days]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Guwahati  —  SITE OVERVIEW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3 of 8  ·  Operational KPIs, Health Assessment &amp; AI Insights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19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93.97%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65.03 (Critical)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394960" cy="310896"/>
          </a:xfrm>
          <a:prstGeom prst="roundRect">
            <a:avLst>
              <a:gd name="adj" fmla="val 11765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64008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66928" y="363931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total incidents logged; primary driver: Device Power Issues.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6080760" y="3246120"/>
            <a:ext cx="560527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6172200" y="3282696"/>
            <a:ext cx="5394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6080760" y="361188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080760" y="361188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6236208" y="363931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at 93.97% — below SLA target of 99.3%.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6080760" y="397764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080760" y="397764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6236208" y="400507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20.0% of devices are incident-free — investigate recurring failures.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6080760" y="434340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080760" y="434340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6236208" y="437083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health score of 65.03 — immediate intervention recommended.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320040" y="475488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75488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809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Site Summary — Guwahati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0840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Guwahati operates 5 active devices (2 switches, 3 APs) in the current reporting period.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2852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Switch uptime: 93.97% — below the 99.3%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486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11 incidents recorded; primary root cause: Device Power Issues.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Guwahati  —  OPERATIONAL ANALYTICS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3 of 8  ·  Switch Uptime, AP Distribution &amp; Incident Analysis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20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93.97%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REPORT (TOP 12)</a:t>
            </a:r>
            <a:endParaRPr lang="en-US" sz="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017520"/>
                <a:gridCol w="2560320"/>
                <a:gridCol w="1463040"/>
                <a:gridCol w="2240280"/>
                <a:gridCol w="135331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 No.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Uptime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JFL-Guwahati-CORE-02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JFL-Guwahati-CORE-02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97.03%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JFL-Guwahati-CORE-01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JFL-Guwahati-CORE-01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90.90%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2179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6254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RCA DISTRIBUTION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411480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Issue: 7 (63.6%)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3355848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or Softwa: 4 (36.4%)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Guwahati  —  INCIDENT &amp; TICKET REVIEW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3 of 8  ·  Top 10 Tickets, RCA Summary &amp; Recommended Actions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21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INCIDENT TICKETS — GUWAHATI</a:t>
            </a:r>
            <a:endParaRPr lang="en-US" sz="9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 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/ Host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RCA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PRO/INC/45631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JFL-Guwahati-CORE-02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PRO/INC/45632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JFL-Guwahati-SSC-AP-02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PRO/INC/47426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JFL-Guwahati-SSC-AP-03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Firmware or Software Bugs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PRO/INC/47431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JFL-Guwahati-SSC-AP-02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Firmware or Software Bugs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PRO/INC/47432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JFL-Guwahati-SSC-AP-03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Firmware or Software Bugs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PRO/INC/47434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JFL-Guwahati-CORE-01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Firmware or Software Bugs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PRO/INC/49450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JFL-Guwahati-SSC-AP-03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PRO/INC/56186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JFL-Guwahati-CORE-01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PRO/INC/56188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JFL-Guwahati-SSC-AP-02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PRO/INC/56885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JFL-Guwahati-CORE-01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7607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7972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108192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108192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1447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144768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41908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419088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45566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45566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firmware updates. Enforce change management for configuration changes.  [Timeline: 30 days]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Guwahati  —  CRITICAL SITE DEEP DIVE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3 of 8  ·  Root Cause Timeline &amp; Escalation Remediation Plan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22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65.03 (Critical)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Incidents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Issues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RCA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01168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482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SYSTEMIC ROOT CAUSE ANALYSIS &amp; OPERATIONAL IMPACT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11480" y="237744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11480" y="237744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7" name="Text 24"/>
          <p:cNvSpPr/>
          <p:nvPr/>
        </p:nvSpPr>
        <p:spPr>
          <a:xfrm>
            <a:off x="594360" y="24048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 degraded to 65.03 due to repeated incident occurrences.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11480" y="278892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11480" y="278892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7"/>
          <p:cNvSpPr/>
          <p:nvPr/>
        </p:nvSpPr>
        <p:spPr>
          <a:xfrm>
            <a:off x="594360" y="281635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failure driver: Device Power Issues.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11480" y="320040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11480" y="320040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3" name="Text 30"/>
          <p:cNvSpPr/>
          <p:nvPr/>
        </p:nvSpPr>
        <p:spPr>
          <a:xfrm>
            <a:off x="594360" y="32278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immediate technical escalation and on-site engineering dispatch within 24 hours.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320040" y="384048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20040" y="384048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8953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Action Plan — Guwahati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502920" y="41696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1. Dispatch Senior Network Field Engineer to Guwahati for physical infrastructure audit.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502920" y="43708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2. Perform comprehensive power stability &amp; UPS check to mitigate recurring power outage risks.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502920" y="45720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3. Replace faulty core/access switches showing repeated SLA breaches and log RMA ticket.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  —  SITE OVERVIEW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4 of 8  ·  Operational KPIs, Health Assessment &amp; AI Insights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23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87.44%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68.75%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85.79 (Good)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394960" cy="310896"/>
          </a:xfrm>
          <a:prstGeom prst="roundRect">
            <a:avLst>
              <a:gd name="adj" fmla="val 11765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64008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66928" y="363931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total incidents logged; primary driver: Device Power Issues.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6080760" y="3246120"/>
            <a:ext cx="560527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6172200" y="3282696"/>
            <a:ext cx="5394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6080760" y="361188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080760" y="361188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6236208" y="363931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at 87.44% — below SLA target of 99.3%.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6080760" y="397764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080760" y="397764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6236208" y="400507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68.8% of devices are incident-free — investigate recurring failures.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6080760" y="434340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080760" y="434340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6236208" y="437083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 of 85.79 indicates moderate risk requiring attention.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320040" y="475488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75488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809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Site Summary — Hyderabad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0840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Hyderabad operates 16 active devices (2 switches, 14 APs) in the current reporting period.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2852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Switch uptime: 87.44% — below the 99.3%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486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 incidents recorded; primary root cause: Device Power Issues.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  —  OPERATIONAL ANALYTICS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4 of 8  ·  Switch Uptime, AP Distribution &amp; Incident Analysis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24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87.44%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REPORT (TOP 12)</a:t>
            </a:r>
            <a:endParaRPr lang="en-US" sz="9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017520"/>
                <a:gridCol w="2560320"/>
                <a:gridCol w="1463040"/>
                <a:gridCol w="2240280"/>
                <a:gridCol w="135331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 No.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Uptime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JFL-HYD-CORE-2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JFL-HYD-CORE-2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JFL-HYD-CORE-1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JFL-HYD-CORE-1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74.87%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2179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6254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RCA DISTRIBUTION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411480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Issue: 5 (100.0%)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Mohali  —  SITE OVERVIEW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5 of 8  ·  Operational KPIs, Health Assessment &amp; AI Insights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25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78.94%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10.53%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58.47 (Critical)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394960" cy="310896"/>
          </a:xfrm>
          <a:prstGeom prst="roundRect">
            <a:avLst>
              <a:gd name="adj" fmla="val 11765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64008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66928" y="363931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total incidents logged; primary driver: Device Power Issues.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6080760" y="3246120"/>
            <a:ext cx="560527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6172200" y="3282696"/>
            <a:ext cx="5394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6080760" y="361188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080760" y="361188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6236208" y="363931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at 78.94% — below SLA target of 99.3%.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6080760" y="397764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080760" y="397764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6236208" y="400507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10.5% of devices are incident-free — investigate recurring failures.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6080760" y="434340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080760" y="434340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6236208" y="437083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health score of 58.47 — immediate intervention recommended.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320040" y="475488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75488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809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Site Summary — Mohali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0840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Mohali operates 19 active devices (4 switches, 15 APs) in the current reporting period.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2852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Switch uptime: 78.94% — below the 99.3%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486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55 incidents recorded; primary root cause: Device Power Issues.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Mohali  —  OPERATIONAL ANALYTICS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5 of 8  ·  Switch Uptime, AP Distribution &amp; Incident Analysis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26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78.94%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REPORT (TOP 12)</a:t>
            </a:r>
            <a:endParaRPr lang="en-US" sz="9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017520"/>
                <a:gridCol w="2560320"/>
                <a:gridCol w="1463040"/>
                <a:gridCol w="2240280"/>
                <a:gridCol w="135331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 No.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Uptime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JFL-MOHALI-ACC-SW-02(Warehouse)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JFL-MOHALI-ACC-SW-02(Warehouse)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WAREHOUSE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90.14%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JFL-MOHALI-ACC-SW-01(Transport Room)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JFL-MOHALI-ACC-SW-01(Transport Room)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TRANSPORT ROOM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33.46%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JFL-MOHALI-CORE-02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JFL-MOHALI-CORE-02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92.15%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 to Whitelist New MAC Address for Mohali SCC Desktop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 to Whitelist New MAC Address for Mohali SCC Desktop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2179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6254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RCA DISTRIBUTION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411480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Issue: 39 (70.9%)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3355848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Activi: 12 (21.8%)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6300216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Configuration: 2 (3.6%)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9244584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Component: 1 (1.8%)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Mohali  —  INCIDENT &amp; TICKET REVIEW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5 of 8  ·  Top 10 Tickets, RCA Summary &amp; Recommended Actions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27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INCIDENT TICKETS — MOHALI</a:t>
            </a:r>
            <a:endParaRPr lang="en-US" sz="9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 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/ Host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RCA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PRO/INC/45099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JFL-Mohali-SCC-AP13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PRO/INC/45342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 to Whitelist New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Configuration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PRO/INC/45951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JFL-MOHALI-ACC-SW-01(Tra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PRO/INC/45952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JFL-Mohali-SCC-AP13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PRO/INC/45960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JFL-MOHALI-ACC-SW-01(Tra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PRO/INC/46727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JFL-MOHALI-CORE-02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PRO/INC/46728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JFL-MOHALI-ACC-SW-01(Tra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PRO/INC/46729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JFL-Mohali-SCC-AP14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PRO/INC/46730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PRO/INC/46798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JFL-MOHALI-ACC-SW-02(War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7607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7972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108192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108192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1447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144768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41908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419088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45566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45566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and mitigate Client Side Activity failures.  [Timeline: Q2 FY2026]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Mohali  —  CRITICAL SITE DEEP DIVE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5 of 8  ·  Root Cause Timeline &amp; Escalation Remediation Plan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28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58.47 (Critical)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Incidents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Issues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RCA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01168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482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SYSTEMIC ROOT CAUSE ANALYSIS &amp; OPERATIONAL IMPACT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11480" y="237744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11480" y="237744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7" name="Text 24"/>
          <p:cNvSpPr/>
          <p:nvPr/>
        </p:nvSpPr>
        <p:spPr>
          <a:xfrm>
            <a:off x="594360" y="24048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 degraded to 58.47 due to repeated incident occurrences.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11480" y="278892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11480" y="278892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7"/>
          <p:cNvSpPr/>
          <p:nvPr/>
        </p:nvSpPr>
        <p:spPr>
          <a:xfrm>
            <a:off x="594360" y="281635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failure driver: Device Power Issues.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11480" y="320040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11480" y="320040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3" name="Text 30"/>
          <p:cNvSpPr/>
          <p:nvPr/>
        </p:nvSpPr>
        <p:spPr>
          <a:xfrm>
            <a:off x="594360" y="32278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immediate technical escalation and on-site engineering dispatch within 24 hours.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320040" y="384048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20040" y="384048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8953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Action Plan — Mohali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502920" y="41696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1. Dispatch Senior Network Field Engineer to Mohali for physical infrastructure audit.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502920" y="43708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2. Perform comprehensive power stability &amp; UPS check to mitigate recurring power outage risks.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502920" y="45720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3. Replace faulty core/access switches showing repeated SLA breaches and log RMA ticket.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  —  HEALTHY SITE REVIEW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6 of 8  ·  Operational Excellence &amp; 100% SLA Compliance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29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83741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325112" y="960120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370832" y="1069848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370832" y="1583741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/ APs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8238744" y="960120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84464" y="1069848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100.00%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284464" y="1583741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11480" y="2121408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2231136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57200" y="2745029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325112" y="2121408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370832" y="2231136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100.00 (Excellent)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370832" y="2745029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8238744" y="2121408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284464" y="2231136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8284464" y="2745029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30" name="Text 27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EXCELLENCE HIGHLIGHTS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11480" y="361188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3" name="Text 30"/>
          <p:cNvSpPr/>
          <p:nvPr/>
        </p:nvSpPr>
        <p:spPr>
          <a:xfrm>
            <a:off x="594360" y="363931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Maintained 100.00% operational SLA compliance throughout the reporting period.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411480" y="402336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11480" y="402336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6" name="Text 33"/>
          <p:cNvSpPr/>
          <p:nvPr/>
        </p:nvSpPr>
        <p:spPr>
          <a:xfrm>
            <a:off x="594360" y="40507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high-priority incident tickets recorded for active production infrastructure.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443484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443484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44622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switches and 0 access points operated without SLA breaches.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320040" y="5029200"/>
            <a:ext cx="11548872" cy="877824"/>
          </a:xfrm>
          <a:prstGeom prst="roundRect">
            <a:avLst>
              <a:gd name="adj" fmla="val 6250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320040" y="5029200"/>
            <a:ext cx="73152" cy="877824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42" name="Text 39"/>
          <p:cNvSpPr/>
          <p:nvPr/>
        </p:nvSpPr>
        <p:spPr>
          <a:xfrm>
            <a:off x="502920" y="508406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— Mumbai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502920" y="535838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Mumbai is a top-performing healthy site with an operational health score of 100.00.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502920" y="55595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Infrastructure stability is high across all registered devices. No remediation action required for the upcoming reporting cycle.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  —  SITE OVERVIEW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7 of 8  ·  Operational KPIs, Health Assessment &amp; AI Insights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30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57.02%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83741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55.62 (Critical)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231136"/>
            <a:ext cx="26974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745029"/>
            <a:ext cx="26974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394960" cy="310896"/>
          </a:xfrm>
          <a:prstGeom prst="roundRect">
            <a:avLst>
              <a:gd name="adj" fmla="val 11765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64008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66928" y="363931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total incidents logged; primary driver: Client Side Activity.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6080760" y="3246120"/>
            <a:ext cx="560527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6172200" y="3282696"/>
            <a:ext cx="5394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6080760" y="361188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080760" y="361188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6236208" y="363931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at 57.02% — below SLA target of 99.3%.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6080760" y="397764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080760" y="397764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6236208" y="400507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20.0% of devices are incident-free — investigate recurring failures.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6080760" y="4343400"/>
            <a:ext cx="5605272" cy="310896"/>
          </a:xfrm>
          <a:prstGeom prst="roundRect">
            <a:avLst>
              <a:gd name="adj" fmla="val 1176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080760" y="4343400"/>
            <a:ext cx="64008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6236208" y="4370832"/>
            <a:ext cx="5376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health score of 55.62 — immediate intervention recommended.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320040" y="475488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75488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809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Site Summary — Nagpur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0840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Nagpur operates 10 active devices (4 switches, 6 APs) in the current reporting period.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2852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Switch uptime: 57.02% — below the 99.3%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486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50 incidents recorded; primary root cause: Client Side Activity.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  —  OPERATIONAL ANALYTICS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7 of 8  ·  Switch Uptime, AP Distribution &amp; Incident Analysis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31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57.02%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 REPORT (TOP 12)</a:t>
            </a:r>
            <a:endParaRPr lang="en-US" sz="9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017520"/>
                <a:gridCol w="2560320"/>
                <a:gridCol w="1463040"/>
                <a:gridCol w="2240280"/>
                <a:gridCol w="135331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 No.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Uptime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 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 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 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28.19%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 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2179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6254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RCA DISTRIBUTION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411480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Activi: 17 (34.0%)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3355848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Party Device: 13 (26.0%)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6300216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Configuration: 9 (18.0%)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9244584" y="65471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Others: 4 (8.0%)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  —  INCIDENT &amp; TICKET REVIEW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7 of 8  ·  Top 10 Tickets, RCA Summary &amp; Recommended Actions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32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INCIDENT TICKETS — NAGPUR</a:t>
            </a:r>
            <a:endParaRPr lang="en-US" sz="9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 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/ Host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RCA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PRO/INC/44676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 Party Device issue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PRO/INC/44824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 Party Device issue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PRO/INC/45528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Configuration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PRO/INC/45966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Side Activity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PRO/INC/46268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Configuration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PRO/INC/46310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 Party Device issue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PRO/INC/46815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Side Activity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PRO/INC/47076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Side Activity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PRO/INC/47240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Configuration Errors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PRO/INC/47575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Meraki Managed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Side Activity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7607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7972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108192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108192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1447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144768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RCA (34.0%). Conduct root cause workshop with operations team.  [Timeline: 14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41908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419088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45566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45566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hardware audit. Identify end-of-life devices for replacement.  [Timeline: 60 days]</a:t>
            </a:r>
            <a:endParaRPr lang="en-US" sz="8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  —  CRITICAL SITE DEEP DIVE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7 of 8  ·  Root Cause Timeline &amp; Escalation Remediation Plan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33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55.62 (Critical)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Incidents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698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Activity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70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RCA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01168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482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SYSTEMIC ROOT CAUSE ANALYSIS &amp; OPERATIONAL IMPACT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11480" y="237744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11480" y="237744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7" name="Text 24"/>
          <p:cNvSpPr/>
          <p:nvPr/>
        </p:nvSpPr>
        <p:spPr>
          <a:xfrm>
            <a:off x="594360" y="24048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 degraded to 55.62 due to repeated incident occurrences.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11480" y="278892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11480" y="278892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7"/>
          <p:cNvSpPr/>
          <p:nvPr/>
        </p:nvSpPr>
        <p:spPr>
          <a:xfrm>
            <a:off x="594360" y="281635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failure driver: Client Side Activity.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11480" y="320040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11480" y="320040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3" name="Text 30"/>
          <p:cNvSpPr/>
          <p:nvPr/>
        </p:nvSpPr>
        <p:spPr>
          <a:xfrm>
            <a:off x="594360" y="32278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immediate technical escalation and on-site engineering dispatch within 24 hours.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320040" y="384048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20040" y="384048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8953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Action Plan — Nagpur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502920" y="41696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1. Dispatch Senior Network Field Engineer to Nagpur for physical infrastructure audit.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502920" y="43708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2. Perform comprehensive power stability &amp; UPS check to mitigate recurring power outage risks.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502920" y="45720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3. Replace faulty core/access switches showing repeated SLA breaches and log RMA ticket.</a:t>
            </a:r>
            <a:endParaRPr lang="en-US" sz="8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Noida  —  HEALTHY SITE REVIEW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Review 8 of 8  ·  Operational Excellence &amp; 100% SLA Compliance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34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69848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83741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325112" y="960120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370832" y="1069848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/ 36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370832" y="1583741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/ APs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8238744" y="960120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84464" y="1069848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100.00%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284464" y="1583741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11480" y="2121408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2231136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98.70%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57200" y="2745029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325112" y="2121408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370832" y="2231136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99.38 (Excellent)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370832" y="2745029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8238744" y="2121408"/>
            <a:ext cx="3703320" cy="1005840"/>
          </a:xfrm>
          <a:prstGeom prst="roundRect">
            <a:avLst>
              <a:gd name="adj" fmla="val 7273"/>
            </a:avLst>
          </a:prstGeom>
          <a:solidFill>
            <a:srgbClr val="F0F4F9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284464" y="2231136"/>
            <a:ext cx="36118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8284464" y="2745029"/>
            <a:ext cx="361188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30" name="Text 27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EXCELLENCE HIGHLIGHTS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11480" y="361188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3" name="Text 30"/>
          <p:cNvSpPr/>
          <p:nvPr/>
        </p:nvSpPr>
        <p:spPr>
          <a:xfrm>
            <a:off x="594360" y="363931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Maintained 100.00% operational SLA compliance throughout the reporting period.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411480" y="402336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11480" y="402336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6" name="Text 33"/>
          <p:cNvSpPr/>
          <p:nvPr/>
        </p:nvSpPr>
        <p:spPr>
          <a:xfrm>
            <a:off x="594360" y="40507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high-priority incident tickets recorded for active production infrastructure.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4434840"/>
            <a:ext cx="11365992" cy="347472"/>
          </a:xfrm>
          <a:prstGeom prst="roundRect">
            <a:avLst>
              <a:gd name="adj" fmla="val 10526"/>
            </a:avLst>
          </a:prstGeom>
          <a:solidFill>
            <a:srgbClr val="D1FAE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443484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446227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41 switches and 36 access points operated without SLA breaches.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320040" y="5029200"/>
            <a:ext cx="11548872" cy="877824"/>
          </a:xfrm>
          <a:prstGeom prst="roundRect">
            <a:avLst>
              <a:gd name="adj" fmla="val 6250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320040" y="5029200"/>
            <a:ext cx="73152" cy="877824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42" name="Text 39"/>
          <p:cNvSpPr/>
          <p:nvPr/>
        </p:nvSpPr>
        <p:spPr>
          <a:xfrm>
            <a:off x="502920" y="508406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— Noida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502920" y="535838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Noida is a top-performing healthy site with an operational health score of 99.38.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502920" y="55595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Infrastructure stability is high across all registered devices. No remediation action required for the upcoming reporting cycle.</a:t>
            </a:r>
            <a:endParaRPr lang="en-US" sz="8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RECOMMENDATIONS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Priority-Based Remediation Plan Generated from Incident &amp; Health Analytics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35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320040" y="96012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996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PRIORITY — IMMEDIATE ACTION REQUIRED (0-30 DAYS)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11480" y="1298448"/>
            <a:ext cx="11365992" cy="384048"/>
          </a:xfrm>
          <a:prstGeom prst="roundRect">
            <a:avLst>
              <a:gd name="adj" fmla="val 1190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11480" y="1298448"/>
            <a:ext cx="54864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" name="Text 12"/>
          <p:cNvSpPr/>
          <p:nvPr/>
        </p:nvSpPr>
        <p:spPr>
          <a:xfrm>
            <a:off x="411480" y="138988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1051560" y="1371600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health degradation at Nagpur (Score: 55.62). Conduct on-site audit and deploy rapid response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11480" y="1737360"/>
            <a:ext cx="11365992" cy="384048"/>
          </a:xfrm>
          <a:prstGeom prst="roundRect">
            <a:avLst>
              <a:gd name="adj" fmla="val 1190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11480" y="1737360"/>
            <a:ext cx="54864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6"/>
          <p:cNvSpPr/>
          <p:nvPr/>
        </p:nvSpPr>
        <p:spPr>
          <a:xfrm>
            <a:off x="411480" y="182880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1051560" y="1810512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health degradation at Mohali (Score: 58.47). Conduct on-site audit and deploy rapid response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411480" y="2176272"/>
            <a:ext cx="11365992" cy="384048"/>
          </a:xfrm>
          <a:prstGeom prst="roundRect">
            <a:avLst>
              <a:gd name="adj" fmla="val 1190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11480" y="2176272"/>
            <a:ext cx="54864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3" name="Text 20"/>
          <p:cNvSpPr/>
          <p:nvPr/>
        </p:nvSpPr>
        <p:spPr>
          <a:xfrm>
            <a:off x="411480" y="226771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1051560" y="2249424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health degradation at Guwahati (Score: 65.03). Conduct on-site audit and deploy rapid respon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320040" y="274320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26" name="Text 23"/>
          <p:cNvSpPr/>
          <p:nvPr/>
        </p:nvSpPr>
        <p:spPr>
          <a:xfrm>
            <a:off x="502920" y="27797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PRIORITY — ACTION REQUIRED (30-60 DAYS)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11480" y="3090672"/>
            <a:ext cx="11365992" cy="347472"/>
          </a:xfrm>
          <a:prstGeom prst="roundRect">
            <a:avLst>
              <a:gd name="adj" fmla="val 13158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11480" y="3090672"/>
            <a:ext cx="59436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6"/>
          <p:cNvSpPr/>
          <p:nvPr/>
        </p:nvSpPr>
        <p:spPr>
          <a:xfrm>
            <a:off x="411480" y="3163824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1097280" y="3145536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firmware updates. Enforce change management for configuration changes.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411480" y="3493008"/>
            <a:ext cx="11365992" cy="347472"/>
          </a:xfrm>
          <a:prstGeom prst="roundRect">
            <a:avLst>
              <a:gd name="adj" fmla="val 13158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11480" y="3493008"/>
            <a:ext cx="59436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3" name="Text 30"/>
          <p:cNvSpPr/>
          <p:nvPr/>
        </p:nvSpPr>
        <p:spPr>
          <a:xfrm>
            <a:off x="411480" y="356616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1097280" y="3547872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hardware audit. Identify end-of-life devices for replacement.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11480" y="3895344"/>
            <a:ext cx="11365992" cy="347472"/>
          </a:xfrm>
          <a:prstGeom prst="roundRect">
            <a:avLst>
              <a:gd name="adj" fmla="val 13158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11480" y="3895344"/>
            <a:ext cx="59436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7" name="Text 34"/>
          <p:cNvSpPr/>
          <p:nvPr/>
        </p:nvSpPr>
        <p:spPr>
          <a:xfrm>
            <a:off x="411480" y="3968496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1097280" y="3950208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and mitigate Others failures.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320040" y="4343400"/>
            <a:ext cx="11548872" cy="292608"/>
          </a:xfrm>
          <a:prstGeom prst="rect">
            <a:avLst/>
          </a:prstGeom>
          <a:solidFill>
            <a:srgbClr val="14325A"/>
          </a:solidFill>
          <a:ln/>
        </p:spPr>
      </p:sp>
      <p:sp>
        <p:nvSpPr>
          <p:cNvPr id="40" name="Text 37"/>
          <p:cNvSpPr/>
          <p:nvPr/>
        </p:nvSpPr>
        <p:spPr>
          <a:xfrm>
            <a:off x="502920" y="4379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PRIORITY — STANDARD PRACTICE (60-90 DAYS)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411480" y="4681728"/>
            <a:ext cx="11365992" cy="310896"/>
          </a:xfrm>
          <a:prstGeom prst="roundRect">
            <a:avLst>
              <a:gd name="adj" fmla="val 1176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11480" y="4681728"/>
            <a:ext cx="548640" cy="310896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43" name="Text 40"/>
          <p:cNvSpPr/>
          <p:nvPr/>
        </p:nvSpPr>
        <p:spPr>
          <a:xfrm>
            <a:off x="411480" y="473659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1051560" y="4727448"/>
            <a:ext cx="10607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network topology documentation for all 8 sites including current device serial inventories.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411480" y="5047488"/>
            <a:ext cx="11365992" cy="310896"/>
          </a:xfrm>
          <a:prstGeom prst="roundRect">
            <a:avLst>
              <a:gd name="adj" fmla="val 1176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11480" y="5047488"/>
            <a:ext cx="548640" cy="310896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47" name="Text 44"/>
          <p:cNvSpPr/>
          <p:nvPr/>
        </p:nvSpPr>
        <p:spPr>
          <a:xfrm>
            <a:off x="411480" y="510235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48" name="Text 45"/>
          <p:cNvSpPr/>
          <p:nvPr/>
        </p:nvSpPr>
        <p:spPr>
          <a:xfrm>
            <a:off x="1051560" y="5093208"/>
            <a:ext cx="10607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quarterly stakeholder review meetings with JFL IT leadership to align on operational priorities.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411480" y="5413248"/>
            <a:ext cx="11365992" cy="310896"/>
          </a:xfrm>
          <a:prstGeom prst="roundRect">
            <a:avLst>
              <a:gd name="adj" fmla="val 1176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411480" y="5413248"/>
            <a:ext cx="548640" cy="310896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51" name="Text 48"/>
          <p:cNvSpPr/>
          <p:nvPr/>
        </p:nvSpPr>
        <p:spPr>
          <a:xfrm>
            <a:off x="411480" y="546811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52" name="Text 49"/>
          <p:cNvSpPr/>
          <p:nvPr/>
        </p:nvSpPr>
        <p:spPr>
          <a:xfrm>
            <a:off x="1051560" y="5458968"/>
            <a:ext cx="10607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proactive monitoring alert threshold tuning to reduce noise and improve incident detection accur</a:t>
            </a:r>
            <a:endParaRPr lang="en-US" sz="8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 TRACKER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 Action Items with Ownership, Timeline &amp; Status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36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474720"/>
                <a:gridCol w="2011680"/>
                <a:gridCol w="1371600"/>
                <a:gridCol w="1463040"/>
                <a:gridCol w="1947672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Remediate health degradation at Nagpur (Score: 55.62)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Operations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Remediate health degradation at Mohali (Score: 58.47)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Operations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Remediate health degradation at Guwahati (Score: 65.03)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Operations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 elimination for "Device Power Issues" (222 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Infrastructure Team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 elimination for "Client Side Activity" (129 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Infrastructure Team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 elimination for "New Configuration" (22 occu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Infrastructure Team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Quarterly firmware update across all network switches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Ops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 FY2026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 placement review at sites with &gt;30% AP incident rate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Wireless Team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Documentation update — network topology diagrams for 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proactive health check cadence review with JFL 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 Manager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Ongoing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5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320040" y="5897880"/>
            <a:ext cx="11548872" cy="1078992"/>
          </a:xfrm>
          <a:prstGeom prst="roundRect">
            <a:avLst>
              <a:gd name="adj" fmla="val 5085"/>
            </a:avLst>
          </a:prstGeom>
          <a:solidFill>
            <a:srgbClr val="EBF3FA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20040" y="5897880"/>
            <a:ext cx="73152" cy="1078992"/>
          </a:xfrm>
          <a:prstGeom prst="rect">
            <a:avLst/>
          </a:prstGeom>
          <a:solidFill>
            <a:srgbClr val="2979D4"/>
          </a:solidFill>
          <a:ln/>
        </p:spPr>
      </p:sp>
      <p:sp>
        <p:nvSpPr>
          <p:cNvPr id="14" name="Text 10"/>
          <p:cNvSpPr/>
          <p:nvPr/>
        </p:nvSpPr>
        <p:spPr>
          <a:xfrm>
            <a:off x="502920" y="5952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 — Executive Note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02920" y="62270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 high-priority actions require completion within 30-45 days to prevent SLA degradation.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502920" y="64282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Action ownership has been assigned to respective operational teams. Regular follow-up recommended.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502920" y="6629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This action plan should be reviewed and updated monthly with JFL IT leadership.</a:t>
            </a:r>
            <a:endParaRPr lang="en-US" sz="8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B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011680"/>
            <a:ext cx="108173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85800" y="2834640"/>
            <a:ext cx="10817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2B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Inventory Logs &amp; Raw Incident Records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85800" y="3474720"/>
            <a:ext cx="548640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3749040"/>
            <a:ext cx="10817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materials supporting Executive QBR analysis.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— COMPLETE DEVICE INVENTORY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Monitored Active &amp; Stock Device List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38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560320"/>
                <a:gridCol w="2286000"/>
                <a:gridCol w="2286000"/>
                <a:gridCol w="1828800"/>
                <a:gridCol w="1673352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ID / Serial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 / Site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JFL-Guwahati-SSC-AP-02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JFL-Guwahati-SSC-AP-03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JFL-Guwahati-SSC-AP-01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JFL-Guwahati-CORE-02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JFL-Guwahati-CORE-01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JFL-Mohali-SCC-AP04 NEW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JFL-Mohali-SCC-AP15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JFL-MOHALI-ACC-SW-02(Warehouse)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WAREHOUSE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JFL-MOHALI-ACC-SW-01(Transport Room)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TRANSPORT ROOM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JFL-Mohali-SCC-AP06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411480" y="6172200"/>
            <a:ext cx="11365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top 12 of 445 total monitored devices across all sites. Full dataset available in Excel export.</a:t>
            </a:r>
            <a:endParaRPr lang="en-US" sz="8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— COMPLETE SWITCH INVENTORY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Switch Inventory &amp; Effective Uptime Log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39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926080"/>
                <a:gridCol w="2286000"/>
                <a:gridCol w="2103120"/>
                <a:gridCol w="1645920"/>
                <a:gridCol w="1673352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Hostname / Device 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Uptime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 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JFL-Guwahati-CORE-02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97.03%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JFL-Guwahati-CORE-01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90.90%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JFL-MOHALI-ACC-SW-02(Warehouse)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WAREHOUSE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90.14%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JFL-MOHALI-ACC-SW-01(Transport Room)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TRANSPORT ROOM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33.46%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JFL-MOHALI-CORE-02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92.15%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 to Whitelist New MAC Address for Mohali SCC Desktop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JFL-HYD-CORE-2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Hyderabad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JFL-HYD-CORE-1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Hyderabad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74.87%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Nagpur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 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Nagpur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 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Nagpur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 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28.19%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Nagpur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 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411480" y="6172200"/>
            <a:ext cx="11365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top 12 of 142 total active switches monitored across all 8 sites.</a:t>
            </a:r>
            <a:endParaRPr lang="en-US" sz="8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— COMPLETE ACCESS POINT (AP) INVENTORY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Access Point Estate Breakdown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40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200400"/>
                <a:gridCol w="2286000"/>
                <a:gridCol w="2286000"/>
                <a:gridCol w="2862072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Point ID / Serial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 / Site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 / Controller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Operational 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JFL-Guwahati-SSC-AP-02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JFL-Guwahati-SSC-AP-03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JFL-Guwahati-SSC-AP-01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Guwahati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JFL-Mohali-SCC-AP04 NEW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JFL-Mohali-SCC-AP15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JFL-Mohali-SCC-AP06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JFL-Mohali-SCC-AP07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Monitored Active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411480" y="6172200"/>
            <a:ext cx="11365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top 12 of 225 total wireless access points monitored across all 8 sites.</a:t>
            </a:r>
            <a:endParaRPr lang="en-US" sz="8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B24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7315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— RAW INCIDENT RECORDS LOG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Master Incident Ticket Audit Log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Proactive Data Systems Pvt. Ltd.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41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011680"/>
                <a:gridCol w="1645920"/>
                <a:gridCol w="1371600"/>
                <a:gridCol w="1371600"/>
                <a:gridCol w="331927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 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/ Host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 Analysis (RCA)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PRO/INC/44676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Nagpur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 Party Device issue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PRO/INC/44719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JFL-GNSC-AP48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PRO/INC/44727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JFL-GNSC-AP48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PRO/INC/44814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GF-AP01-ETP-SW1-10P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PRO/INC/44815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GF-ETP-SW1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PRO/INC/44824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JFL-NAG-SSC-SW01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Nagpur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 Party Device issue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PRO/INC/44850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1F-AP26-R5-SW02-34P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PRO/INC/44851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1F-AP14-R04-SW02-11P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PRO/INC/44852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1F-AP10-R05-SW02-44P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PRO/INC/44853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1F-AP13-R04-SW02-13P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PRO/INC/44988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JFL-GNSC-CORE-SW-ST-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Noida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B24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PRO/INC/45099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JFL-Mohali-SCC-AP13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Mohali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Power Issues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411480" y="6172200"/>
            <a:ext cx="11365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top 12 of 423 raw incident records logged during the reporting period. Full audit trail saved in dashboard_data.json.</a:t>
            </a:r>
            <a:endParaRPr lang="en-US" sz="8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B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8304" y="1097280"/>
            <a:ext cx="2743200" cy="868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9456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3246120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2B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Data Systems   ·   www.proactive.co.in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200400" y="3886200"/>
            <a:ext cx="5788152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114800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Period: 1 July 2026 – 31 July 2026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446227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Customer: Jubilant Foodworks Ltd (JFL)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4809744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Generated: 4 August 2026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6035040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This document is intended for authorized recipients only.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2026-08-04T11:44:47Z</dcterms:created>
  <dcterms:modified xsi:type="dcterms:W3CDTF">2026-08-04T11:44:47Z</dcterms:modified>
</cp:coreProperties>
</file>