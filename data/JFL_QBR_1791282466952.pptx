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Incidents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Bangalore</c:v>
                  </c:pt>
                  <c:pt idx="1">
                    <c:v>Greater No</c:v>
                  </c:pt>
                  <c:pt idx="2">
                    <c:v>Guwahati</c:v>
                  </c:pt>
                  <c:pt idx="3">
                    <c:v>Hyderabad</c:v>
                  </c:pt>
                  <c:pt idx="4">
                    <c:v>Mohali</c:v>
                  </c:pt>
                  <c:pt idx="5">
                    <c:v>Mumbai</c:v>
                  </c:pt>
                  <c:pt idx="6">
                    <c:v>Nagpur</c:v>
                  </c:pt>
                  <c:pt idx="7">
                    <c:v>Noida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</c:v>
                </c:pt>
                <c:pt idx="1">
                  <c:v>54</c:v>
                </c:pt>
                <c:pt idx="2">
                  <c:v>1</c:v>
                </c:pt>
                <c:pt idx="3">
                  <c:v>7</c:v>
                </c:pt>
                <c:pt idx="4">
                  <c:v>5</c:v>
                </c:pt>
                <c:pt idx="5">
                  <c:v>0</c:v>
                </c:pt>
                <c:pt idx="6">
                  <c:v>9</c:v>
                </c:pt>
                <c:pt idx="7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Priority Distribution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bubble3D val="0"/>
            <c:spPr>
              <a:solidFill>
                <a:srgbClr val="D97706"/>
              </a:solidFill>
              <a:effectLst/>
            </c:spPr>
          </c:dPt>
          <c:dPt>
            <c:idx val="2"/>
            <c:bubble3D val="0"/>
            <c:spPr>
              <a:solidFill>
                <a:srgbClr val="3B82F6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P1 Critical</c:v>
                </c:pt>
                <c:pt idx="1">
                  <c:v>P2 Major</c:v>
                </c:pt>
                <c:pt idx="2">
                  <c:v>P3/P4 Standard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0.001</c:v>
                </c:pt>
                <c:pt idx="1">
                  <c:v>0.001</c:v>
                </c:pt>
                <c:pt idx="2">
                  <c:v>86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SLA Gauge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bubble3D val="0"/>
            <c:spPr>
              <a:solidFill>
                <a:srgbClr val="E2E8F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SLA Achieved</c:v>
                </c:pt>
                <c:pt idx="1">
                  <c:v>Margin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95.16</c:v>
                </c:pt>
                <c:pt idx="1">
                  <c:v>4.840000000000003</c:v>
                </c:pt>
              </c:numCache>
            </c:numRef>
          </c:val>
        </c:ser>
        <c:firstSliceAng val="0"/>
        <c:holeSize val="7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3" Type="http://schemas.openxmlformats.org/officeDocument/2006/relationships/chart" Target="/ppt/charts/chart2.xml"/><Relationship Id="rId1" Type="http://schemas.openxmlformats.org/officeDocument/2006/relationships/image" Target="../media/image-6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11480"/>
            <a:ext cx="2377440" cy="74980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94360" y="1463040"/>
            <a:ext cx="6035040" cy="4480560"/>
          </a:xfrm>
          <a:prstGeom prst="roundRect">
            <a:avLst>
              <a:gd name="adj" fmla="val 2041"/>
            </a:avLst>
          </a:prstGeom>
          <a:solidFill>
            <a:srgbClr val="334155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68680" y="1828800"/>
            <a:ext cx="5577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Jubilant Foodworks Ltd (JFL)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868680" y="2606040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2B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Monthly Business Review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68680" y="3200400"/>
            <a:ext cx="54864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333756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Period: 1 August 2026 – 31 August 2026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374904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Proactive Data Systems Pvt. Ltd.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8680" y="4114800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CONFIDENTIAL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68680" y="4480560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Generated: 6 October 2026</a:t>
            </a:r>
            <a:endParaRPr lang="en-US" sz="10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463040"/>
            <a:ext cx="4690872" cy="448056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www.proactive.co.in  |  Proactive Data Systems Pvt. Ltd.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 — ALL SITES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Consolidated SLA Performance &amp; RCA Driver Summary Across Monitored Sites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1136599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188720"/>
                <a:gridCol w="1645920"/>
                <a:gridCol w="1645920"/>
                <a:gridCol w="2011680"/>
                <a:gridCol w="1463040"/>
                <a:gridCol w="185623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of devices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Proactive 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 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 Driver (Switches)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 Incidents (Unique)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 Driver (AP)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99.75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 / 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Configuration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95.96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93.01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Configuration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49 / 23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Boot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 / 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Hyderabad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 / 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 / 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Mumbai-DC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 / 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82.84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 / 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99.41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99.41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 / 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11480" y="5120640"/>
            <a:ext cx="11365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Insights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11480" y="5376672"/>
            <a:ext cx="11365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Top sites by JFL Switch Uptime: Guwahati (100.00%), Hyderabad (100.00%), Mohali (100.00%).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Bottom sites by JFL Switch Uptime: Nagpur (82.84% BREACH), Greater Noida (93.01% BREACH), Noida (99.41% BREACH).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Largest RCA driver across all sites: Device Power Issues (55 incidents).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Highest AP incident density: Hyderabad (0.44 incidents per device).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Site with the most On Hold tickets: Greater Noida (12 tickets).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Sites with Proactive and JFL Switch Uptime variance &gt; 5%: Nagpur (Proactive: 99.90%, JFL: 82.84%).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411480" y="6263640"/>
            <a:ext cx="11365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review consolidates SLA performance, rack and switch uptime, and access-point incident RCA for all 8 monitored JFL sites for the period 1 August 2026 – 31 August 2026.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Jubilant Foodworks Ltd (JFL)  ·  1 August 2026 – 31 August 2026  ·  Quarterly Business Review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57200" y="157459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Sites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182112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27832" y="103327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372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227832" y="157459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952744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98464" y="103327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142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5998464" y="157459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Switches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8723376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769096" y="103327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224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8769096" y="157459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26771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96.87%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457200" y="280903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Overall Uptime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182112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227832" y="226771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86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3227832" y="280903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5952744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98464" y="226771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86.83%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5998464" y="280903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8723376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769096" y="226771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95.16%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8769096" y="280903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Compliance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38328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20040" y="338328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7" name="Text 34"/>
          <p:cNvSpPr/>
          <p:nvPr/>
        </p:nvSpPr>
        <p:spPr>
          <a:xfrm>
            <a:off x="502920" y="34381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Executive Summary — 1 August 2026 – 31 August 2026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502920" y="37124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Overall network uptime was 96.87%, marginally below the 99.9% SLA target, requiring corrective action.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502920" y="39136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 total of 86 incidents were recorded, with Greater Noida contributing the highest volume (54 incidents), primarily driven by Device Power Issues.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502920" y="41148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Mumbai-DC achieved the strongest health score while Hyderabad reported the lowest at 84.13.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320040" y="489204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2" name="Text 39"/>
          <p:cNvSpPr/>
          <p:nvPr/>
        </p:nvSpPr>
        <p:spPr>
          <a:xfrm>
            <a:off x="502920" y="492861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ROOT CAUSE ANALYSIS DRIVERS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411480" y="528523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3977640" y="5321808"/>
            <a:ext cx="73152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5" name="Shape 42"/>
          <p:cNvSpPr/>
          <p:nvPr/>
        </p:nvSpPr>
        <p:spPr>
          <a:xfrm>
            <a:off x="3977640" y="5321808"/>
            <a:ext cx="4681728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6" name="Text 43"/>
          <p:cNvSpPr/>
          <p:nvPr/>
        </p:nvSpPr>
        <p:spPr>
          <a:xfrm>
            <a:off x="11338560" y="528523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64.0% (55)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411480" y="55778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Hold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3977640" y="5614416"/>
            <a:ext cx="73152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9" name="Shape 46"/>
          <p:cNvSpPr/>
          <p:nvPr/>
        </p:nvSpPr>
        <p:spPr>
          <a:xfrm>
            <a:off x="3977640" y="5614416"/>
            <a:ext cx="1104595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0" name="Text 47"/>
          <p:cNvSpPr/>
          <p:nvPr/>
        </p:nvSpPr>
        <p:spPr>
          <a:xfrm>
            <a:off x="11338560" y="55778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15.1% (13)</a:t>
            </a:r>
            <a:endParaRPr lang="en-US" sz="850" dirty="0"/>
          </a:p>
        </p:txBody>
      </p:sp>
      <p:sp>
        <p:nvSpPr>
          <p:cNvPr id="51" name="Text 48"/>
          <p:cNvSpPr/>
          <p:nvPr/>
        </p:nvSpPr>
        <p:spPr>
          <a:xfrm>
            <a:off x="411480" y="587044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3977640" y="5907024"/>
            <a:ext cx="73152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3" name="Shape 50"/>
          <p:cNvSpPr/>
          <p:nvPr/>
        </p:nvSpPr>
        <p:spPr>
          <a:xfrm>
            <a:off x="3977640" y="5907024"/>
            <a:ext cx="592531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4" name="Text 51"/>
          <p:cNvSpPr/>
          <p:nvPr/>
        </p:nvSpPr>
        <p:spPr>
          <a:xfrm>
            <a:off x="11338560" y="587044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8.1% (7)</a:t>
            </a:r>
            <a:endParaRPr lang="en-US" sz="850" dirty="0"/>
          </a:p>
        </p:txBody>
      </p:sp>
      <p:sp>
        <p:nvSpPr>
          <p:cNvPr id="55" name="Text 52"/>
          <p:cNvSpPr/>
          <p:nvPr/>
        </p:nvSpPr>
        <p:spPr>
          <a:xfrm>
            <a:off x="411480" y="616305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Activity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3977640" y="6199632"/>
            <a:ext cx="73152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7" name="Shape 54"/>
          <p:cNvSpPr/>
          <p:nvPr/>
        </p:nvSpPr>
        <p:spPr>
          <a:xfrm>
            <a:off x="3977640" y="6199632"/>
            <a:ext cx="512064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8" name="Text 55"/>
          <p:cNvSpPr/>
          <p:nvPr/>
        </p:nvSpPr>
        <p:spPr>
          <a:xfrm>
            <a:off x="11338560" y="616305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7.0% (6)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OVERALL NETWORK HEALTH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Infrastructure Health Assessment Across All Monitored Sites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3200400" cy="2560320"/>
          </a:xfrm>
          <a:prstGeom prst="roundRect">
            <a:avLst>
              <a:gd name="adj" fmla="val 4286"/>
            </a:avLst>
          </a:prstGeom>
          <a:solidFill>
            <a:srgbClr val="F1F5F9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10972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02920" y="138988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02920" y="169164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92.8</a:t>
            </a:r>
            <a:endParaRPr lang="en-US" sz="4600" dirty="0"/>
          </a:p>
        </p:txBody>
      </p:sp>
      <p:sp>
        <p:nvSpPr>
          <p:cNvPr id="15" name="Text 12"/>
          <p:cNvSpPr/>
          <p:nvPr/>
        </p:nvSpPr>
        <p:spPr>
          <a:xfrm>
            <a:off x="502920" y="24871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3977640" y="960120"/>
            <a:ext cx="379476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023360" y="1033272"/>
            <a:ext cx="3703320" cy="579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96.87%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4023360" y="1636044"/>
            <a:ext cx="3703320" cy="458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936992" y="960120"/>
            <a:ext cx="379476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982712" y="1033272"/>
            <a:ext cx="3703320" cy="579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86.83%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7982712" y="1636044"/>
            <a:ext cx="3703320" cy="458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3977640" y="2286000"/>
            <a:ext cx="379476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023360" y="2359152"/>
            <a:ext cx="3703320" cy="579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95.16%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4023360" y="2961924"/>
            <a:ext cx="3703320" cy="458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Compliance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7936992" y="2286000"/>
            <a:ext cx="379476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82712" y="2359152"/>
            <a:ext cx="3703320" cy="579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86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7982712" y="2961924"/>
            <a:ext cx="3703320" cy="458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320040" y="374904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6"/>
          <p:cNvSpPr/>
          <p:nvPr/>
        </p:nvSpPr>
        <p:spPr>
          <a:xfrm>
            <a:off x="502920" y="378561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SCORES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411480" y="409651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2788920" y="4133088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Shape 29"/>
          <p:cNvSpPr/>
          <p:nvPr/>
        </p:nvSpPr>
        <p:spPr>
          <a:xfrm>
            <a:off x="2788920" y="4133088"/>
            <a:ext cx="7595967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3" name="Text 30"/>
          <p:cNvSpPr/>
          <p:nvPr/>
        </p:nvSpPr>
        <p:spPr>
          <a:xfrm>
            <a:off x="10652760" y="409651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97.7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11430000" y="409651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411480" y="43891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2788920" y="4425696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7" name="Shape 34"/>
          <p:cNvSpPr/>
          <p:nvPr/>
        </p:nvSpPr>
        <p:spPr>
          <a:xfrm>
            <a:off x="2788920" y="4425696"/>
            <a:ext cx="6595659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8" name="Text 35"/>
          <p:cNvSpPr/>
          <p:nvPr/>
        </p:nvSpPr>
        <p:spPr>
          <a:xfrm>
            <a:off x="10652760" y="43891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84.9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11430000" y="43891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411480" y="46817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2788920" y="4718304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2" name="Shape 39"/>
          <p:cNvSpPr/>
          <p:nvPr/>
        </p:nvSpPr>
        <p:spPr>
          <a:xfrm>
            <a:off x="2788920" y="4718304"/>
            <a:ext cx="7150608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3" name="Text 40"/>
          <p:cNvSpPr/>
          <p:nvPr/>
        </p:nvSpPr>
        <p:spPr>
          <a:xfrm>
            <a:off x="10652760" y="468172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92.0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11430000" y="468172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411480" y="497433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2788920" y="5010912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7" name="Shape 44"/>
          <p:cNvSpPr/>
          <p:nvPr/>
        </p:nvSpPr>
        <p:spPr>
          <a:xfrm>
            <a:off x="2788920" y="5010912"/>
            <a:ext cx="6538920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8" name="Text 45"/>
          <p:cNvSpPr/>
          <p:nvPr/>
        </p:nvSpPr>
        <p:spPr>
          <a:xfrm>
            <a:off x="10652760" y="497433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84.1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11430000" y="497433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411480" y="52669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2788920" y="5303520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2" name="Shape 49"/>
          <p:cNvSpPr/>
          <p:nvPr/>
        </p:nvSpPr>
        <p:spPr>
          <a:xfrm>
            <a:off x="2788920" y="5303520"/>
            <a:ext cx="6899559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3" name="Text 50"/>
          <p:cNvSpPr/>
          <p:nvPr/>
        </p:nvSpPr>
        <p:spPr>
          <a:xfrm>
            <a:off x="10652760" y="526694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88.8</a:t>
            </a:r>
            <a:endParaRPr lang="en-US" sz="850" dirty="0"/>
          </a:p>
        </p:txBody>
      </p:sp>
      <p:sp>
        <p:nvSpPr>
          <p:cNvPr id="54" name="Text 51"/>
          <p:cNvSpPr/>
          <p:nvPr/>
        </p:nvSpPr>
        <p:spPr>
          <a:xfrm>
            <a:off x="11430000" y="526694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850" dirty="0"/>
          </a:p>
        </p:txBody>
      </p:sp>
      <p:sp>
        <p:nvSpPr>
          <p:cNvPr id="55" name="Text 52"/>
          <p:cNvSpPr/>
          <p:nvPr/>
        </p:nvSpPr>
        <p:spPr>
          <a:xfrm>
            <a:off x="411480" y="555955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Mumbai-DC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2788920" y="5596128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7" name="Shape 54"/>
          <p:cNvSpPr/>
          <p:nvPr/>
        </p:nvSpPr>
        <p:spPr>
          <a:xfrm>
            <a:off x="2788920" y="5596128"/>
            <a:ext cx="7772400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8" name="Text 55"/>
          <p:cNvSpPr/>
          <p:nvPr/>
        </p:nvSpPr>
        <p:spPr>
          <a:xfrm>
            <a:off x="10652760" y="55595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</a:t>
            </a:r>
            <a:endParaRPr lang="en-US" sz="850" dirty="0"/>
          </a:p>
        </p:txBody>
      </p:sp>
      <p:sp>
        <p:nvSpPr>
          <p:cNvPr id="59" name="Text 56"/>
          <p:cNvSpPr/>
          <p:nvPr/>
        </p:nvSpPr>
        <p:spPr>
          <a:xfrm>
            <a:off x="11430000" y="55595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411480" y="58521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</a:t>
            </a:r>
            <a:endParaRPr lang="en-US" sz="900" dirty="0"/>
          </a:p>
        </p:txBody>
      </p:sp>
      <p:sp>
        <p:nvSpPr>
          <p:cNvPr id="61" name="Shape 58"/>
          <p:cNvSpPr/>
          <p:nvPr/>
        </p:nvSpPr>
        <p:spPr>
          <a:xfrm>
            <a:off x="2788920" y="5888736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2" name="Shape 59"/>
          <p:cNvSpPr/>
          <p:nvPr/>
        </p:nvSpPr>
        <p:spPr>
          <a:xfrm>
            <a:off x="2788920" y="5888736"/>
            <a:ext cx="7141281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3" name="Text 60"/>
          <p:cNvSpPr/>
          <p:nvPr/>
        </p:nvSpPr>
        <p:spPr>
          <a:xfrm>
            <a:off x="10652760" y="58521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91.9</a:t>
            </a:r>
            <a:endParaRPr lang="en-US" sz="850" dirty="0"/>
          </a:p>
        </p:txBody>
      </p:sp>
      <p:sp>
        <p:nvSpPr>
          <p:cNvPr id="64" name="Text 61"/>
          <p:cNvSpPr/>
          <p:nvPr/>
        </p:nvSpPr>
        <p:spPr>
          <a:xfrm>
            <a:off x="11430000" y="58521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850" dirty="0"/>
          </a:p>
        </p:txBody>
      </p:sp>
      <p:sp>
        <p:nvSpPr>
          <p:cNvPr id="65" name="Text 62"/>
          <p:cNvSpPr/>
          <p:nvPr/>
        </p:nvSpPr>
        <p:spPr>
          <a:xfrm>
            <a:off x="411480" y="61447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Noida</a:t>
            </a:r>
            <a:endParaRPr lang="en-US" sz="900" dirty="0"/>
          </a:p>
        </p:txBody>
      </p:sp>
      <p:sp>
        <p:nvSpPr>
          <p:cNvPr id="66" name="Shape 63"/>
          <p:cNvSpPr/>
          <p:nvPr/>
        </p:nvSpPr>
        <p:spPr>
          <a:xfrm>
            <a:off x="2788920" y="6181344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7" name="Shape 64"/>
          <p:cNvSpPr/>
          <p:nvPr/>
        </p:nvSpPr>
        <p:spPr>
          <a:xfrm>
            <a:off x="2788920" y="6181344"/>
            <a:ext cx="7717216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8" name="Text 65"/>
          <p:cNvSpPr/>
          <p:nvPr/>
        </p:nvSpPr>
        <p:spPr>
          <a:xfrm>
            <a:off x="10652760" y="614476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99.3</a:t>
            </a:r>
            <a:endParaRPr lang="en-US" sz="850" dirty="0"/>
          </a:p>
        </p:txBody>
      </p:sp>
      <p:sp>
        <p:nvSpPr>
          <p:cNvPr id="69" name="Text 66"/>
          <p:cNvSpPr/>
          <p:nvPr/>
        </p:nvSpPr>
        <p:spPr>
          <a:xfrm>
            <a:off x="11430000" y="614476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 SUMMARY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Production Devices vs. Stock Inventory — SLA Exclusion Analysis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5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444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57200" y="1548994"/>
            <a:ext cx="269748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372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401568" y="1548994"/>
            <a:ext cx="269748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(In-SLA)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72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345936" y="1548994"/>
            <a:ext cx="269748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(Excl. SLA)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83.8%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9290304" y="1548994"/>
            <a:ext cx="269748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Coverage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17627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21284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INVENTORY BY SITE — EXCLUDED FROM SLA CALCULATIONS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542032"/>
          <a:ext cx="11365992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2286000"/>
                <a:gridCol w="4965192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Stock Devices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Excluded from SLA calculations per business specification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Excluded from SLA calculations per business specification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Excluded from SLA calculations per business specification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Mumbai-DC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Excluded from SLA calculations per business specification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03504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20040" y="603504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Text 24"/>
          <p:cNvSpPr/>
          <p:nvPr/>
        </p:nvSpPr>
        <p:spPr>
          <a:xfrm>
            <a:off x="502920" y="608990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 Insight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502920" y="636422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Total monitored device estate: 444 devices across 8 sites.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502920" y="656539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372 devices (83.8%) are production-active and subject to SLA accountability.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502920" y="676656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72 stock/spare devices are excluded from SLA penalty calculations per operational specification.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 Volume, Site Distribution &amp; Category Breakdown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86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Closed/Resolved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029968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665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INCIDENTS BY SITE</a:t>
            </a:r>
            <a:endParaRPr lang="en-US" sz="9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411480" y="2377440"/>
          <a:ext cx="68580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2029968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20665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INCIDENTS BY PRIORITY BREAKDOWN</a:t>
            </a:r>
            <a:endParaRPr lang="en-US" sz="900" dirty="0"/>
          </a:p>
        </p:txBody>
      </p:sp>
      <p:graphicFrame>
        <p:nvGraphicFramePr>
          <p:cNvPr id="28" name="Chart 1" descr=""/>
          <p:cNvGraphicFramePr/>
          <p:nvPr/>
        </p:nvGraphicFramePr>
        <p:xfrm>
          <a:off x="7498080" y="2377440"/>
          <a:ext cx="42062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9" name="Shape 24"/>
          <p:cNvSpPr/>
          <p:nvPr/>
        </p:nvSpPr>
        <p:spPr>
          <a:xfrm>
            <a:off x="320040" y="5559552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320040" y="5559552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1" name="Text 26"/>
          <p:cNvSpPr/>
          <p:nvPr/>
        </p:nvSpPr>
        <p:spPr>
          <a:xfrm>
            <a:off x="502920" y="5614416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Overview — Key Findings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502920" y="5888736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86 total incidents were recorded during the reporting period.</a:t>
            </a:r>
            <a:endParaRPr lang="en-US" sz="850" dirty="0"/>
          </a:p>
        </p:txBody>
      </p:sp>
      <p:sp>
        <p:nvSpPr>
          <p:cNvPr id="33" name="Text 28"/>
          <p:cNvSpPr/>
          <p:nvPr/>
        </p:nvSpPr>
        <p:spPr>
          <a:xfrm>
            <a:off x="502920" y="608990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Greater Noida contributed the highest incident volume with 54 incidents.</a:t>
            </a:r>
            <a:endParaRPr lang="en-US" sz="850" dirty="0"/>
          </a:p>
        </p:txBody>
      </p:sp>
      <p:sp>
        <p:nvSpPr>
          <p:cNvPr id="34" name="Text 29"/>
          <p:cNvSpPr/>
          <p:nvPr/>
        </p:nvSpPr>
        <p:spPr>
          <a:xfrm>
            <a:off x="502920" y="629107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73 incidents (84.9%) were resolved and closed.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ROOT CAUSE ANALYSIS — PARETO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Drivers by Frequency &amp; Cumulative Percentage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7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411480" y="960120"/>
          <a:ext cx="71323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hape 8"/>
          <p:cNvSpPr/>
          <p:nvPr/>
        </p:nvSpPr>
        <p:spPr>
          <a:xfrm>
            <a:off x="7680960" y="960120"/>
            <a:ext cx="44622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9"/>
          <p:cNvSpPr/>
          <p:nvPr/>
        </p:nvSpPr>
        <p:spPr>
          <a:xfrm>
            <a:off x="7772400" y="996696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RCA FREQUENCY TABLE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325880"/>
          <a:ext cx="446227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914400"/>
                <a:gridCol w="77724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Root Cause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Count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64.0%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 Hold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15.1%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Configuration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8.1%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7.0%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Boot Issues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3.5%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1.2%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Others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1.2%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0"/>
          <p:cNvSpPr/>
          <p:nvPr/>
        </p:nvSpPr>
        <p:spPr>
          <a:xfrm>
            <a:off x="320040" y="4773168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1"/>
          <p:cNvSpPr/>
          <p:nvPr/>
        </p:nvSpPr>
        <p:spPr>
          <a:xfrm>
            <a:off x="502920" y="48097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REMEDIATION RECOMMENDATIONS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411480" y="5138928"/>
            <a:ext cx="11365992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411480" y="5138928"/>
            <a:ext cx="685800" cy="32918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4"/>
          <p:cNvSpPr/>
          <p:nvPr/>
        </p:nvSpPr>
        <p:spPr>
          <a:xfrm>
            <a:off x="411480" y="5193792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1188720" y="5193792"/>
            <a:ext cx="9235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Issues: Inspect and replace faulty UPS/power infrastructure. Schedule preventive power audits.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10515600" y="5193792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411480" y="5522976"/>
            <a:ext cx="11365992" cy="329184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11480" y="5522976"/>
            <a:ext cx="685800" cy="32918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4" name="Text 19"/>
          <p:cNvSpPr/>
          <p:nvPr/>
        </p:nvSpPr>
        <p:spPr>
          <a:xfrm>
            <a:off x="411480" y="5577840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1188720" y="5577840"/>
            <a:ext cx="9235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Hold: Investigate and mitigate On Hold failures.</a:t>
            </a:r>
            <a:endParaRPr lang="en-US" sz="850" dirty="0"/>
          </a:p>
        </p:txBody>
      </p:sp>
      <p:sp>
        <p:nvSpPr>
          <p:cNvPr id="26" name="Text 21"/>
          <p:cNvSpPr/>
          <p:nvPr/>
        </p:nvSpPr>
        <p:spPr>
          <a:xfrm>
            <a:off x="10515600" y="5577840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FY2026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411480" y="5907024"/>
            <a:ext cx="11365992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411480" y="5907024"/>
            <a:ext cx="685800" cy="32918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4"/>
          <p:cNvSpPr/>
          <p:nvPr/>
        </p:nvSpPr>
        <p:spPr>
          <a:xfrm>
            <a:off x="411480" y="5961888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1188720" y="5961888"/>
            <a:ext cx="9235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Configuration: Deploy firmware updates. Enforce change management for configuration changes.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10515600" y="5961888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RCA INCIDENT HEATMAP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vs. Root Cause Category — Incident Frequency Matrix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8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10312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9"/>
          <p:cNvSpPr/>
          <p:nvPr/>
        </p:nvSpPr>
        <p:spPr>
          <a:xfrm>
            <a:off x="214884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79476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1"/>
          <p:cNvSpPr/>
          <p:nvPr/>
        </p:nvSpPr>
        <p:spPr>
          <a:xfrm>
            <a:off x="384048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Hold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548640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3"/>
          <p:cNvSpPr/>
          <p:nvPr/>
        </p:nvSpPr>
        <p:spPr>
          <a:xfrm>
            <a:off x="553212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717804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5"/>
          <p:cNvSpPr/>
          <p:nvPr/>
        </p:nvSpPr>
        <p:spPr>
          <a:xfrm>
            <a:off x="722376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886968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Text 17"/>
          <p:cNvSpPr/>
          <p:nvPr/>
        </p:nvSpPr>
        <p:spPr>
          <a:xfrm>
            <a:off x="891540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Boot Issues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1056132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Text 19"/>
          <p:cNvSpPr/>
          <p:nvPr/>
        </p:nvSpPr>
        <p:spPr>
          <a:xfrm>
            <a:off x="1060704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Party Device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274320" y="1435608"/>
            <a:ext cx="1783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0040" y="154533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2103120" y="1435608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14884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3794760" y="143560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486400" y="1435608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53212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7178040" y="143560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869680" y="143560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0561320" y="143560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274320" y="1911096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20040" y="202082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2103120" y="1911096"/>
            <a:ext cx="1645920" cy="438912"/>
          </a:xfrm>
          <a:prstGeom prst="rect">
            <a:avLst/>
          </a:prstGeom>
          <a:solidFill>
            <a:srgbClr val="B91C1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214884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3794760" y="1911096"/>
            <a:ext cx="1645920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84048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5486400" y="191109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53212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7178040" y="191109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22376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8869680" y="191109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91540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10561320" y="1911096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274320" y="2386584"/>
            <a:ext cx="1783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320040" y="249631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210312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379476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548640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717804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8869680" y="2386584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8915400" y="2496312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4" name="Shape 51"/>
          <p:cNvSpPr/>
          <p:nvPr/>
        </p:nvSpPr>
        <p:spPr>
          <a:xfrm>
            <a:off x="1056132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274320" y="2862072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320040" y="297180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</a:t>
            </a:r>
            <a:endParaRPr lang="en-US" sz="900" dirty="0"/>
          </a:p>
        </p:txBody>
      </p:sp>
      <p:sp>
        <p:nvSpPr>
          <p:cNvPr id="57" name="Shape 54"/>
          <p:cNvSpPr/>
          <p:nvPr/>
        </p:nvSpPr>
        <p:spPr>
          <a:xfrm>
            <a:off x="2103120" y="2862072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2148840" y="2971800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59" name="Shape 56"/>
          <p:cNvSpPr/>
          <p:nvPr/>
        </p:nvSpPr>
        <p:spPr>
          <a:xfrm>
            <a:off x="379476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548640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717804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886968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1056132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274320" y="3337560"/>
            <a:ext cx="1783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320040" y="344728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</a:t>
            </a:r>
            <a:endParaRPr lang="en-US" sz="900" dirty="0"/>
          </a:p>
        </p:txBody>
      </p:sp>
      <p:sp>
        <p:nvSpPr>
          <p:cNvPr id="66" name="Shape 63"/>
          <p:cNvSpPr/>
          <p:nvPr/>
        </p:nvSpPr>
        <p:spPr>
          <a:xfrm>
            <a:off x="2103120" y="3337560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214884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68" name="Shape 65"/>
          <p:cNvSpPr/>
          <p:nvPr/>
        </p:nvSpPr>
        <p:spPr>
          <a:xfrm>
            <a:off x="3794760" y="3337560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5486400" y="3337560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7178040" y="3337560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8869680" y="3337560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891540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3" name="Shape 70"/>
          <p:cNvSpPr/>
          <p:nvPr/>
        </p:nvSpPr>
        <p:spPr>
          <a:xfrm>
            <a:off x="10561320" y="3337560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274320" y="3813048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320040" y="392277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Mumbai-DC</a:t>
            </a:r>
            <a:endParaRPr lang="en-US" sz="900" dirty="0"/>
          </a:p>
        </p:txBody>
      </p:sp>
      <p:sp>
        <p:nvSpPr>
          <p:cNvPr id="76" name="Shape 73"/>
          <p:cNvSpPr/>
          <p:nvPr/>
        </p:nvSpPr>
        <p:spPr>
          <a:xfrm>
            <a:off x="210312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379476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548640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717804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886968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1056132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274320" y="4288536"/>
            <a:ext cx="1783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320040" y="439826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</a:t>
            </a:r>
            <a:endParaRPr lang="en-US" sz="900" dirty="0"/>
          </a:p>
        </p:txBody>
      </p:sp>
      <p:sp>
        <p:nvSpPr>
          <p:cNvPr id="84" name="Shape 81"/>
          <p:cNvSpPr/>
          <p:nvPr/>
        </p:nvSpPr>
        <p:spPr>
          <a:xfrm>
            <a:off x="2103120" y="4288536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3794760" y="4288536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548640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553212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88" name="Shape 85"/>
          <p:cNvSpPr/>
          <p:nvPr/>
        </p:nvSpPr>
        <p:spPr>
          <a:xfrm>
            <a:off x="7178040" y="4288536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9" name="Text 86"/>
          <p:cNvSpPr/>
          <p:nvPr/>
        </p:nvSpPr>
        <p:spPr>
          <a:xfrm>
            <a:off x="722376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90" name="Shape 87"/>
          <p:cNvSpPr/>
          <p:nvPr/>
        </p:nvSpPr>
        <p:spPr>
          <a:xfrm>
            <a:off x="8869680" y="4288536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1056132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2" name="Text 89"/>
          <p:cNvSpPr/>
          <p:nvPr/>
        </p:nvSpPr>
        <p:spPr>
          <a:xfrm>
            <a:off x="1060704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3" name="Shape 90"/>
          <p:cNvSpPr/>
          <p:nvPr/>
        </p:nvSpPr>
        <p:spPr>
          <a:xfrm>
            <a:off x="274320" y="4764024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4" name="Text 91"/>
          <p:cNvSpPr/>
          <p:nvPr/>
        </p:nvSpPr>
        <p:spPr>
          <a:xfrm>
            <a:off x="320040" y="487375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Noida</a:t>
            </a:r>
            <a:endParaRPr lang="en-US" sz="900" dirty="0"/>
          </a:p>
        </p:txBody>
      </p:sp>
      <p:sp>
        <p:nvSpPr>
          <p:cNvPr id="95" name="Shape 92"/>
          <p:cNvSpPr/>
          <p:nvPr/>
        </p:nvSpPr>
        <p:spPr>
          <a:xfrm>
            <a:off x="210312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3794760" y="4764024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3840480" y="4873752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8" name="Shape 95"/>
          <p:cNvSpPr/>
          <p:nvPr/>
        </p:nvSpPr>
        <p:spPr>
          <a:xfrm>
            <a:off x="548640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717804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886968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1056132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2" name="Text 99"/>
          <p:cNvSpPr/>
          <p:nvPr/>
        </p:nvSpPr>
        <p:spPr>
          <a:xfrm>
            <a:off x="274320" y="537667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Intensity:</a:t>
            </a:r>
            <a:endParaRPr lang="en-US" sz="850" dirty="0"/>
          </a:p>
        </p:txBody>
      </p:sp>
      <p:sp>
        <p:nvSpPr>
          <p:cNvPr id="103" name="Shape 100"/>
          <p:cNvSpPr/>
          <p:nvPr/>
        </p:nvSpPr>
        <p:spPr>
          <a:xfrm>
            <a:off x="1143000" y="5404104"/>
            <a:ext cx="201168" cy="16459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4" name="Text 101"/>
          <p:cNvSpPr/>
          <p:nvPr/>
        </p:nvSpPr>
        <p:spPr>
          <a:xfrm>
            <a:off x="137160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(1-2)</a:t>
            </a:r>
            <a:endParaRPr lang="en-US" sz="850" dirty="0"/>
          </a:p>
        </p:txBody>
      </p:sp>
      <p:sp>
        <p:nvSpPr>
          <p:cNvPr id="105" name="Shape 102"/>
          <p:cNvSpPr/>
          <p:nvPr/>
        </p:nvSpPr>
        <p:spPr>
          <a:xfrm>
            <a:off x="3063240" y="5404104"/>
            <a:ext cx="201168" cy="16459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6" name="Text 103"/>
          <p:cNvSpPr/>
          <p:nvPr/>
        </p:nvSpPr>
        <p:spPr>
          <a:xfrm>
            <a:off x="329184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Low-Med</a:t>
            </a:r>
            <a:endParaRPr lang="en-US" sz="850" dirty="0"/>
          </a:p>
        </p:txBody>
      </p:sp>
      <p:sp>
        <p:nvSpPr>
          <p:cNvPr id="107" name="Shape 104"/>
          <p:cNvSpPr/>
          <p:nvPr/>
        </p:nvSpPr>
        <p:spPr>
          <a:xfrm>
            <a:off x="4983480" y="5404104"/>
            <a:ext cx="201168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8" name="Text 105"/>
          <p:cNvSpPr/>
          <p:nvPr/>
        </p:nvSpPr>
        <p:spPr>
          <a:xfrm>
            <a:off x="521208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109" name="Shape 106"/>
          <p:cNvSpPr/>
          <p:nvPr/>
        </p:nvSpPr>
        <p:spPr>
          <a:xfrm>
            <a:off x="6903720" y="5404104"/>
            <a:ext cx="201168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0" name="Text 107"/>
          <p:cNvSpPr/>
          <p:nvPr/>
        </p:nvSpPr>
        <p:spPr>
          <a:xfrm>
            <a:off x="713232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111" name="Shape 108"/>
          <p:cNvSpPr/>
          <p:nvPr/>
        </p:nvSpPr>
        <p:spPr>
          <a:xfrm>
            <a:off x="8823960" y="5404104"/>
            <a:ext cx="201168" cy="164592"/>
          </a:xfrm>
          <a:prstGeom prst="rect">
            <a:avLst/>
          </a:prstGeom>
          <a:solidFill>
            <a:srgbClr val="B91C1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2" name="Text 109"/>
          <p:cNvSpPr/>
          <p:nvPr/>
        </p:nvSpPr>
        <p:spPr>
          <a:xfrm>
            <a:off x="905256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PERFORMANCE DASHBOARD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Target: 99.9%  ·  1 August 2026 – 31 August 2026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9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926080" cy="2651760"/>
          </a:xfrm>
          <a:prstGeom prst="roundRect">
            <a:avLst>
              <a:gd name="adj" fmla="val 4138"/>
            </a:avLst>
          </a:prstGeom>
          <a:solidFill>
            <a:srgbClr val="F1F5F9"/>
          </a:solidFill>
          <a:ln w="12700">
            <a:solidFill>
              <a:srgbClr val="DC2626"/>
            </a:solidFill>
            <a:prstDash val="solid"/>
          </a:ln>
        </p:spPr>
      </p:sp>
      <p:graphicFrame>
        <p:nvGraphicFramePr>
          <p:cNvPr id="12" name="Chart 0" descr=""/>
          <p:cNvGraphicFramePr/>
          <p:nvPr/>
        </p:nvGraphicFramePr>
        <p:xfrm>
          <a:off x="502920" y="1005840"/>
          <a:ext cx="274320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 9"/>
          <p:cNvSpPr/>
          <p:nvPr/>
        </p:nvSpPr>
        <p:spPr>
          <a:xfrm>
            <a:off x="502920" y="1691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95.16%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502920" y="2377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🚨 SLA BREACH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52044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566160" y="1033272"/>
            <a:ext cx="2606040" cy="592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96.87%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3566160" y="1651406"/>
            <a:ext cx="2606040" cy="4690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Overall Uptime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635508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400800" y="1033272"/>
            <a:ext cx="2606040" cy="592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86.83%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6400800" y="1651406"/>
            <a:ext cx="2606040" cy="4690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918972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9235440" y="1033272"/>
            <a:ext cx="2606040" cy="592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99.9%</a:t>
            </a:r>
            <a:endParaRPr lang="en-US" sz="2000" dirty="0"/>
          </a:p>
        </p:txBody>
      </p:sp>
      <p:sp>
        <p:nvSpPr>
          <p:cNvPr id="23" name="Text 19"/>
          <p:cNvSpPr/>
          <p:nvPr/>
        </p:nvSpPr>
        <p:spPr>
          <a:xfrm>
            <a:off x="9235440" y="1651406"/>
            <a:ext cx="2606040" cy="4690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Target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320040" y="23317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Text 21"/>
          <p:cNvSpPr/>
          <p:nvPr/>
        </p:nvSpPr>
        <p:spPr>
          <a:xfrm>
            <a:off x="502920" y="23682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SITE-WISE SLA COMPLIANCE OVERVIEW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697480"/>
          <a:ext cx="1136599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188720"/>
                <a:gridCol w="1920240"/>
                <a:gridCol w="1920240"/>
                <a:gridCol w="1645920"/>
                <a:gridCol w="16733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Proactive 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 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Incident-Free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SLA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99.75%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94.53%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95.96%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93.01%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75.44%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MET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Hyderabad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62.50%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MET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73.68%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MET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Mumbai-DC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MET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82.84%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99.41%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99.41%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98.68%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7" name="Shape 22"/>
          <p:cNvSpPr/>
          <p:nvPr/>
        </p:nvSpPr>
        <p:spPr>
          <a:xfrm>
            <a:off x="320040" y="6199632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320040" y="6199632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9" name="Text 24"/>
          <p:cNvSpPr/>
          <p:nvPr/>
        </p:nvSpPr>
        <p:spPr>
          <a:xfrm>
            <a:off x="502920" y="6254496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Performance Insight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502920" y="6528816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Overall SLA compliance: 95.16% against a 99.9% target.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502920" y="672998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SLA compliance is below target. Immediate remediation is recommended.</a:t>
            </a:r>
            <a:endParaRPr lang="en-US" sz="850" dirty="0"/>
          </a:p>
        </p:txBody>
      </p:sp>
      <p:sp>
        <p:nvSpPr>
          <p:cNvPr id="32" name="Text 27"/>
          <p:cNvSpPr/>
          <p:nvPr/>
        </p:nvSpPr>
        <p:spPr>
          <a:xfrm>
            <a:off x="502920" y="69311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Network uptime averaged 96.87% across all monitored infrastructure.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TICKET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Ticket Volume, Priority Distribution &amp; Resolution Performance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86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029968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665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10 INCIDENT TICKETS BY PRIORITY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95728"/>
          <a:ext cx="1136599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1645920"/>
                <a:gridCol w="1371600"/>
                <a:gridCol w="1188720"/>
                <a:gridCol w="3044952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PRO/INC/57045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JFL-GNSC-CORE-SW-ST-01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 Hold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PRO/INC/57252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JFL-GNSC-AP57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 Hold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PRO/INC/58420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JFL-GNSC-AP50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 Hold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PRO/INC/60166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JFL-GNSC-AP37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 Hold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PRO/INC/60493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1F-R5-SW4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PRO/INC/60494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1F-R5-SW1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PRO/INC/60495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1F-R5-SW3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PRO/INC/60497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JFL-GNSC-AP52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PRO/INC/60680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PRO/INC/60730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JFL-GNSC-AP23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144768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20040" y="6144768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Text 24"/>
          <p:cNvSpPr/>
          <p:nvPr/>
        </p:nvSpPr>
        <p:spPr>
          <a:xfrm>
            <a:off x="502920" y="6199632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Ticket Analytics Insight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86 incident tickets were processed during the reporting period.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502920" y="667512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Resolution rate: 84.9% — 73 tickets resolved, 13 pending closure.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502920" y="6876288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 critical (P1) tickets recorded — excellent incident prioritization.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RANKING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Sites Ranked from Healthiest to Most Critical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2011680"/>
                <a:gridCol w="1463040"/>
                <a:gridCol w="1463040"/>
                <a:gridCol w="1463040"/>
                <a:gridCol w="1737360"/>
                <a:gridCol w="245059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Rank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Health Score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Incident-Free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Incident Count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🥇 1st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Mumbai-DC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🟢 TOP PERFORMER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🥈 2nd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99.3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99.41%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98.68%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 (Excellent)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🥉 3rd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97.7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99.75%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94.53%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 (Excellent)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92.0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MODERATE (Good)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91.9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82.84%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MODERATE (Good)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88.8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73.68%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MODERATE (Good)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#7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84.9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93.01%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75.44%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ELEVATED (Fair)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Hyderabad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84.1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62.50%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ELEVATED (Fair)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320040" y="566928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20040" y="566928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0"/>
          <p:cNvSpPr/>
          <p:nvPr/>
        </p:nvSpPr>
        <p:spPr>
          <a:xfrm>
            <a:off x="502920" y="57241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Ranking — Key Findings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02920" y="59984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Mumbai-DC leads the network with the highest health score of 100.00 — strong operational performance.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502920" y="61996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Hyderabad reported the lowest health score of 84.13 and requires priority intervention.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502920" y="64008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5 out of 8 sites are in excellent or good health.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ASSESSMENT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Site-Level Risk Classification with Prioritized Remediation Recommendations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1280160"/>
                <a:gridCol w="2286000"/>
                <a:gridCol w="4599432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Health Score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Risk Level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Top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Recommendation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Hyderabad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84.1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ELEVATED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PRIORITY: Investigate Device Power Issues incidents. Schedule site visit within 2 weeks.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84.9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ELEVATED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PRIORITY: Investigate Device Power Issues incidents. Schedule site visit within 2 weeks.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88.8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MODERATE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MONITOR: Review Device Power Issues trends. Consider preventive maintenance scheduling.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91.9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MODERATE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MONITOR: Review Client Side Activity trends. Consider preventive maintenance scheduling.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92.0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MODERATE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Boot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MONITOR: Review Device Boot Issues trends. Consider preventive maintenance scheduling.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97.7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99.3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 Hold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Mumbai-DC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411480" y="5715000"/>
            <a:ext cx="201168" cy="16459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9"/>
          <p:cNvSpPr/>
          <p:nvPr/>
        </p:nvSpPr>
        <p:spPr>
          <a:xfrm>
            <a:off x="65836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(Score &gt;= 95)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3337560" y="5715000"/>
            <a:ext cx="201168" cy="16459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1"/>
          <p:cNvSpPr/>
          <p:nvPr/>
        </p:nvSpPr>
        <p:spPr>
          <a:xfrm>
            <a:off x="358444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(85-94)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6263640" y="5715000"/>
            <a:ext cx="201168" cy="16459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3"/>
          <p:cNvSpPr/>
          <p:nvPr/>
        </p:nvSpPr>
        <p:spPr>
          <a:xfrm>
            <a:off x="651052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(70-84)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9189720" y="5715000"/>
            <a:ext cx="201168" cy="1645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5"/>
          <p:cNvSpPr/>
          <p:nvPr/>
        </p:nvSpPr>
        <p:spPr>
          <a:xfrm>
            <a:off x="943660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(Score &lt; 70)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320040" y="594360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320040" y="594360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18"/>
          <p:cNvSpPr/>
          <p:nvPr/>
        </p:nvSpPr>
        <p:spPr>
          <a:xfrm>
            <a:off x="502920" y="599846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Assessment — Executive Summary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502920" y="627278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 sites are currently in high-risk condition — commendable network stability.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systemic risk driver across the estate: Device Power Issues.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502920" y="667512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Proactive intervention at elevated-risk sites will prevent escalation to high-risk status.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Bangalore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1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78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99.75%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94.53%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97.73 (Excellent)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99.75% — exceeding SLA threshold of 99.9%.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94.5% of devices remained incident-free.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4416552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4416552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2"/>
          <p:cNvSpPr/>
          <p:nvPr/>
        </p:nvSpPr>
        <p:spPr>
          <a:xfrm>
            <a:off x="594360" y="4443984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 of 97.73 indicates strong operational stability.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4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Recurring Device Power Issues incidents require infrastructure investigation.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Bangalore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Bangalore operates 182 active devices (50 switches, 78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99.75% | Proactive Switch Uptime: 99.99% — below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[Device Power Issues] | APs [New Configuration].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Bangalore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1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14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99.75%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45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78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Q2EW-5R5B-HEY9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Q2ZP-AP5E-Z83L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Q2ZP-D2D2-VFQK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Q2ZP-D47G-NGKY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Q2QW-EXJY-SE64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Q2QW-CTFE-E2WF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Q2QW-CTFW-5KJ6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Device Power Issues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New Configuration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Bangalore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1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15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BANGALORE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PRO/INC/60493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1F-R5-SW4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PRO/INC/60494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1F-R5-SW1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PRO/INC/60495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1F-R5-SW3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PRO/INC/60909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HEALTHCARE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PRO/INC/60913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HEALTHCARE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PRO/INC/61237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HEALTHCARE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PRO/INC/61239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1F-AP26-R5-SW02-34P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Configuration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PRO/INC/61277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1F-R2-SW1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Configuration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firmware updates. Enforce change management for configuration changes.  [Timeline: 30 days]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Greater Noida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2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93.01%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75.44%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84.86 (Fair)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54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54 total incidents logged; primary driver: New Configuration.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93.01% — below SLA target of 99.9%.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75.4% of devices are incident-free — investigate recurring failures.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806440" y="4416552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4416552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4443984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 of 84.86 indicates moderate risk requiring attention.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Greater Noida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Greater Noida operates 122 active devices (42 switches, 72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93.01% | Proactive Switch Uptime: 95.96% — below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[New Configuration] | APs [Device Power Issues].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Greater Noida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2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17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93.01%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38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54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Q5TN-DGC5-M8QZ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Q5TN-NF5F-N32X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JFL-GNMC-1F-LB-AC-SW-01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FCW2110B27A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JFL-GNMC-2F-AC-ST-01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FCW2110B28C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JFL-GNMC-2F-AC-ST-01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FCW2110B27F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JFL-GNMC-2F-AC-ST-01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FOC2113V20F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JFL-GNMC-3F-AC-ST-01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FOC2113S2MD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New Configuration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Device Power Issues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Greater Noida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2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18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54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GREATER NOIDA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PRO/INC/57045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JFL-GNSC-CORE-SW-ST-01 [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 Hold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PRO/INC/57252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JFL-GNSC-AP57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 Hold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PRO/INC/58420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JFL-GNSC-AP50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 Hold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PRO/INC/60166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JFL-GNSC-AP37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 Hold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PRO/INC/60497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JFL-GNSC-AP52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PRO/INC/60730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JFL-GNSC-AP23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PRO/INC/60731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JFL-GNSC-AP19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Boot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PRO/INC/60733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JFL-GNSC-AP18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Investigate and mitigate On Hold failures.  [Timeline: Q2 FY2026]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Guwahati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3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19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92.00 (Good)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100.00% — exceeding SLA threshold of 99.9%.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 of 92.00 indicates strong operational stability.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4416552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4416552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2"/>
          <p:cNvSpPr/>
          <p:nvPr/>
        </p:nvSpPr>
        <p:spPr>
          <a:xfrm>
            <a:off x="594360" y="4443984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total incidents logged; primary driver: Device Boot Issues.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4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80.0% of devices are incident-free — investigate recurring failures.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5" name="Text 52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Recurring Device Boot Issues incidents require infrastructure investigation.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8" name="Text 55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Guwahati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Guwahati operates 5 active devices (2 switches, 3 APs).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100.00% | Proactive Switch Uptime: 99.99% — within the 99.9% SLA threshold.</a:t>
            </a:r>
            <a:endParaRPr lang="en-US" sz="850" dirty="0"/>
          </a:p>
        </p:txBody>
      </p:sp>
      <p:sp>
        <p:nvSpPr>
          <p:cNvPr id="61" name="Text 58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[Device Boot Issues] | APs [Stable Operations (No Incidents)].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Guwahati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3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Q5JG-AQNW-P9FB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Q5JG-ECTW-5MN7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Device Boot Issues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Stable Operations (No Incidents)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Guwahati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3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GUWAHATI</a:t>
            </a:r>
            <a:endParaRPr lang="en-US" sz="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PRO/INC/62009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JFL-Guwahati-CORE-02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Boot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 hardware audit. Identify end-of-life devices for replacement.  [Timeline: 60 days]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Hyderabad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4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62.50%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84.13 (Fair)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100.00% — exceeding SLA threshold of 99.9%.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total incidents logged; primary driver: Stable Operations (No Incidents).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4" name="Text 41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62.5% of devices are incident-free — investigate recurring failures.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 of 84.13 indicates moderate risk requiring attention.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5806440" y="4416552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5806440" y="4416552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5" name="Text 52"/>
          <p:cNvSpPr/>
          <p:nvPr/>
        </p:nvSpPr>
        <p:spPr>
          <a:xfrm>
            <a:off x="5989320" y="4443984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Recurring Stable Operations (No Incidents) incidents require infrastructure investigation.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8" name="Text 55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Hyderabad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Hyderabad operates 16 active devices (2 switches, 14 APs).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100.00% | Proactive Switch Uptime: 100.00% — within the 99.9% SLA threshold.</a:t>
            </a:r>
            <a:endParaRPr lang="en-US" sz="850" dirty="0"/>
          </a:p>
        </p:txBody>
      </p:sp>
      <p:sp>
        <p:nvSpPr>
          <p:cNvPr id="61" name="Text 58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[Stable Operations (No Incidents)] | APs [Device Power Issues].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Hyderabad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4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Q5JJ-GEWQ-X3MG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Q5JJ-Q88T-6XC7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Stable Operations (No Incidents)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Device Power Issues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Hyderabad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4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24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HYDERABAD</a:t>
            </a:r>
            <a:endParaRPr lang="en-US" sz="9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PRO/INC/62248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JFL-HYD-SCC-AP09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PRO/INC/62249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JFL-HYD-SCC-AP13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PRO/INC/62250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JFL-HYD-SCC-AP06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PRO/INC/62251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JFL-HYD-SCC-AP01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PRO/INC/62330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JFL-HYD-SCC-AP11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PRO/INC/62331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JFL-HYD-SCC-AP15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PRO/INC/62333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JFL-HYD-SCC-AP13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Mohali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5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25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73.68%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88.77 (Good)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100.00% — exceeding SLA threshold of 99.9%.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total incidents logged; primary driver: Stable Operations (No Incidents).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4" name="Text 41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73.7% of devices are incident-free — investigate recurring failures.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 of 88.77 indicates moderate risk requiring attention.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5806440" y="4416552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5806440" y="4416552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5" name="Text 52"/>
          <p:cNvSpPr/>
          <p:nvPr/>
        </p:nvSpPr>
        <p:spPr>
          <a:xfrm>
            <a:off x="5989320" y="4443984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Recurring Stable Operations (No Incidents) incidents require infrastructure investigation.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8" name="Text 55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Mohali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Mohali operates 19 active devices (4 switches, 15 APs).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100.00% | Proactive Switch Uptime: 100.00% — within the 99.9% SLA threshold.</a:t>
            </a:r>
            <a:endParaRPr lang="en-US" sz="850" dirty="0"/>
          </a:p>
        </p:txBody>
      </p:sp>
      <p:sp>
        <p:nvSpPr>
          <p:cNvPr id="61" name="Text 58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[Stable Operations (No Incidents)] | APs [Device Power Issues].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Mohali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5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Q5JG-NJW9-ABBQ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Q5JJ-3TZH-2HV5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TRANSPORT ROOM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Q3LP-2PSJ-6DLB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WAREHOUSE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Q3LM-TGAF-Q97P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Stable Operations (No Incidents)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Device Power Issues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Mohali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5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27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MOHALI</a:t>
            </a:r>
            <a:endParaRPr lang="en-US" sz="9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PRO/INC/60773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JFL-Mohali-SCC-AP13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PRO/INC/60891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JFL-Mohali-SCC-AP10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PRO/INC/60893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PRO/INC/60892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PRO/INC/61478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JFL-Mohali-SCC-AP07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Boot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 hardware audit. Identify end-of-life devices for replacement.  [Timeline: 60 days]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Mumbai-DC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6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28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 (Excellent)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100.00% — exceeding SLA threshold of 99.9%.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100.0% of devices remained incident-free.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4416552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4416552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2"/>
          <p:cNvSpPr/>
          <p:nvPr/>
        </p:nvSpPr>
        <p:spPr>
          <a:xfrm>
            <a:off x="594360" y="4443984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 of 100.00 indicates strong operational stability.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4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critical risks identified. Continue standard monitoring protocols.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Mumbai-DC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Mumbai-DC operates 8 active devices (4 switches, 0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100.00% | Proactive Switch Uptime: 100.00% — within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[Stable Operations (No Incidents)] | APs [Stable Operations (No Incidents)].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Mumbai-DC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6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29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N/A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Stable Operations (No Incidents)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Stable Operations (No Incidents)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Mumbai-DC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6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&amp; RCA REVIEW — MUMBAI-DC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11480" y="2423160"/>
            <a:ext cx="11365992" cy="1280160"/>
          </a:xfrm>
          <a:prstGeom prst="roundRect">
            <a:avLst>
              <a:gd name="adj" fmla="val 57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2920" y="256032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INCIDENTS RECORDED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502920" y="297180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Mumbai-DC achieved 100% operational SLA compliance with zero incident tickets recorded during this reporting period.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20040" y="39319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6"/>
          <p:cNvSpPr/>
          <p:nvPr/>
        </p:nvSpPr>
        <p:spPr>
          <a:xfrm>
            <a:off x="502920" y="3968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11480" y="4343400"/>
            <a:ext cx="11365992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94360" y="4526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Status: Stable Operations (No Incidents)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20040" y="5303520"/>
            <a:ext cx="11548872" cy="813816"/>
          </a:xfrm>
          <a:prstGeom prst="roundRect">
            <a:avLst>
              <a:gd name="adj" fmla="val 6742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20040" y="5303520"/>
            <a:ext cx="73152" cy="8138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4" name="Text 31"/>
          <p:cNvSpPr/>
          <p:nvPr/>
        </p:nvSpPr>
        <p:spPr>
          <a:xfrm>
            <a:off x="502920" y="535838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Insight — Mumbai-DC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02920" y="563270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incident tickets recorded for Mumbai-DC in this reporting period.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502920" y="583387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Infrastructure health remains optimal. Continuous proactive monitoring is active.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Nagpur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7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82.84%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91.88 (Good)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90.0% of devices remained incident-free.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 of 91.88 indicates strong operational stability.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4416552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4416552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2"/>
          <p:cNvSpPr/>
          <p:nvPr/>
        </p:nvSpPr>
        <p:spPr>
          <a:xfrm>
            <a:off x="594360" y="4443984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total incidents logged; primary driver: Client Side Activity.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4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82.84% — below SLA target of 99.9%.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5" name="Text 52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Recurring Client Side Activity incidents require infrastructure investigation.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8" name="Text 55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Nagpur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Nagpur operates 10 active devices (4 switches, 6 APs).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82.84% | Proactive Switch Uptime: 99.90% — below the 99.9% SLA threshold.</a:t>
            </a:r>
            <a:endParaRPr lang="en-US" sz="850" dirty="0"/>
          </a:p>
        </p:txBody>
      </p:sp>
      <p:sp>
        <p:nvSpPr>
          <p:cNvPr id="61" name="Text 58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[Client Side Activity] | APs [Stable Operations (No Incidents)].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Nagpur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7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82.84%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Q5JJ-68KZ-MXAS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99.60%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Q5JG-SL55-CZ9Z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Q5JG-TM9S-PLFP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Q5JG-STQ9-EUPF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Client Side Activity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Stable Operations (No Incidents)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Nagpur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7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NAGPUR</a:t>
            </a:r>
            <a:endParaRPr lang="en-US" sz="9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PRO/INC/60680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PRO/INC/60847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PRO/INC/60911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Configuration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PRO/INC/61513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PRO/INC/61525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PRO/INC/61771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Configuration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PRO/INC/61887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Configuration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PRO/INC/61940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High-frequency RCA (55.6%). Conduct root cause workshop with operations team.  [Timeline: 14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firmware updates. Enforce change management for configuration changes.  [Timeline: 30 days]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Noida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8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34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99.41%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98.68%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99.29 (Excellent)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98.7% of devices remained incident-free.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 of 99.29 indicates strong operational stability.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4416552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4416552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2"/>
          <p:cNvSpPr/>
          <p:nvPr/>
        </p:nvSpPr>
        <p:spPr>
          <a:xfrm>
            <a:off x="594360" y="4443984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total incidents logged; primary driver: Stable Operations (No Incidents).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4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99.41% — below SLA target of 99.9%.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5" name="Text 52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Recurring Stable Operations (No Incidents) incidents require infrastructure investigation.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8" name="Text 55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Noida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Noida operates 82 active devices (40 switches, 36 APs).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99.41% | Proactive Switch Uptime: 99.41% — below the 99.9% SLA threshold.</a:t>
            </a:r>
            <a:endParaRPr lang="en-US" sz="850" dirty="0"/>
          </a:p>
        </p:txBody>
      </p:sp>
      <p:sp>
        <p:nvSpPr>
          <p:cNvPr id="61" name="Text 58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[Stable Operations (No Incidents)] | APs [Stable Operations (No Incidents)].</a:t>
            </a:r>
            <a:endParaRPr lang="en-US" sz="8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Noida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8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35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99.41%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JFL-15F-AP-Switch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FVH2903LAA9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JFL-15F-AP-Switch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FOC2710Y261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JFL-15F-L2-Stack1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FOC2714Z681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JFL-15F-L2-Stack1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FOC2716YN3W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JFL-15F-L2-Stack1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FOC2716YLLY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JFL-15F-L2-Stack1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FOC2716YLM7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JFL-15F-L2-Stack1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FOC2714Z5B8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Stable Operations (No Incidents)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Stable Operations (No Incidents)</a:t>
            </a:r>
            <a:endParaRPr lang="en-US" sz="8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Noida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8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NOIDA</a:t>
            </a:r>
            <a:endParaRPr lang="en-US" sz="9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PRO/INC/62140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JFL-ISE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 Hold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High-frequency RCA (100.0%). Conduct root cause workshop with operations team.  [Timeline: 14 days]</a:t>
            </a:r>
            <a:endParaRPr lang="en-US" sz="8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AI-GENERATED RECOMMENDATIONS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Priority-Based Remediation Plan Generated from Incident &amp; Health Analytics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37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0040" y="960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996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PRIORITY — IMMEDIATE ACTION REQUIRED (0-30 DAYS)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11480" y="1298448"/>
            <a:ext cx="11365992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11480" y="1298448"/>
            <a:ext cx="5486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2"/>
          <p:cNvSpPr/>
          <p:nvPr/>
        </p:nvSpPr>
        <p:spPr>
          <a:xfrm>
            <a:off x="411480" y="138988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1051560" y="1353312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health degradation at Hyderabad (Score: 84.13). Conduct on-site audit and deploy rapid response team.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11480" y="1737360"/>
            <a:ext cx="11365992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11480" y="1737360"/>
            <a:ext cx="5486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6"/>
          <p:cNvSpPr/>
          <p:nvPr/>
        </p:nvSpPr>
        <p:spPr>
          <a:xfrm>
            <a:off x="411480" y="182880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1051560" y="1792224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health degradation at Greater Noida (Score: 84.86). Conduct on-site audit and deploy rapid response team.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11480" y="2176272"/>
            <a:ext cx="11365992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11480" y="2176272"/>
            <a:ext cx="5486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3" name="Text 20"/>
          <p:cNvSpPr/>
          <p:nvPr/>
        </p:nvSpPr>
        <p:spPr>
          <a:xfrm>
            <a:off x="411480" y="226771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1051560" y="2231136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health degradation at Mohali (Score: 88.77). Conduct on-site audit and deploy rapid response team.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20040" y="27432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Text 23"/>
          <p:cNvSpPr/>
          <p:nvPr/>
        </p:nvSpPr>
        <p:spPr>
          <a:xfrm>
            <a:off x="502920" y="27797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 PRIORITY — ACTION REQUIRED (30-60 DAYS)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11480" y="3090672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11480" y="3090672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6"/>
          <p:cNvSpPr/>
          <p:nvPr/>
        </p:nvSpPr>
        <p:spPr>
          <a:xfrm>
            <a:off x="411480" y="3163824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1097280" y="3136392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and mitigate On Hold failures.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411480" y="3493008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11480" y="3493008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3" name="Text 30"/>
          <p:cNvSpPr/>
          <p:nvPr/>
        </p:nvSpPr>
        <p:spPr>
          <a:xfrm>
            <a:off x="411480" y="356616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1097280" y="3538728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firmware updates. Enforce change management for configuration changes.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11480" y="3895344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11480" y="3895344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7" name="Text 34"/>
          <p:cNvSpPr/>
          <p:nvPr/>
        </p:nvSpPr>
        <p:spPr>
          <a:xfrm>
            <a:off x="411480" y="3968496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1097280" y="3941064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and mitigate Client Side Activity failures.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320040" y="4343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0" name="Text 37"/>
          <p:cNvSpPr/>
          <p:nvPr/>
        </p:nvSpPr>
        <p:spPr>
          <a:xfrm>
            <a:off x="502920" y="4379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 PRIORITY — STANDARD PRACTICE (60-90 DAYS)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411480" y="468172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11480" y="4681728"/>
            <a:ext cx="548640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3" name="Text 40"/>
          <p:cNvSpPr/>
          <p:nvPr/>
        </p:nvSpPr>
        <p:spPr>
          <a:xfrm>
            <a:off x="411480" y="473659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1051560" y="4718304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network topology documentation for all 8 sites including current device serial inventories.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411480" y="504748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11480" y="5047488"/>
            <a:ext cx="548640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7" name="Text 44"/>
          <p:cNvSpPr/>
          <p:nvPr/>
        </p:nvSpPr>
        <p:spPr>
          <a:xfrm>
            <a:off x="411480" y="510235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48" name="Text 45"/>
          <p:cNvSpPr/>
          <p:nvPr/>
        </p:nvSpPr>
        <p:spPr>
          <a:xfrm>
            <a:off x="1051560" y="5084064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quarterly stakeholder review meetings with JFL IT leadership to align on operational priorities.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411480" y="541324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411480" y="5413248"/>
            <a:ext cx="548640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1" name="Text 48"/>
          <p:cNvSpPr/>
          <p:nvPr/>
        </p:nvSpPr>
        <p:spPr>
          <a:xfrm>
            <a:off x="411480" y="546811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52" name="Text 49"/>
          <p:cNvSpPr/>
          <p:nvPr/>
        </p:nvSpPr>
        <p:spPr>
          <a:xfrm>
            <a:off x="1051560" y="5449824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proactive monitoring alert threshold tuning to reduce noise and improve incident detection accuracy.</a:t>
            </a:r>
            <a:endParaRPr lang="en-US" sz="8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PLAN TRACKER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Prioritized Action Items with Ownership, Timeline &amp; Status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38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931920"/>
                <a:gridCol w="1828800"/>
                <a:gridCol w="1280160"/>
                <a:gridCol w="1371600"/>
                <a:gridCol w="1947672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Action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Owner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Timeline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Impact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Remediate health degradation at Hyderabad (Score: 84.13)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Network Operations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Remediate health degradation at Greater Noida (Score: 84.86)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Network Operations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Remediate health degradation at Mohali (Score: 88.77)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Network Operations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Root cause elimination for "Device Power Issues" (55 occurrences across all sites)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Infrastructure Team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45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 Progress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Root cause elimination for "On Hold" (13 occurrences across all sites)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Infrastructure Team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45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 Progress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Root cause elimination for "New Configuration" (7 occurrences across all sites)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Infrastructure Team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45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 Progress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Quarterly firmware update across all network switches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Network Ops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 FY2026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Planned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 placement review at sites with &gt;30% AP incident rate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Wireless Team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60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Planned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Documentation update — network topology diagrams for all 8 sites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Documentation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90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Planned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proactive health check cadence review with JFL stakeholders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Account Manager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Ongoing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Active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320040" y="589788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20040" y="589788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0"/>
          <p:cNvSpPr/>
          <p:nvPr/>
        </p:nvSpPr>
        <p:spPr>
          <a:xfrm>
            <a:off x="502920" y="5952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Plan — Executive Note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02920" y="62270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6 high-priority actions require completion within 30-45 days to prevent SLA degradation.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502920" y="64282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Action ownership has been assigned to respective operational teams. Regular follow-up recommended.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502920" y="6629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This action plan should be reviewed and updated monthly with JFL IT leadership.</a:t>
            </a:r>
            <a:endParaRPr lang="en-US" sz="8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Other Activity — Change Requests, Maintenance &amp; Non-Hardware Tickets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39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1136599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1280160"/>
                <a:gridCol w="1280160"/>
                <a:gridCol w="914400"/>
                <a:gridCol w="1371600"/>
                <a:gridCol w="914400"/>
                <a:gridCol w="176479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Subject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 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Name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Serial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Type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Hostname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Authentication issue as AD disjoined--------WMP271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WMP27030033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Cisco ISE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JFL-ISE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 Hold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 Hold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APPENDIX — MASTER DATA REFERENCE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Information Governance &amp; Accompanying Audit Logs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1371600" y="1828800"/>
            <a:ext cx="9445752" cy="3200400"/>
          </a:xfrm>
          <a:prstGeom prst="roundRect">
            <a:avLst>
              <a:gd name="adj" fmla="val 28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371600" y="1828800"/>
            <a:ext cx="9445752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0"/>
          <p:cNvSpPr/>
          <p:nvPr/>
        </p:nvSpPr>
        <p:spPr>
          <a:xfrm>
            <a:off x="1645920" y="1938528"/>
            <a:ext cx="8869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DATA NOTICE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645920" y="2606040"/>
            <a:ext cx="88696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Detailed raw device logs, switch inventories, AP breakdowns, and full incident history tables are available in the accompanying Excel/CSV data files.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QBR PPT presentation contains only executive summaries, site-by-site reviews, and strategic action plans to maintain high executive readability.</a:t>
            </a:r>
            <a:endParaRPr lang="en-US" sz="13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8304" y="1097280"/>
            <a:ext cx="2743200" cy="868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9456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3246120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2B1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Proactive Data Systems   ·   www.proactive.co.in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200400" y="3886200"/>
            <a:ext cx="5788152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114800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Reporting Period: 1 August 2026 – 31 August 2026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446227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Customer: Jubilant Foodworks Ltd (JFL)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4809744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Generated: 6 October 2026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6035040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55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This document is intended for authorized recipients only.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2026-10-06T10:27:46Z</dcterms:created>
  <dcterms:modified xsi:type="dcterms:W3CDTF">2026-10-06T10:27:46Z</dcterms:modified>
</cp:coreProperties>
</file>