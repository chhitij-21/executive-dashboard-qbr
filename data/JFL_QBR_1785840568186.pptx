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2979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C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</c:v>
                </c:pt>
                <c:pt idx="1">
                  <c:v>107</c:v>
                </c:pt>
                <c:pt idx="2">
                  <c:v>2</c:v>
                </c:pt>
                <c:pt idx="3">
                  <c:v>5</c:v>
                </c:pt>
                <c:pt idx="4">
                  <c:v>19</c:v>
                </c:pt>
                <c:pt idx="5">
                  <c:v>0</c:v>
                </c:pt>
                <c:pt idx="6">
                  <c:v>9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C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C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C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1C3B60"/>
          </a:solidFill>
          <a:ln w="12700">
            <a:solidFill>
              <a:srgbClr val="2979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July 2026 – 31 July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4 August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C3B60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 QBR Report  ·  1 July 2026 – 31 July 2026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1005840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1005840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117043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10789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88720" y="137160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overall health, and AI-generated executive narrative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058400" y="120700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1755648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55648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92024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18288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Overview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88720" y="212140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health, device inventory, and per-site infrastructure breakdown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058400" y="195681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4–6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1480" y="2505456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" y="2505456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5" name="Text 22"/>
          <p:cNvSpPr/>
          <p:nvPr/>
        </p:nvSpPr>
        <p:spPr>
          <a:xfrm>
            <a:off x="411480" y="267004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88720" y="25786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&amp; RCA Analysis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88720" y="287121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trends, root cause Pareto analysis, and site-RCA heatmap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058400" y="27066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7–9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11480" y="3255264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11480" y="3255264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1" name="Text 28"/>
          <p:cNvSpPr/>
          <p:nvPr/>
        </p:nvSpPr>
        <p:spPr>
          <a:xfrm>
            <a:off x="411480" y="3419856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188720" y="332841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Ticket Analytics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188720" y="3621024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compliance, MTTR, and ticket management summary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058400" y="345643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10–11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11480" y="4005072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4005072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416966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188720" y="407822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&amp; Risk Assessment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188720" y="437083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 and traffic-light risk assessment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058400" y="420624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12–13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11480" y="4754880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754880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91947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1188720" y="48280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Reviews (8 Sites)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188720" y="512064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per-site operational review, analytics, and incident tickets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058400" y="495604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14–37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11480" y="5504688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11480" y="5504688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49" name="Text 46"/>
          <p:cNvSpPr/>
          <p:nvPr/>
        </p:nvSpPr>
        <p:spPr>
          <a:xfrm>
            <a:off x="411480" y="566928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1188720" y="55778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Action Plan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1188720" y="587044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recommendations and prioritized action tracker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0058400" y="570585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38–39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411480" y="6254496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11480" y="6254496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55" name="Text 52"/>
          <p:cNvSpPr/>
          <p:nvPr/>
        </p:nvSpPr>
        <p:spPr>
          <a:xfrm>
            <a:off x="411480" y="641908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1188720" y="632764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&amp; Raw Data Logs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1188720" y="662025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device inventories, switch/AP logs, and master incident audit trail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0058400" y="64556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40–44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  ·  1 July 2026 – 31 July 2026  ·  Quarterly Business Review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98.27%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77.90%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83.83%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481328"/>
          </a:xfrm>
          <a:prstGeom prst="roundRect">
            <a:avLst>
              <a:gd name="adj" fmla="val 3704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481328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Executive Summary — 1 July 2026 – 31 July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network uptime was 98.27%, marginally below the 99.3%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total of 171 incidents were recorded, with Greater Noida contributing the highest volume (107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achieved the strongest health score while Mohali reported the lowest at 73.09.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02920" y="431596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compliance stood at 83.83%; targeted remediation is recommended to meet contractual obligations.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02920" y="45171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77.9% of all monitored devices remained incident-free throughout the reporting period.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7" name="Shape 44"/>
          <p:cNvSpPr/>
          <p:nvPr/>
        </p:nvSpPr>
        <p:spPr>
          <a:xfrm>
            <a:off x="3977640" y="5321808"/>
            <a:ext cx="3723437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8" name="Text 45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50.9% (87)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1" name="Shape 48"/>
          <p:cNvSpPr/>
          <p:nvPr/>
        </p:nvSpPr>
        <p:spPr>
          <a:xfrm>
            <a:off x="3977640" y="5614416"/>
            <a:ext cx="2567635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2" name="Text 49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35.1% (60)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5" name="Shape 52"/>
          <p:cNvSpPr/>
          <p:nvPr/>
        </p:nvSpPr>
        <p:spPr>
          <a:xfrm>
            <a:off x="3977640" y="5907024"/>
            <a:ext cx="424282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6" name="Text 53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 (10)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9" name="Shape 56"/>
          <p:cNvSpPr/>
          <p:nvPr/>
        </p:nvSpPr>
        <p:spPr>
          <a:xfrm>
            <a:off x="3977640" y="6199632"/>
            <a:ext cx="212141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60" name="Text 57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2.9% (5)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NETWORK HEALTH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Health Assessment Across All Monitored Sites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0F4F9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90.1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20040" y="36576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6941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" y="40416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88920" y="4078224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0" name="Shape 17"/>
          <p:cNvSpPr/>
          <p:nvPr/>
        </p:nvSpPr>
        <p:spPr>
          <a:xfrm>
            <a:off x="2788920" y="4078224"/>
            <a:ext cx="7176257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1" name="Text 18"/>
          <p:cNvSpPr/>
          <p:nvPr/>
        </p:nvSpPr>
        <p:spPr>
          <a:xfrm>
            <a:off x="10652760" y="40416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430000" y="40416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11480" y="4352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788920" y="4389120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5" name="Shape 22"/>
          <p:cNvSpPr/>
          <p:nvPr/>
        </p:nvSpPr>
        <p:spPr>
          <a:xfrm>
            <a:off x="2788920" y="4389120"/>
            <a:ext cx="6617421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6" name="Text 23"/>
          <p:cNvSpPr/>
          <p:nvPr/>
        </p:nvSpPr>
        <p:spPr>
          <a:xfrm>
            <a:off x="10652760" y="43525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85.1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430000" y="43525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11480" y="4663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788920" y="4700016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0" name="Shape 27"/>
          <p:cNvSpPr/>
          <p:nvPr/>
        </p:nvSpPr>
        <p:spPr>
          <a:xfrm>
            <a:off x="2788920" y="4700016"/>
            <a:ext cx="6473632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8"/>
          <p:cNvSpPr/>
          <p:nvPr/>
        </p:nvSpPr>
        <p:spPr>
          <a:xfrm>
            <a:off x="10652760" y="4663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430000" y="4663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5" name="Shape 32"/>
          <p:cNvSpPr/>
          <p:nvPr/>
        </p:nvSpPr>
        <p:spPr>
          <a:xfrm>
            <a:off x="2788920" y="5010912"/>
            <a:ext cx="6667942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6" name="Text 33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11480" y="52852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788920" y="5321808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0" name="Shape 37"/>
          <p:cNvSpPr/>
          <p:nvPr/>
        </p:nvSpPr>
        <p:spPr>
          <a:xfrm>
            <a:off x="2788920" y="5321808"/>
            <a:ext cx="5680847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1" name="Text 38"/>
          <p:cNvSpPr/>
          <p:nvPr/>
        </p:nvSpPr>
        <p:spPr>
          <a:xfrm>
            <a:off x="10652760" y="5285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73.1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1430000" y="5285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11480" y="5596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788920" y="5632704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5" name="Shape 42"/>
          <p:cNvSpPr/>
          <p:nvPr/>
        </p:nvSpPr>
        <p:spPr>
          <a:xfrm>
            <a:off x="2788920" y="5632704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6" name="Text 43"/>
          <p:cNvSpPr/>
          <p:nvPr/>
        </p:nvSpPr>
        <p:spPr>
          <a:xfrm>
            <a:off x="10652760" y="55961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11430000" y="55961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11480" y="59070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788920" y="5943600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0" name="Shape 47"/>
          <p:cNvSpPr/>
          <p:nvPr/>
        </p:nvSpPr>
        <p:spPr>
          <a:xfrm>
            <a:off x="2788920" y="5943600"/>
            <a:ext cx="6786082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1" name="Text 48"/>
          <p:cNvSpPr/>
          <p:nvPr/>
        </p:nvSpPr>
        <p:spPr>
          <a:xfrm>
            <a:off x="10652760" y="59070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11430000" y="59070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11480" y="6217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2788920" y="6254496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5" name="Shape 52"/>
          <p:cNvSpPr/>
          <p:nvPr/>
        </p:nvSpPr>
        <p:spPr>
          <a:xfrm>
            <a:off x="2788920" y="6254496"/>
            <a:ext cx="7724211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6" name="Text 53"/>
          <p:cNvSpPr/>
          <p:nvPr/>
        </p:nvSpPr>
        <p:spPr>
          <a:xfrm>
            <a:off x="10652760" y="6217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11430000" y="6217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4114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572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98.27%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4572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33832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34290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77.90%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34290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63550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4008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83.83%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64008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93268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3726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93726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ALL SITES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SLA Performance &amp; RCA Driver Summary Across Monitored Sites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of 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 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 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 Driver (Switches)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Incidents (Unique)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 Driver (AP)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/ 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 / 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/ 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 / Others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Failures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03504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eight monitored JFL sites for the period 1 July 2026 – 31 July 2026.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Production Devices vs. Stock Inventory — SLA Exclusion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83.6%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280160"/>
          </a:xfrm>
          <a:prstGeom prst="roundRect">
            <a:avLst>
              <a:gd name="adj" fmla="val 4286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28016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monitored device estate: 444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371 devices (83.6%)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73 stock/spare devices are excluded from SLA penalty calculations per operational specification.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02920" y="696772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Stock devices represent spare/replacement capacity. Utilization should be reviewed quarterly.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 Volume, Site Distribution &amp; Category Breakdown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312664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349240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PRIORITY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406640" y="5687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Non-Core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9464040" y="5724144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0" name="Shape 26"/>
          <p:cNvSpPr/>
          <p:nvPr/>
        </p:nvSpPr>
        <p:spPr>
          <a:xfrm>
            <a:off x="9464040" y="5724144"/>
            <a:ext cx="3585411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7"/>
          <p:cNvSpPr/>
          <p:nvPr/>
        </p:nvSpPr>
        <p:spPr>
          <a:xfrm>
            <a:off x="11795760" y="56875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87.1%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7406640" y="59801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9464040" y="6016752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4" name="Shape 30"/>
          <p:cNvSpPr/>
          <p:nvPr/>
        </p:nvSpPr>
        <p:spPr>
          <a:xfrm>
            <a:off x="9464040" y="6016752"/>
            <a:ext cx="360947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1"/>
          <p:cNvSpPr/>
          <p:nvPr/>
        </p:nvSpPr>
        <p:spPr>
          <a:xfrm>
            <a:off x="11795760" y="59801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7406640" y="62727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9464040" y="6309360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8" name="Shape 34"/>
          <p:cNvSpPr/>
          <p:nvPr/>
        </p:nvSpPr>
        <p:spPr>
          <a:xfrm>
            <a:off x="9464040" y="6309360"/>
            <a:ext cx="9625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5"/>
          <p:cNvSpPr/>
          <p:nvPr/>
        </p:nvSpPr>
        <p:spPr>
          <a:xfrm>
            <a:off x="11795760" y="627278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2.3%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7406640" y="65653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9464040" y="6601968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2" name="Shape 38"/>
          <p:cNvSpPr/>
          <p:nvPr/>
        </p:nvSpPr>
        <p:spPr>
          <a:xfrm>
            <a:off x="9464040" y="6601968"/>
            <a:ext cx="72189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39"/>
          <p:cNvSpPr/>
          <p:nvPr/>
        </p:nvSpPr>
        <p:spPr>
          <a:xfrm>
            <a:off x="11795760" y="65653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1.8%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320040" y="5559552"/>
            <a:ext cx="11548872" cy="1280160"/>
          </a:xfrm>
          <a:prstGeom prst="roundRect">
            <a:avLst>
              <a:gd name="adj" fmla="val 4286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320040" y="5559552"/>
            <a:ext cx="73152" cy="128016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6" name="Text 42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171 total incidents were recorded during the reporting period.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Greater Noida contributed the highest incident volume with 107 incidents.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160 incidents (93.6%) were resolved and closed.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critical P1 incidents were recorded — commendable operational performance.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— PARETO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Incident Drivers by Frequency &amp; Cumulative Percentage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3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Failures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High-frequency RCA (35.1%). Conduct root cause workshop with operations team.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Hold: Investigate and mitigate On Hold failures.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INCIDENT HEATMAP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vs. Root Cause Category — Incident Frequency Matrix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6070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22376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14884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91540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6" name="Shape 73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0" name="Shape 87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722376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98" name="Shape 95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8915400" y="487375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4" name="Shape 101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06" name="Shape 103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08" name="Shape 105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0" name="Shape 107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2" name="Shape 109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4" name="Shape 111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PERFORMANCE DASHBOARD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Target: 99.3%  ·  1 July 2026 – 31 July 2026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0F4F9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" y="1463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83.83%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50292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99.3%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6616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98.27%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56616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77.90%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0080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3544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23544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1737360"/>
                <a:gridCol w="1737360"/>
                <a:gridCol w="23774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Incident-Free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68.42%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85.1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36.84%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320040" y="6199632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20040" y="6199632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0" name="Text 26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SLA compliance: 83.83% against a 99.3% target.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uptime averaged 98.27%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Ticket Volume, Priority Distribution &amp; Resolution Performance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JFL-GNMC-NCK-SW-02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Failures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PRO/INC/56409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SEC-CAB-SW2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PRO/INC/56422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171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Resolution rate: 93.6% — 160 tickets resolved, 11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Sites Ranked from Healthiest to Most Critical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011680"/>
                <a:gridCol w="1554480"/>
                <a:gridCol w="1554480"/>
                <a:gridCol w="1554480"/>
                <a:gridCol w="2011680"/>
                <a:gridCol w="20848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Incident-Free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85.1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68.42%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 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36.84%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 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Mohali reported the lowest health score of 73.09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Site-Level Risk Classification with Prioritized Remediation Recommendations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PRIORITY: Investigate Device Power Issues incidents. Schedule site visit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PRIORITY: Investigate Device Power Issues incidents. Schedule site visit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85.1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Client Side Activity trends. Consider preventive mainten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Device Power Issues trends. Consider preventive maintena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Third Party Device issue trends. Consider preventive mai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Device Power Issues trends. Consider preventive maintena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sites are currently in high-risk condition — commendable network stability.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1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99.62%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81.10%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92.33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99.62% — exceeding SLA threshold of 99.3%.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11480" y="397764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397764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66928" y="40050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score of 92.33 indicates strong operational stability.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11480" y="434340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34340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66928" y="437083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total incidents logged; primary driver: Device Power Issues.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81.1% of devices are incident-free — investigate recurring failures.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Device Power Issues incidents require infrastructure investigation.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Bangalore operates 182 active devices (49 switches, 78 APs) in the current reporting period.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99.62% — within the 99.3%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28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1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99.62%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1F-R1-SW4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1F-R1-SW4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MZ-R1-SW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MZ-R1-SW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21 (75.0%)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Hold: 5 (17.9%)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1 (3.6%)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 (3.6%)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68.42%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85.14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total incidents logged; primary driver: Others.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99.33%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68.4%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85.14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Greater Noida operates 122 active devices (42 switches, 72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99.33% — within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107 incidents recorded; primary root cause: Others.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99.33%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[2]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[1]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JFL-GNSC-TR-AC-SW-01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JFL-GNSC-TR-AC-SW-01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JFL-GNSC-TR-AC-SW-01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JFL-GNSC-TP-AC-SW-01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52 (48.6%)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47 (43.9%)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Hold: 5 (4.7%)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2 (1.9%)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98.52%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83.29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98.52%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60.0%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83.29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Guwahati operates 5 active devices (2 switches, 3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98.52%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98.52%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2 (100.0%)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GUWAHATI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4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68.75%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85.79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87.44%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68.8%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85.79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Hyderabad operates 16 active devices (2 switches, 14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87.44%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4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5 (100.0%)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36.84%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73.09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100.00% — exceeding SLA threshold of 99.3%.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11480" y="397764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397764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66928" y="40050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total incidents logged; primary driver: Stable Operations (No Incidents).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36.8%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73.09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Stable Operations (No Incidents) incidents require infrastructure investigation.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Mohali operates 19 active devices (4 switches, 15 APs) in the current reporting period.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100.00% — within the 99.3%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 incidents recorded; primary root cause: Stable Operations (No Incidents).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12 (63.2%)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6 (31.6%)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Component: 1 (5.3%)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MOHALI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PRO/INC/56582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PRO/INC/57204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Failures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PRO/INC/57320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PRO/INC/57375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PRO/INC/57405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RCA (31.6%).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 —  HEALTHY SITE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6 of 8  ·  Operational Excellence &amp; 100% SLA Compliance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25112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0832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70832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/ APs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38744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84464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25112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370832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238744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84464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84464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HIGHLIGHTS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61188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6393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100.00% operational SLA compliance throughout the reporting period.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1480" y="402336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402336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" y="40507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high-priority incident tickets recorded for active production infrastructure.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44348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443484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44622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switches and 0 access points operated without SLA breaches.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" y="5029200"/>
            <a:ext cx="11548872" cy="877824"/>
          </a:xfrm>
          <a:prstGeom prst="roundRect">
            <a:avLst>
              <a:gd name="adj" fmla="val 6250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" y="5029200"/>
            <a:ext cx="73152" cy="877824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50840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Mumbai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02920" y="53583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is a top-performing healthy site with an operational health score of 100.00.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02920" y="55595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stability is high across all registered devices. No remediation action required for the upcoming reporting cycle.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81.79%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87.31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total incidents logged; primary driver: Third Party Device issue / Others.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81.79%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80.0%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87.31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Nagpur operates 10 active devices (4 switches, 6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81.79%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 incidents recorded; primary root cause: Third Party Device issue / Others.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81.79%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Device: 3 (33.3%)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3 (33.3%)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2 (22.2%)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 (11.1%)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  —  HEALTHY SITE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8 of 8  ·  Operational Excellence &amp; 100% SLA Compliance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25112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0832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35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70832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/ APs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38744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84464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98.68%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25112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99.38 (Excellent)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370832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238744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84464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84464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HIGHLIGHTS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61188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6393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100.00% operational SLA compliance throughout the reporting period.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1480" y="402336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402336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" y="40507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high-priority incident tickets recorded for active production infrastructure.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44348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443484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44622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41 switches and 35 access points operated without SLA breaches.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" y="5029200"/>
            <a:ext cx="11548872" cy="877824"/>
          </a:xfrm>
          <a:prstGeom prst="roundRect">
            <a:avLst>
              <a:gd name="adj" fmla="val 6250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" y="5029200"/>
            <a:ext cx="73152" cy="877824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50840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Noida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02920" y="53583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Noida is a top-performing healthy site with an operational health score of 99.38.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02920" y="55595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stability is high across all registered devices. No remediation action required for the upcoming reporting cycle.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RECOMMENDATIONS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Remediation Plan Generated from Incident &amp; Health Analytics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7160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Mohali (Score: 73.09). Conduct on-site audit and deploy rapid response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81051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83.29). Conduct on-site audit and deploy rapid respon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494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Greater Noida (Score: 85.14). Conduct on-site audit and deploy rapid r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45536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On Hold failures.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4787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Others failures.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50208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2744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9320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589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TRACKER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Action Items with Ownership, Timeline &amp; Status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  <a:gridCol w="2011680"/>
                <a:gridCol w="1371600"/>
                <a:gridCol w="146304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Mohali (Score: 73.09)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Guwahati (Score: 83.29)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Greater Noida (Score: 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"Device Power Issues" (87 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"Client Side Activity" (60 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"On Hold" (10 occurrences 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firmware update across all network switches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FY2026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placement review at sites with &gt;30% AP incident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update — network topology diagrams for 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proactive health check cadence review with JFL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011680"/>
            <a:ext cx="10817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83464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Inventory Logs &amp; Raw Incident Records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347472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749040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materials supporting Executive QBR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DEVICE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Monitored Active &amp; Stock Device List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60320"/>
                <a:gridCol w="2286000"/>
                <a:gridCol w="2286000"/>
                <a:gridCol w="182880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ID / Serial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/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444 total monitored devices across all sites. Full dataset available in Excel export.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SWITCH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Switch Inventory &amp; Effective Uptime Log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926080"/>
                <a:gridCol w="2286000"/>
                <a:gridCol w="210312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 / Device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[2]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[1]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JFL-GNSC-TR-AC-SW-01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JFL-GNSC-TR-AC-SW-01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142 total active switches monitored across all 8 sites.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ACCESS POINT (AP)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Access Point Estate Breakdown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200400"/>
                <a:gridCol w="2286000"/>
                <a:gridCol w="2286000"/>
                <a:gridCol w="286207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Point ID / Serial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/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/ Controller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223 total wireless access points monitored across all 8 sites.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RAW INCIDENT RECORDS LOG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Master Incident Ticket Audit Log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645920"/>
                <a:gridCol w="1371600"/>
                <a:gridCol w="1371600"/>
                <a:gridCol w="331927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Analysis (RCA)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PRO/INC/56229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JFL-GNMC-NCK-SW-02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Failures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PRO/INC/56409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SEC-CAB-SW2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PRO/INC/56422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PRO/INC/56426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PRO/INC/56427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171 raw incident records logged during the reporting period. Full audit trail saved in dashboard_data.json.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July 2026 – 31 July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4 August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2026-08-04T10:49:28Z</dcterms:created>
  <dcterms:modified xsi:type="dcterms:W3CDTF">2026-08-04T10:49:28Z</dcterms:modified>
</cp:coreProperties>
</file>