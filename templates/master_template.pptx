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86" r:id="rId6"/>
    <p:sldId id="28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98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AA7-4168-A00E-7F34F16E58CD}"/>
              </c:ext>
            </c:extLst>
          </c:dPt>
          <c:dPt>
            <c:idx val="1"/>
            <c:bubble3D val="0"/>
            <c:spPr>
              <a:solidFill>
                <a:srgbClr val="C046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A7-4168-A00E-7F34F16E58CD}"/>
              </c:ext>
            </c:extLst>
          </c:dPt>
          <c:dPt>
            <c:idx val="2"/>
            <c:bubble3D val="0"/>
            <c:spPr>
              <a:solidFill>
                <a:srgbClr val="E2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A7-4168-A00E-7F34F16E58CD}"/>
              </c:ext>
            </c:extLst>
          </c:dPt>
          <c:cat>
            <c:strRef>
              <c:f>Sheet1!$A$2:$A$4</c:f>
              <c:strCache>
                <c:ptCount val="3"/>
                <c:pt idx="0">
                  <c:v>Device Power Issues</c:v>
                </c:pt>
                <c:pt idx="1">
                  <c:v>ISP Issue</c:v>
                </c:pt>
                <c:pt idx="2">
                  <c:v>Client Side Activity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AA7-4168-A00E-7F34F16E5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801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BC3F7-65C8-4FB7-AACA-8C88C9355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B15F4-506F-E795-F3DE-0B0C35BE8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AC2F2-2544-0CBE-9F05-B3DD5B570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6583-6605-655A-8A6D-EB2261D22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5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4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F2D4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098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778240" y="4206240"/>
            <a:ext cx="2926080" cy="2926080"/>
          </a:xfrm>
          <a:prstGeom prst="ellipse">
            <a:avLst/>
          </a:prstGeom>
          <a:solidFill>
            <a:srgbClr val="0EAE9E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assets/proactive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32004"/>
            <a:ext cx="4327854" cy="6793992"/>
          </a:xfrm>
          <a:prstGeom prst="rect">
            <a:avLst/>
          </a:prstGeom>
        </p:spPr>
      </p:pic>
      <p:pic>
        <p:nvPicPr>
          <p:cNvPr id="7" name="Image 1" descr="assets/cisco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260" y="182880"/>
            <a:ext cx="123444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1798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02920" y="269748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Network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Review</a:t>
            </a:r>
            <a:endParaRPr lang="en-US" sz="3200" dirty="0"/>
          </a:p>
        </p:txBody>
      </p:sp>
      <p:sp>
        <p:nvSpPr>
          <p:cNvPr id="11" name="Shape 7"/>
          <p:cNvSpPr/>
          <p:nvPr/>
        </p:nvSpPr>
        <p:spPr>
          <a:xfrm>
            <a:off x="502920" y="4846320"/>
            <a:ext cx="457200" cy="32004"/>
          </a:xfrm>
          <a:prstGeom prst="rect">
            <a:avLst/>
          </a:prstGeom>
          <a:solidFill>
            <a:srgbClr val="0098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02920" y="4983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DD-MM-YYYY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" y="53035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Proactive Data Systems  ·  Presented to JFL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669667"/>
              </p:ext>
            </p:extLst>
          </p:nvPr>
        </p:nvGraphicFramePr>
        <p:xfrm>
          <a:off x="502920" y="1417320"/>
          <a:ext cx="10977880" cy="42113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5346952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8744">
                  <a:extLst>
                    <a:ext uri="{9D8B030D-6E8A-4147-A177-3AD203B41FA5}">
                      <a16:colId xmlns:a16="http://schemas.microsoft.com/office/drawing/2014/main" val="167844973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 of devices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Switch Uptime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AP Incidents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 RCA Driver (Switches)</a:t>
                      </a: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Primary RCA Driver (AP)</a:t>
                      </a:r>
                      <a:endParaRPr lang="en-US" sz="1300" dirty="0"/>
                    </a:p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BANGALORE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GUWAHATI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GREATER NOIDA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NOIDA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MUMBAI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HYDERABAD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MOHALI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</a:rPr>
                        <a:t>NAGPUR</a:t>
                      </a:r>
                      <a:endParaRPr lang="en-US" sz="1250" b="1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8064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review consolidates SLA performance, rack and switch uptime, and access-point incident RCA for all eight monitored JFL sites for the period 7 April 2026 – 6 July 2026.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Site Name 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AP and Switch statistical </a:t>
            </a:r>
            <a:r>
              <a:rPr lang="en-US" sz="2600" b="1" dirty="0" err="1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Access Point Breakdown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02920" y="1783080"/>
          <a:ext cx="539496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1732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Rack-wise Switch Uptime % 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69199"/>
              </p:ext>
            </p:extLst>
          </p:nvPr>
        </p:nvGraphicFramePr>
        <p:xfrm>
          <a:off x="6263640" y="1783080"/>
          <a:ext cx="5422392" cy="425676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78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RACK#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37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Site Name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Switch Uptime Report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29A2E"/>
                </a:solidFill>
                <a:latin typeface="Arial" pitchFamily="34" charset="0"/>
                <a:cs typeface="Arial" pitchFamily="34" charset="-120"/>
              </a:rPr>
              <a:t>100%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 Switch Uptime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Monitored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/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at 100% Uptime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249306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Rack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Uptime %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5DCE6-D21B-A32D-99A2-46E71972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FEAF6E-272D-E9CB-3CC3-40847D4588E5}"/>
              </a:ext>
            </a:extLst>
          </p:cNvPr>
          <p:cNvSpPr/>
          <p:nvPr/>
        </p:nvSpPr>
        <p:spPr>
          <a:xfrm>
            <a:off x="502920" y="2926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09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REVIEW  ·  1 OF 8 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8F5697-5FFC-023E-4FB4-B1EF2E7F053B}"/>
              </a:ext>
            </a:extLst>
          </p:cNvPr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B244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Site Name</a:t>
            </a:r>
            <a:r>
              <a:rPr lang="en-US" sz="2600" b="1" dirty="0">
                <a:solidFill>
                  <a:srgbClr val="0B2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AP Incidents &amp; RCA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265925-22E0-6A54-851C-FECF3F5973CE}"/>
              </a:ext>
            </a:extLst>
          </p:cNvPr>
          <p:cNvSpPr/>
          <p:nvPr/>
        </p:nvSpPr>
        <p:spPr>
          <a:xfrm>
            <a:off x="502920" y="1170432"/>
            <a:ext cx="11183112" cy="16459"/>
          </a:xfrm>
          <a:prstGeom prst="rect">
            <a:avLst/>
          </a:prstGeom>
          <a:solidFill>
            <a:srgbClr val="DDE3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BA8E21-6875-D204-3320-B9D0D2C2CFB3}"/>
              </a:ext>
            </a:extLst>
          </p:cNvPr>
          <p:cNvSpPr/>
          <p:nvPr/>
        </p:nvSpPr>
        <p:spPr>
          <a:xfrm>
            <a:off x="50292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844D0-4655-F707-5BC8-DF91D8DA7B86}"/>
              </a:ext>
            </a:extLst>
          </p:cNvPr>
          <p:cNvSpPr/>
          <p:nvPr/>
        </p:nvSpPr>
        <p:spPr>
          <a:xfrm>
            <a:off x="61264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B59AD7-6CB9-487D-2373-13587A9FD995}"/>
              </a:ext>
            </a:extLst>
          </p:cNvPr>
          <p:cNvSpPr/>
          <p:nvPr/>
        </p:nvSpPr>
        <p:spPr>
          <a:xfrm>
            <a:off x="61264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number of incidents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CA3CBA4-6E1C-7331-5C98-8730EF3B00E7}"/>
              </a:ext>
            </a:extLst>
          </p:cNvPr>
          <p:cNvSpPr/>
          <p:nvPr/>
        </p:nvSpPr>
        <p:spPr>
          <a:xfrm>
            <a:off x="334899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D2C06DD-38EB-521B-3E2F-4FFB5D184B76}"/>
              </a:ext>
            </a:extLst>
          </p:cNvPr>
          <p:cNvSpPr/>
          <p:nvPr/>
        </p:nvSpPr>
        <p:spPr>
          <a:xfrm>
            <a:off x="345871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9A72516-BA90-3527-9B20-08BB3B104E3C}"/>
              </a:ext>
            </a:extLst>
          </p:cNvPr>
          <p:cNvSpPr/>
          <p:nvPr/>
        </p:nvSpPr>
        <p:spPr>
          <a:xfrm>
            <a:off x="345871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Cases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9591BE-4473-F514-2BA8-DF8EBC13BFBB}"/>
              </a:ext>
            </a:extLst>
          </p:cNvPr>
          <p:cNvSpPr/>
          <p:nvPr/>
        </p:nvSpPr>
        <p:spPr>
          <a:xfrm>
            <a:off x="6195060" y="1417320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DD7FF90-D984-57A7-4EB6-DB23E3AEDF6D}"/>
              </a:ext>
            </a:extLst>
          </p:cNvPr>
          <p:cNvSpPr/>
          <p:nvPr/>
        </p:nvSpPr>
        <p:spPr>
          <a:xfrm>
            <a:off x="630478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440"/>
                </a:solidFill>
                <a:latin typeface="Arial" pitchFamily="34" charset="0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EB814E1-8333-EA1B-24BF-6885EEC0FD04}"/>
              </a:ext>
            </a:extLst>
          </p:cNvPr>
          <p:cNvSpPr/>
          <p:nvPr/>
        </p:nvSpPr>
        <p:spPr>
          <a:xfrm>
            <a:off x="630478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 Cases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6B9B1B-4B34-4E3B-5318-C8EDDF42F522}"/>
              </a:ext>
            </a:extLst>
          </p:cNvPr>
          <p:cNvSpPr/>
          <p:nvPr/>
        </p:nvSpPr>
        <p:spPr>
          <a:xfrm>
            <a:off x="9041130" y="1417320"/>
            <a:ext cx="2425446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9525">
            <a:solidFill>
              <a:srgbClr val="DDE3E9"/>
            </a:solidFill>
            <a:prstDash val="solid"/>
          </a:ln>
          <a:effectLst>
            <a:outerShdw blurRad="76200" dist="25400" dir="5400000" algn="bl" rotWithShape="0">
              <a:srgbClr val="1F2937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D58784-4257-AC9C-D260-4EC5198E9F5A}"/>
              </a:ext>
            </a:extLst>
          </p:cNvPr>
          <p:cNvSpPr/>
          <p:nvPr/>
        </p:nvSpPr>
        <p:spPr>
          <a:xfrm>
            <a:off x="9150858" y="1527048"/>
            <a:ext cx="2425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/>
              <a:t>0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3CEF56E-82BF-BE57-7A45-B780DC5FFE46}"/>
              </a:ext>
            </a:extLst>
          </p:cNvPr>
          <p:cNvSpPr/>
          <p:nvPr/>
        </p:nvSpPr>
        <p:spPr>
          <a:xfrm>
            <a:off x="9150858" y="2002536"/>
            <a:ext cx="242544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RCA Driver</a:t>
            </a:r>
            <a:endParaRPr lang="en-US" sz="1050" dirty="0"/>
          </a:p>
        </p:txBody>
      </p:sp>
      <p:graphicFrame>
        <p:nvGraphicFramePr>
          <p:cNvPr id="17" name="Table 0">
            <a:extLst>
              <a:ext uri="{FF2B5EF4-FFF2-40B4-BE49-F238E27FC236}">
                <a16:creationId xmlns:a16="http://schemas.microsoft.com/office/drawing/2014/main" id="{32681362-619D-6E3A-9BA4-89C3E72C5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826723"/>
              </p:ext>
            </p:extLst>
          </p:nvPr>
        </p:nvGraphicFramePr>
        <p:xfrm>
          <a:off x="612648" y="2573528"/>
          <a:ext cx="10906759" cy="2880360"/>
        </p:xfrm>
        <a:graphic>
          <a:graphicData uri="http://schemas.openxmlformats.org/drawingml/2006/table">
            <a:tbl>
              <a:tblPr/>
              <a:tblGrid>
                <a:gridCol w="657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7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57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</a:rPr>
                        <a:t>#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Hostname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Serial Number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 of Incidents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Primary RCA Driver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698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/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18" name="Text 15">
            <a:extLst>
              <a:ext uri="{FF2B5EF4-FFF2-40B4-BE49-F238E27FC236}">
                <a16:creationId xmlns:a16="http://schemas.microsoft.com/office/drawing/2014/main" id="{7967299A-64C8-EE0F-1E9D-1215AD87427C}"/>
              </a:ext>
            </a:extLst>
          </p:cNvPr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JFL – Proactive Quarterly Review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5254C37-C991-5EAD-E82E-7C19FBE7A4AC}"/>
              </a:ext>
            </a:extLst>
          </p:cNvPr>
          <p:cNvSpPr/>
          <p:nvPr/>
        </p:nvSpPr>
        <p:spPr>
          <a:xfrm>
            <a:off x="8991295" y="6510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9681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098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assets/cisc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2286000" cy="8412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-91440" y="3632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Data Systems   ·   www.proactive.co.in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230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Mathuria</cp:lastModifiedBy>
  <cp:revision>4</cp:revision>
  <dcterms:created xsi:type="dcterms:W3CDTF">2026-07-16T06:49:37Z</dcterms:created>
  <dcterms:modified xsi:type="dcterms:W3CDTF">2026-07-21T09:05:57Z</dcterms:modified>
</cp:coreProperties>
</file>